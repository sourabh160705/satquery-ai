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3296" y="1498331"/>
            <a:ext cx="225486" cy="17859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0792" y="1024039"/>
            <a:ext cx="509028" cy="4807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6305" y="2693060"/>
            <a:ext cx="193274" cy="2289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5283" y="18034"/>
            <a:ext cx="536143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42405" y="1521078"/>
            <a:ext cx="5743575" cy="3060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9" Type="http://schemas.openxmlformats.org/officeDocument/2006/relationships/image" Target="../media/image62.png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42" Type="http://schemas.openxmlformats.org/officeDocument/2006/relationships/image" Target="../media/image65.png"/><Relationship Id="rId47" Type="http://schemas.openxmlformats.org/officeDocument/2006/relationships/image" Target="../media/image70.png"/><Relationship Id="rId50" Type="http://schemas.openxmlformats.org/officeDocument/2006/relationships/image" Target="../media/image73.png"/><Relationship Id="rId55" Type="http://schemas.openxmlformats.org/officeDocument/2006/relationships/image" Target="../media/image78.png"/><Relationship Id="rId7" Type="http://schemas.openxmlformats.org/officeDocument/2006/relationships/image" Target="../media/image30.png"/><Relationship Id="rId2" Type="http://schemas.openxmlformats.org/officeDocument/2006/relationships/image" Target="../media/image26.jpg"/><Relationship Id="rId16" Type="http://schemas.openxmlformats.org/officeDocument/2006/relationships/image" Target="../media/image39.png"/><Relationship Id="rId29" Type="http://schemas.openxmlformats.org/officeDocument/2006/relationships/image" Target="../media/image52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37" Type="http://schemas.openxmlformats.org/officeDocument/2006/relationships/image" Target="../media/image60.png"/><Relationship Id="rId40" Type="http://schemas.openxmlformats.org/officeDocument/2006/relationships/image" Target="../media/image63.png"/><Relationship Id="rId45" Type="http://schemas.openxmlformats.org/officeDocument/2006/relationships/image" Target="../media/image68.png"/><Relationship Id="rId53" Type="http://schemas.openxmlformats.org/officeDocument/2006/relationships/image" Target="../media/image76.png"/><Relationship Id="rId58" Type="http://schemas.openxmlformats.org/officeDocument/2006/relationships/image" Target="../media/image81.png"/><Relationship Id="rId5" Type="http://schemas.openxmlformats.org/officeDocument/2006/relationships/image" Target="../media/image28.png"/><Relationship Id="rId61" Type="http://schemas.openxmlformats.org/officeDocument/2006/relationships/hyperlink" Target="https://satquery-ai-psi.vercel.app/" TargetMode="External"/><Relationship Id="rId19" Type="http://schemas.openxmlformats.org/officeDocument/2006/relationships/image" Target="../media/image4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Relationship Id="rId43" Type="http://schemas.openxmlformats.org/officeDocument/2006/relationships/image" Target="../media/image66.png"/><Relationship Id="rId48" Type="http://schemas.openxmlformats.org/officeDocument/2006/relationships/image" Target="../media/image71.png"/><Relationship Id="rId56" Type="http://schemas.openxmlformats.org/officeDocument/2006/relationships/image" Target="../media/image79.png"/><Relationship Id="rId8" Type="http://schemas.openxmlformats.org/officeDocument/2006/relationships/image" Target="../media/image31.png"/><Relationship Id="rId51" Type="http://schemas.openxmlformats.org/officeDocument/2006/relationships/image" Target="../media/image74.png"/><Relationship Id="rId3" Type="http://schemas.openxmlformats.org/officeDocument/2006/relationships/image" Target="../media/image5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38" Type="http://schemas.openxmlformats.org/officeDocument/2006/relationships/image" Target="../media/image61.png"/><Relationship Id="rId46" Type="http://schemas.openxmlformats.org/officeDocument/2006/relationships/image" Target="../media/image69.png"/><Relationship Id="rId59" Type="http://schemas.openxmlformats.org/officeDocument/2006/relationships/image" Target="../media/image82.png"/><Relationship Id="rId20" Type="http://schemas.openxmlformats.org/officeDocument/2006/relationships/image" Target="../media/image43.png"/><Relationship Id="rId41" Type="http://schemas.openxmlformats.org/officeDocument/2006/relationships/image" Target="../media/image64.png"/><Relationship Id="rId54" Type="http://schemas.openxmlformats.org/officeDocument/2006/relationships/image" Target="../media/image77.png"/><Relationship Id="rId6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36" Type="http://schemas.openxmlformats.org/officeDocument/2006/relationships/image" Target="../media/image59.png"/><Relationship Id="rId49" Type="http://schemas.openxmlformats.org/officeDocument/2006/relationships/image" Target="../media/image72.png"/><Relationship Id="rId57" Type="http://schemas.openxmlformats.org/officeDocument/2006/relationships/image" Target="../media/image80.png"/><Relationship Id="rId10" Type="http://schemas.openxmlformats.org/officeDocument/2006/relationships/image" Target="../media/image33.png"/><Relationship Id="rId31" Type="http://schemas.openxmlformats.org/officeDocument/2006/relationships/image" Target="../media/image54.png"/><Relationship Id="rId44" Type="http://schemas.openxmlformats.org/officeDocument/2006/relationships/image" Target="../media/image67.png"/><Relationship Id="rId52" Type="http://schemas.openxmlformats.org/officeDocument/2006/relationships/image" Target="../media/image75.png"/><Relationship Id="rId60" Type="http://schemas.openxmlformats.org/officeDocument/2006/relationships/hyperlink" Target="https://github.com/sourabh160705/Satquery-AI" TargetMode="Externa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jpg"/><Relationship Id="rId3" Type="http://schemas.openxmlformats.org/officeDocument/2006/relationships/image" Target="../media/image10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hyperlink" Target="https://satquery-ai-psi.vercel.app/" TargetMode="External"/><Relationship Id="rId9" Type="http://schemas.openxmlformats.org/officeDocument/2006/relationships/image" Target="../media/image89.png"/><Relationship Id="rId14" Type="http://schemas.openxmlformats.org/officeDocument/2006/relationships/image" Target="../media/image94.jp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9" Type="http://schemas.openxmlformats.org/officeDocument/2006/relationships/image" Target="../media/image130.png"/><Relationship Id="rId21" Type="http://schemas.openxmlformats.org/officeDocument/2006/relationships/image" Target="../media/image112.png"/><Relationship Id="rId34" Type="http://schemas.openxmlformats.org/officeDocument/2006/relationships/image" Target="../media/image125.png"/><Relationship Id="rId42" Type="http://schemas.openxmlformats.org/officeDocument/2006/relationships/image" Target="../media/image133.png"/><Relationship Id="rId47" Type="http://schemas.openxmlformats.org/officeDocument/2006/relationships/image" Target="../media/image138.png"/><Relationship Id="rId7" Type="http://schemas.openxmlformats.org/officeDocument/2006/relationships/image" Target="../media/image98.png"/><Relationship Id="rId2" Type="http://schemas.openxmlformats.org/officeDocument/2006/relationships/image" Target="../media/image95.png"/><Relationship Id="rId16" Type="http://schemas.openxmlformats.org/officeDocument/2006/relationships/image" Target="../media/image107.png"/><Relationship Id="rId29" Type="http://schemas.openxmlformats.org/officeDocument/2006/relationships/image" Target="../media/image120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32" Type="http://schemas.openxmlformats.org/officeDocument/2006/relationships/image" Target="../media/image123.png"/><Relationship Id="rId37" Type="http://schemas.openxmlformats.org/officeDocument/2006/relationships/image" Target="../media/image128.png"/><Relationship Id="rId40" Type="http://schemas.openxmlformats.org/officeDocument/2006/relationships/image" Target="../media/image131.png"/><Relationship Id="rId45" Type="http://schemas.openxmlformats.org/officeDocument/2006/relationships/image" Target="../media/image136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36" Type="http://schemas.openxmlformats.org/officeDocument/2006/relationships/image" Target="../media/image127.png"/><Relationship Id="rId49" Type="http://schemas.openxmlformats.org/officeDocument/2006/relationships/image" Target="../media/image140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31" Type="http://schemas.openxmlformats.org/officeDocument/2006/relationships/image" Target="../media/image122.png"/><Relationship Id="rId44" Type="http://schemas.openxmlformats.org/officeDocument/2006/relationships/image" Target="../media/image135.png"/><Relationship Id="rId4" Type="http://schemas.openxmlformats.org/officeDocument/2006/relationships/image" Target="../media/image2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Relationship Id="rId30" Type="http://schemas.openxmlformats.org/officeDocument/2006/relationships/image" Target="../media/image121.png"/><Relationship Id="rId35" Type="http://schemas.openxmlformats.org/officeDocument/2006/relationships/image" Target="../media/image126.png"/><Relationship Id="rId43" Type="http://schemas.openxmlformats.org/officeDocument/2006/relationships/image" Target="../media/image134.png"/><Relationship Id="rId48" Type="http://schemas.openxmlformats.org/officeDocument/2006/relationships/image" Target="../media/image139.png"/><Relationship Id="rId8" Type="http://schemas.openxmlformats.org/officeDocument/2006/relationships/image" Target="../media/image99.png"/><Relationship Id="rId3" Type="http://schemas.openxmlformats.org/officeDocument/2006/relationships/image" Target="../media/image10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33" Type="http://schemas.openxmlformats.org/officeDocument/2006/relationships/image" Target="../media/image124.png"/><Relationship Id="rId38" Type="http://schemas.openxmlformats.org/officeDocument/2006/relationships/image" Target="../media/image129.png"/><Relationship Id="rId46" Type="http://schemas.openxmlformats.org/officeDocument/2006/relationships/image" Target="../media/image137.png"/><Relationship Id="rId20" Type="http://schemas.openxmlformats.org/officeDocument/2006/relationships/image" Target="../media/image111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5194/isprs-annals-IV-2-W7-153-2019" TargetMode="External"/><Relationship Id="rId13" Type="http://schemas.openxmlformats.org/officeDocument/2006/relationships/hyperlink" Target="https://earthexplorer.usgs.gov/" TargetMode="External"/><Relationship Id="rId3" Type="http://schemas.openxmlformats.org/officeDocument/2006/relationships/image" Target="../media/image141.png"/><Relationship Id="rId7" Type="http://schemas.openxmlformats.org/officeDocument/2006/relationships/hyperlink" Target="https://doi.org/10.3390/rs12101662" TargetMode="External"/><Relationship Id="rId12" Type="http://schemas.openxmlformats.org/officeDocument/2006/relationships/hyperlink" Target="https://dataspace.copernicus.eu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6.12450" TargetMode="External"/><Relationship Id="rId11" Type="http://schemas.openxmlformats.org/officeDocument/2006/relationships/hyperlink" Target="https://www.mosdac.gov.in/" TargetMode="External"/><Relationship Id="rId5" Type="http://schemas.openxmlformats.org/officeDocument/2006/relationships/hyperlink" Target="https://doi.org/10.1109/TGRS.2020.2988770" TargetMode="External"/><Relationship Id="rId15" Type="http://schemas.openxmlformats.org/officeDocument/2006/relationships/hyperlink" Target="https://stacspec.org/" TargetMode="External"/><Relationship Id="rId10" Type="http://schemas.openxmlformats.org/officeDocument/2006/relationships/hyperlink" Target="https://bhuvan.nrsc.gov.in/" TargetMode="External"/><Relationship Id="rId4" Type="http://schemas.openxmlformats.org/officeDocument/2006/relationships/image" Target="../media/image142.png"/><Relationship Id="rId9" Type="http://schemas.openxmlformats.org/officeDocument/2006/relationships/hyperlink" Target="https://bigearth.net/" TargetMode="External"/><Relationship Id="rId14" Type="http://schemas.openxmlformats.org/officeDocument/2006/relationships/hyperlink" Target="https://www.cogeo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65580" y="153161"/>
            <a:ext cx="8096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1F487C"/>
                </a:solidFill>
              </a:rPr>
              <a:t>SMART</a:t>
            </a:r>
            <a:r>
              <a:rPr sz="4000" spc="-25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10" dirty="0">
                <a:solidFill>
                  <a:srgbClr val="1F487C"/>
                </a:solidFill>
              </a:rPr>
              <a:t> </a:t>
            </a:r>
            <a:r>
              <a:rPr sz="4000" spc="-35" dirty="0">
                <a:solidFill>
                  <a:srgbClr val="1F487C"/>
                </a:solidFill>
              </a:rPr>
              <a:t>2026</a:t>
            </a:r>
            <a:endParaRPr sz="4000"/>
          </a:p>
        </p:txBody>
      </p:sp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0143" y="1536"/>
            <a:ext cx="2249804" cy="10623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810" y="2572805"/>
            <a:ext cx="68696" cy="686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810" y="3101633"/>
            <a:ext cx="68696" cy="686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810" y="4867948"/>
            <a:ext cx="68696" cy="686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810" y="5396777"/>
            <a:ext cx="68696" cy="686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810" y="5924081"/>
            <a:ext cx="68696" cy="686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810" y="6451383"/>
            <a:ext cx="68696" cy="686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5505" y="1253489"/>
            <a:ext cx="6198870" cy="5406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0903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–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SIH26167</a:t>
            </a:r>
            <a:endParaRPr sz="2400">
              <a:latin typeface="Arial MT"/>
              <a:cs typeface="Arial MT"/>
            </a:endParaRPr>
          </a:p>
          <a:p>
            <a:pPr marL="12700" marR="617220">
              <a:lnSpc>
                <a:spcPct val="112900"/>
              </a:lnSpc>
              <a:spcBef>
                <a:spcPts val="915"/>
              </a:spcBef>
            </a:pP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Problem</a:t>
            </a:r>
            <a:r>
              <a:rPr sz="2400" b="1" spc="-70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Statement</a:t>
            </a:r>
            <a:r>
              <a:rPr sz="2400" b="1" spc="-6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Title-</a:t>
            </a:r>
            <a:r>
              <a:rPr sz="2400" b="1" spc="-9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SatQuery</a:t>
            </a:r>
            <a:r>
              <a:rPr sz="2400" spc="-7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B33"/>
                </a:solidFill>
                <a:latin typeface="Arial MT"/>
                <a:cs typeface="Arial MT"/>
              </a:rPr>
              <a:t>AI: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An</a:t>
            </a:r>
            <a:r>
              <a:rPr sz="2400" spc="-9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Interactive</a:t>
            </a:r>
            <a:r>
              <a:rPr sz="2400" spc="-9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B33"/>
                </a:solidFill>
                <a:latin typeface="Arial MT"/>
                <a:cs typeface="Arial MT"/>
              </a:rPr>
              <a:t>Vision-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Language</a:t>
            </a:r>
            <a:r>
              <a:rPr sz="2400" spc="-3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Assistant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B33"/>
                </a:solidFill>
                <a:latin typeface="Arial MT"/>
                <a:cs typeface="Arial MT"/>
              </a:rPr>
              <a:t>Multi-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Modal</a:t>
            </a:r>
            <a:r>
              <a:rPr sz="2400" spc="-5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Remote</a:t>
            </a:r>
            <a:r>
              <a:rPr sz="2400" spc="-5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Sensing</a:t>
            </a:r>
            <a:r>
              <a:rPr sz="2400" spc="-25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Image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Analysis</a:t>
            </a:r>
            <a:r>
              <a:rPr sz="2400" spc="-55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through</a:t>
            </a:r>
            <a:r>
              <a:rPr sz="2400" spc="-85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Text</a:t>
            </a:r>
            <a:r>
              <a:rPr sz="2400" spc="-7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Queries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Theme-</a:t>
            </a:r>
            <a:r>
              <a:rPr sz="2400" b="1" spc="-9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Space</a:t>
            </a:r>
            <a:r>
              <a:rPr sz="2400" spc="-95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Technology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PS</a:t>
            </a:r>
            <a:r>
              <a:rPr sz="2400" b="1" spc="-100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Category-</a:t>
            </a:r>
            <a:r>
              <a:rPr sz="2400" b="1" spc="-60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Software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Team</a:t>
            </a:r>
            <a:r>
              <a:rPr sz="2400" b="1" spc="-30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ID-</a:t>
            </a:r>
            <a:r>
              <a:rPr sz="2400" b="1" spc="-3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147019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Team</a:t>
            </a:r>
            <a:r>
              <a:rPr sz="2400" b="1" spc="-50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Name</a:t>
            </a:r>
            <a:r>
              <a:rPr sz="2400" b="1" spc="-3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52B33"/>
                </a:solidFill>
                <a:latin typeface="Arial"/>
                <a:cs typeface="Arial"/>
              </a:rPr>
              <a:t>-</a:t>
            </a:r>
            <a:r>
              <a:rPr sz="2400" b="1" spc="565" dirty="0">
                <a:solidFill>
                  <a:srgbClr val="252B3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B33"/>
                </a:solidFill>
                <a:latin typeface="Arial MT"/>
                <a:cs typeface="Arial MT"/>
              </a:rPr>
              <a:t>Tech</a:t>
            </a:r>
            <a:r>
              <a:rPr sz="2400" spc="-60" dirty="0">
                <a:solidFill>
                  <a:srgbClr val="252B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B33"/>
                </a:solidFill>
                <a:latin typeface="Arial MT"/>
                <a:cs typeface="Arial MT"/>
              </a:rPr>
              <a:t>Manions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510534" y="-61772"/>
            <a:ext cx="4319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75E"/>
                </a:solidFill>
              </a:rPr>
              <a:t>Earth</a:t>
            </a:r>
            <a:r>
              <a:rPr spc="-25" dirty="0">
                <a:solidFill>
                  <a:srgbClr val="17375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Observation</a:t>
            </a:r>
            <a:r>
              <a:rPr spc="-25" dirty="0">
                <a:solidFill>
                  <a:srgbClr val="17375E"/>
                </a:solidFill>
              </a:rPr>
              <a:t> AI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8869" y="502665"/>
            <a:ext cx="8135620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F81BC"/>
                </a:solidFill>
                <a:latin typeface="Calibri"/>
                <a:cs typeface="Calibri"/>
              </a:rPr>
              <a:t>From</a:t>
            </a:r>
            <a:r>
              <a:rPr sz="1800" spc="-6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F81BC"/>
                </a:solidFill>
                <a:latin typeface="Calibri"/>
                <a:cs typeface="Calibri"/>
              </a:rPr>
              <a:t>Fragmented</a:t>
            </a:r>
            <a:r>
              <a:rPr sz="1800" spc="-4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F81BC"/>
                </a:solidFill>
                <a:latin typeface="Calibri"/>
                <a:cs typeface="Calibri"/>
              </a:rPr>
              <a:t>Satellite</a:t>
            </a:r>
            <a:r>
              <a:rPr sz="1800" spc="-3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F81BC"/>
                </a:solidFill>
                <a:latin typeface="Calibri"/>
                <a:cs typeface="Calibri"/>
              </a:rPr>
              <a:t>Tools</a:t>
            </a:r>
            <a:r>
              <a:rPr sz="1800" spc="-3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36C09"/>
                </a:solidFill>
                <a:latin typeface="MS PGothic"/>
                <a:cs typeface="MS PGothic"/>
              </a:rPr>
              <a:t>➔</a:t>
            </a:r>
            <a:r>
              <a:rPr sz="1800" spc="-145" dirty="0">
                <a:solidFill>
                  <a:srgbClr val="E36C09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E36C09"/>
                </a:solidFill>
                <a:latin typeface="Calibri"/>
                <a:cs typeface="Calibri"/>
              </a:rPr>
              <a:t>Intelligent</a:t>
            </a:r>
            <a:r>
              <a:rPr sz="1800" spc="-2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36C09"/>
                </a:solidFill>
                <a:latin typeface="Calibri"/>
                <a:cs typeface="Calibri"/>
              </a:rPr>
              <a:t>Agentic</a:t>
            </a:r>
            <a:r>
              <a:rPr sz="1800" spc="-4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36C09"/>
                </a:solidFill>
                <a:latin typeface="Calibri"/>
                <a:cs typeface="Calibri"/>
              </a:rPr>
              <a:t>Intelligence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An</a:t>
            </a:r>
            <a:r>
              <a:rPr sz="12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explainable</a:t>
            </a:r>
            <a:r>
              <a:rPr sz="1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vision-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language</a:t>
            </a:r>
            <a:r>
              <a:rPr sz="12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assistant</a:t>
            </a:r>
            <a:r>
              <a:rPr sz="12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sz="1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validates</a:t>
            </a:r>
            <a:r>
              <a:rPr sz="1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multi-modal</a:t>
            </a:r>
            <a:r>
              <a:rPr sz="12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imagery</a:t>
            </a:r>
            <a:r>
              <a:rPr sz="12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(Optical</a:t>
            </a:r>
            <a:r>
              <a:rPr sz="12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&amp;</a:t>
            </a:r>
            <a:r>
              <a:rPr sz="1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SAR),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dynamically</a:t>
            </a:r>
            <a:r>
              <a:rPr sz="1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chains</a:t>
            </a:r>
            <a:r>
              <a:rPr sz="1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specialized</a:t>
            </a:r>
            <a:r>
              <a:rPr sz="12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remote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37156" y="995166"/>
            <a:ext cx="4360545" cy="2604770"/>
            <a:chOff x="137156" y="995166"/>
            <a:chExt cx="4360545" cy="2604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56" y="995166"/>
              <a:ext cx="4360170" cy="26045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5501" y="1010284"/>
              <a:ext cx="4288790" cy="2532380"/>
            </a:xfrm>
            <a:custGeom>
              <a:avLst/>
              <a:gdLst/>
              <a:ahLst/>
              <a:cxnLst/>
              <a:rect l="l" t="t" r="r" b="b"/>
              <a:pathLst>
                <a:path w="4288790" h="2532379">
                  <a:moveTo>
                    <a:pt x="4288409" y="0"/>
                  </a:moveTo>
                  <a:lnTo>
                    <a:pt x="0" y="0"/>
                  </a:lnTo>
                  <a:lnTo>
                    <a:pt x="0" y="2532380"/>
                  </a:lnTo>
                  <a:lnTo>
                    <a:pt x="4288409" y="2532380"/>
                  </a:lnTo>
                  <a:lnTo>
                    <a:pt x="42884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501" y="1010284"/>
              <a:ext cx="4288790" cy="2532380"/>
            </a:xfrm>
            <a:custGeom>
              <a:avLst/>
              <a:gdLst/>
              <a:ahLst/>
              <a:cxnLst/>
              <a:rect l="l" t="t" r="r" b="b"/>
              <a:pathLst>
                <a:path w="4288790" h="2532379">
                  <a:moveTo>
                    <a:pt x="0" y="2532380"/>
                  </a:moveTo>
                  <a:lnTo>
                    <a:pt x="4288409" y="2532380"/>
                  </a:lnTo>
                  <a:lnTo>
                    <a:pt x="4288409" y="0"/>
                  </a:lnTo>
                  <a:lnTo>
                    <a:pt x="0" y="0"/>
                  </a:lnTo>
                  <a:lnTo>
                    <a:pt x="0" y="25323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0937" y="252222"/>
            <a:ext cx="1478915" cy="1353820"/>
            <a:chOff x="130937" y="252222"/>
            <a:chExt cx="1478915" cy="13538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756" y="1124711"/>
              <a:ext cx="471678" cy="48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739355" y="0"/>
                  </a:moveTo>
                  <a:lnTo>
                    <a:pt x="678717" y="1338"/>
                  </a:lnTo>
                  <a:lnTo>
                    <a:pt x="619429" y="5283"/>
                  </a:lnTo>
                  <a:lnTo>
                    <a:pt x="561681" y="11731"/>
                  </a:lnTo>
                  <a:lnTo>
                    <a:pt x="505664" y="20579"/>
                  </a:lnTo>
                  <a:lnTo>
                    <a:pt x="451567" y="31722"/>
                  </a:lnTo>
                  <a:lnTo>
                    <a:pt x="399581" y="45057"/>
                  </a:lnTo>
                  <a:lnTo>
                    <a:pt x="349896" y="60479"/>
                  </a:lnTo>
                  <a:lnTo>
                    <a:pt x="302703" y="77886"/>
                  </a:lnTo>
                  <a:lnTo>
                    <a:pt x="258192" y="97173"/>
                  </a:lnTo>
                  <a:lnTo>
                    <a:pt x="216554" y="118237"/>
                  </a:lnTo>
                  <a:lnTo>
                    <a:pt x="177977" y="140973"/>
                  </a:lnTo>
                  <a:lnTo>
                    <a:pt x="142654" y="165277"/>
                  </a:lnTo>
                  <a:lnTo>
                    <a:pt x="110773" y="191047"/>
                  </a:lnTo>
                  <a:lnTo>
                    <a:pt x="82526" y="218178"/>
                  </a:lnTo>
                  <a:lnTo>
                    <a:pt x="37693" y="276108"/>
                  </a:lnTo>
                  <a:lnTo>
                    <a:pt x="9677" y="338236"/>
                  </a:lnTo>
                  <a:lnTo>
                    <a:pt x="0" y="403732"/>
                  </a:lnTo>
                  <a:lnTo>
                    <a:pt x="2450" y="436832"/>
                  </a:lnTo>
                  <a:lnTo>
                    <a:pt x="21487" y="500717"/>
                  </a:lnTo>
                  <a:lnTo>
                    <a:pt x="58102" y="560826"/>
                  </a:lnTo>
                  <a:lnTo>
                    <a:pt x="110773" y="616326"/>
                  </a:lnTo>
                  <a:lnTo>
                    <a:pt x="142654" y="642088"/>
                  </a:lnTo>
                  <a:lnTo>
                    <a:pt x="177977" y="666387"/>
                  </a:lnTo>
                  <a:lnTo>
                    <a:pt x="216554" y="689117"/>
                  </a:lnTo>
                  <a:lnTo>
                    <a:pt x="258192" y="710176"/>
                  </a:lnTo>
                  <a:lnTo>
                    <a:pt x="302703" y="729460"/>
                  </a:lnTo>
                  <a:lnTo>
                    <a:pt x="349896" y="746864"/>
                  </a:lnTo>
                  <a:lnTo>
                    <a:pt x="399581" y="762285"/>
                  </a:lnTo>
                  <a:lnTo>
                    <a:pt x="451567" y="775618"/>
                  </a:lnTo>
                  <a:lnTo>
                    <a:pt x="505664" y="786760"/>
                  </a:lnTo>
                  <a:lnTo>
                    <a:pt x="561681" y="795607"/>
                  </a:lnTo>
                  <a:lnTo>
                    <a:pt x="619429" y="802055"/>
                  </a:lnTo>
                  <a:lnTo>
                    <a:pt x="678717" y="806000"/>
                  </a:lnTo>
                  <a:lnTo>
                    <a:pt x="739355" y="807338"/>
                  </a:lnTo>
                  <a:lnTo>
                    <a:pt x="799995" y="806000"/>
                  </a:lnTo>
                  <a:lnTo>
                    <a:pt x="859283" y="802055"/>
                  </a:lnTo>
                  <a:lnTo>
                    <a:pt x="917031" y="795607"/>
                  </a:lnTo>
                  <a:lnTo>
                    <a:pt x="973047" y="786760"/>
                  </a:lnTo>
                  <a:lnTo>
                    <a:pt x="1027142" y="775618"/>
                  </a:lnTo>
                  <a:lnTo>
                    <a:pt x="1079125" y="762285"/>
                  </a:lnTo>
                  <a:lnTo>
                    <a:pt x="1128806" y="746864"/>
                  </a:lnTo>
                  <a:lnTo>
                    <a:pt x="1175995" y="729460"/>
                  </a:lnTo>
                  <a:lnTo>
                    <a:pt x="1220502" y="710176"/>
                  </a:lnTo>
                  <a:lnTo>
                    <a:pt x="1262137" y="689117"/>
                  </a:lnTo>
                  <a:lnTo>
                    <a:pt x="1300709" y="666387"/>
                  </a:lnTo>
                  <a:lnTo>
                    <a:pt x="1336028" y="642088"/>
                  </a:lnTo>
                  <a:lnTo>
                    <a:pt x="1367904" y="616326"/>
                  </a:lnTo>
                  <a:lnTo>
                    <a:pt x="1396147" y="589204"/>
                  </a:lnTo>
                  <a:lnTo>
                    <a:pt x="1440974" y="531295"/>
                  </a:lnTo>
                  <a:lnTo>
                    <a:pt x="1468985" y="469195"/>
                  </a:lnTo>
                  <a:lnTo>
                    <a:pt x="1478661" y="403732"/>
                  </a:lnTo>
                  <a:lnTo>
                    <a:pt x="1476210" y="370615"/>
                  </a:lnTo>
                  <a:lnTo>
                    <a:pt x="1457176" y="306699"/>
                  </a:lnTo>
                  <a:lnTo>
                    <a:pt x="1420567" y="246566"/>
                  </a:lnTo>
                  <a:lnTo>
                    <a:pt x="1367904" y="191047"/>
                  </a:lnTo>
                  <a:lnTo>
                    <a:pt x="1336028" y="165277"/>
                  </a:lnTo>
                  <a:lnTo>
                    <a:pt x="1300709" y="140973"/>
                  </a:lnTo>
                  <a:lnTo>
                    <a:pt x="1262137" y="118237"/>
                  </a:lnTo>
                  <a:lnTo>
                    <a:pt x="1220502" y="97173"/>
                  </a:lnTo>
                  <a:lnTo>
                    <a:pt x="1175995" y="77886"/>
                  </a:lnTo>
                  <a:lnTo>
                    <a:pt x="1128806" y="60479"/>
                  </a:lnTo>
                  <a:lnTo>
                    <a:pt x="1079125" y="45057"/>
                  </a:lnTo>
                  <a:lnTo>
                    <a:pt x="1027142" y="31722"/>
                  </a:lnTo>
                  <a:lnTo>
                    <a:pt x="973047" y="20579"/>
                  </a:lnTo>
                  <a:lnTo>
                    <a:pt x="917031" y="11731"/>
                  </a:lnTo>
                  <a:lnTo>
                    <a:pt x="859283" y="5283"/>
                  </a:lnTo>
                  <a:lnTo>
                    <a:pt x="799995" y="1338"/>
                  </a:lnTo>
                  <a:lnTo>
                    <a:pt x="739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30937" y="252222"/>
            <a:ext cx="1478915" cy="807720"/>
          </a:xfrm>
          <a:custGeom>
            <a:avLst/>
            <a:gdLst/>
            <a:ahLst/>
            <a:cxnLst/>
            <a:rect l="l" t="t" r="r" b="b"/>
            <a:pathLst>
              <a:path w="1478915" h="807719">
                <a:moveTo>
                  <a:pt x="0" y="403732"/>
                </a:moveTo>
                <a:lnTo>
                  <a:pt x="9677" y="338236"/>
                </a:lnTo>
                <a:lnTo>
                  <a:pt x="37693" y="276108"/>
                </a:lnTo>
                <a:lnTo>
                  <a:pt x="82526" y="218178"/>
                </a:lnTo>
                <a:lnTo>
                  <a:pt x="110773" y="191047"/>
                </a:lnTo>
                <a:lnTo>
                  <a:pt x="142654" y="165277"/>
                </a:lnTo>
                <a:lnTo>
                  <a:pt x="177977" y="140973"/>
                </a:lnTo>
                <a:lnTo>
                  <a:pt x="216554" y="118237"/>
                </a:lnTo>
                <a:lnTo>
                  <a:pt x="258192" y="97173"/>
                </a:lnTo>
                <a:lnTo>
                  <a:pt x="302703" y="77886"/>
                </a:lnTo>
                <a:lnTo>
                  <a:pt x="349896" y="60479"/>
                </a:lnTo>
                <a:lnTo>
                  <a:pt x="399581" y="45057"/>
                </a:lnTo>
                <a:lnTo>
                  <a:pt x="451567" y="31722"/>
                </a:lnTo>
                <a:lnTo>
                  <a:pt x="505664" y="20579"/>
                </a:lnTo>
                <a:lnTo>
                  <a:pt x="561681" y="11731"/>
                </a:lnTo>
                <a:lnTo>
                  <a:pt x="619429" y="5283"/>
                </a:lnTo>
                <a:lnTo>
                  <a:pt x="678717" y="1338"/>
                </a:lnTo>
                <a:lnTo>
                  <a:pt x="739355" y="0"/>
                </a:lnTo>
                <a:lnTo>
                  <a:pt x="799995" y="1338"/>
                </a:lnTo>
                <a:lnTo>
                  <a:pt x="859283" y="5283"/>
                </a:lnTo>
                <a:lnTo>
                  <a:pt x="917031" y="11731"/>
                </a:lnTo>
                <a:lnTo>
                  <a:pt x="973047" y="20579"/>
                </a:lnTo>
                <a:lnTo>
                  <a:pt x="1027142" y="31722"/>
                </a:lnTo>
                <a:lnTo>
                  <a:pt x="1079125" y="45057"/>
                </a:lnTo>
                <a:lnTo>
                  <a:pt x="1128806" y="60479"/>
                </a:lnTo>
                <a:lnTo>
                  <a:pt x="1175995" y="77886"/>
                </a:lnTo>
                <a:lnTo>
                  <a:pt x="1220502" y="97173"/>
                </a:lnTo>
                <a:lnTo>
                  <a:pt x="1262137" y="118237"/>
                </a:lnTo>
                <a:lnTo>
                  <a:pt x="1300709" y="140973"/>
                </a:lnTo>
                <a:lnTo>
                  <a:pt x="1336028" y="165277"/>
                </a:lnTo>
                <a:lnTo>
                  <a:pt x="1367904" y="191047"/>
                </a:lnTo>
                <a:lnTo>
                  <a:pt x="1396147" y="218178"/>
                </a:lnTo>
                <a:lnTo>
                  <a:pt x="1440974" y="276108"/>
                </a:lnTo>
                <a:lnTo>
                  <a:pt x="1468985" y="338236"/>
                </a:lnTo>
                <a:lnTo>
                  <a:pt x="1478661" y="403732"/>
                </a:lnTo>
                <a:lnTo>
                  <a:pt x="1476210" y="436832"/>
                </a:lnTo>
                <a:lnTo>
                  <a:pt x="1457176" y="500717"/>
                </a:lnTo>
                <a:lnTo>
                  <a:pt x="1420567" y="560826"/>
                </a:lnTo>
                <a:lnTo>
                  <a:pt x="1367904" y="616326"/>
                </a:lnTo>
                <a:lnTo>
                  <a:pt x="1336028" y="642088"/>
                </a:lnTo>
                <a:lnTo>
                  <a:pt x="1300709" y="666387"/>
                </a:lnTo>
                <a:lnTo>
                  <a:pt x="1262137" y="689117"/>
                </a:lnTo>
                <a:lnTo>
                  <a:pt x="1220502" y="710176"/>
                </a:lnTo>
                <a:lnTo>
                  <a:pt x="1175995" y="729460"/>
                </a:lnTo>
                <a:lnTo>
                  <a:pt x="1128806" y="746864"/>
                </a:lnTo>
                <a:lnTo>
                  <a:pt x="1079125" y="762285"/>
                </a:lnTo>
                <a:lnTo>
                  <a:pt x="1027142" y="775618"/>
                </a:lnTo>
                <a:lnTo>
                  <a:pt x="973047" y="786760"/>
                </a:lnTo>
                <a:lnTo>
                  <a:pt x="917031" y="795607"/>
                </a:lnTo>
                <a:lnTo>
                  <a:pt x="859283" y="802055"/>
                </a:lnTo>
                <a:lnTo>
                  <a:pt x="799995" y="806000"/>
                </a:lnTo>
                <a:lnTo>
                  <a:pt x="739355" y="807338"/>
                </a:lnTo>
                <a:lnTo>
                  <a:pt x="678717" y="806000"/>
                </a:lnTo>
                <a:lnTo>
                  <a:pt x="619429" y="802055"/>
                </a:lnTo>
                <a:lnTo>
                  <a:pt x="561681" y="795607"/>
                </a:lnTo>
                <a:lnTo>
                  <a:pt x="505664" y="786760"/>
                </a:lnTo>
                <a:lnTo>
                  <a:pt x="451567" y="775618"/>
                </a:lnTo>
                <a:lnTo>
                  <a:pt x="399581" y="762285"/>
                </a:lnTo>
                <a:lnTo>
                  <a:pt x="349896" y="746864"/>
                </a:lnTo>
                <a:lnTo>
                  <a:pt x="302703" y="729460"/>
                </a:lnTo>
                <a:lnTo>
                  <a:pt x="258192" y="710176"/>
                </a:lnTo>
                <a:lnTo>
                  <a:pt x="216554" y="689117"/>
                </a:lnTo>
                <a:lnTo>
                  <a:pt x="177977" y="666387"/>
                </a:lnTo>
                <a:lnTo>
                  <a:pt x="142654" y="642088"/>
                </a:lnTo>
                <a:lnTo>
                  <a:pt x="110773" y="616326"/>
                </a:lnTo>
                <a:lnTo>
                  <a:pt x="82526" y="589204"/>
                </a:lnTo>
                <a:lnTo>
                  <a:pt x="37693" y="531295"/>
                </a:lnTo>
                <a:lnTo>
                  <a:pt x="9677" y="4691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3948" y="353695"/>
            <a:ext cx="833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Tech </a:t>
            </a:r>
            <a:r>
              <a:rPr sz="1800" spc="-10" dirty="0">
                <a:latin typeface="Calibri"/>
                <a:cs typeface="Calibri"/>
              </a:rPr>
              <a:t>Manions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579" y="19852"/>
            <a:ext cx="2199504" cy="10257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68090" y="961390"/>
            <a:ext cx="3803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sensing</a:t>
            </a:r>
            <a:r>
              <a:rPr sz="12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models,</a:t>
            </a:r>
            <a:r>
              <a:rPr sz="1200" spc="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synthesizes</a:t>
            </a:r>
            <a:r>
              <a:rPr sz="12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evidence-grounded</a:t>
            </a:r>
            <a:r>
              <a:rPr sz="1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answers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598" y="1099184"/>
            <a:ext cx="2820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2759" algn="l"/>
                <a:tab pos="2807335" algn="l"/>
              </a:tabLst>
            </a:pPr>
            <a:r>
              <a:rPr sz="2400" b="1" u="heavy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	THE </a:t>
            </a:r>
            <a:r>
              <a:rPr sz="2400" b="1" u="heavy" spc="-10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PROBLEM</a:t>
            </a:r>
            <a:r>
              <a:rPr sz="2400" b="1" u="heavy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	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2311" y="1440180"/>
            <a:ext cx="2887980" cy="10515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4801489" y="1321816"/>
            <a:ext cx="1418590" cy="884555"/>
            <a:chOff x="4801489" y="1321816"/>
            <a:chExt cx="1418590" cy="884555"/>
          </a:xfrm>
        </p:grpSpPr>
        <p:sp>
          <p:nvSpPr>
            <p:cNvPr id="30" name="object 30"/>
            <p:cNvSpPr/>
            <p:nvPr/>
          </p:nvSpPr>
          <p:spPr>
            <a:xfrm>
              <a:off x="4817364" y="1330833"/>
              <a:ext cx="1386840" cy="868680"/>
            </a:xfrm>
            <a:custGeom>
              <a:avLst/>
              <a:gdLst/>
              <a:ahLst/>
              <a:cxnLst/>
              <a:rect l="l" t="t" r="r" b="b"/>
              <a:pathLst>
                <a:path w="1386839" h="86868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331976" y="0"/>
                  </a:lnTo>
                  <a:lnTo>
                    <a:pt x="1353300" y="4304"/>
                  </a:lnTo>
                  <a:lnTo>
                    <a:pt x="1370742" y="16049"/>
                  </a:lnTo>
                  <a:lnTo>
                    <a:pt x="1382518" y="33486"/>
                  </a:lnTo>
                  <a:lnTo>
                    <a:pt x="1386839" y="54863"/>
                  </a:lnTo>
                  <a:lnTo>
                    <a:pt x="1386839" y="813815"/>
                  </a:lnTo>
                  <a:lnTo>
                    <a:pt x="1382518" y="835193"/>
                  </a:lnTo>
                  <a:lnTo>
                    <a:pt x="1370742" y="852630"/>
                  </a:lnTo>
                  <a:lnTo>
                    <a:pt x="1353300" y="864375"/>
                  </a:lnTo>
                  <a:lnTo>
                    <a:pt x="1331976" y="868679"/>
                  </a:lnTo>
                  <a:lnTo>
                    <a:pt x="54863" y="868679"/>
                  </a:lnTo>
                  <a:lnTo>
                    <a:pt x="33486" y="864375"/>
                  </a:lnTo>
                  <a:lnTo>
                    <a:pt x="16049" y="852630"/>
                  </a:lnTo>
                  <a:lnTo>
                    <a:pt x="4304" y="835193"/>
                  </a:lnTo>
                  <a:lnTo>
                    <a:pt x="0" y="813815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17364" y="1337691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39">
                  <a:moveTo>
                    <a:pt x="0" y="0"/>
                  </a:moveTo>
                  <a:lnTo>
                    <a:pt x="1386839" y="0"/>
                  </a:lnTo>
                </a:path>
              </a:pathLst>
            </a:custGeom>
            <a:ln w="31750">
              <a:solidFill>
                <a:srgbClr val="2E5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78451" y="1386332"/>
            <a:ext cx="791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2E5FDE"/>
                </a:solidFill>
                <a:latin typeface="Calibri"/>
                <a:cs typeface="Calibri"/>
              </a:rPr>
              <a:t>SATELLITE</a:t>
            </a:r>
            <a:r>
              <a:rPr sz="900" b="1" spc="-50" dirty="0">
                <a:solidFill>
                  <a:srgbClr val="2E5FDE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2E5FDE"/>
                </a:solidFill>
                <a:latin typeface="Calibri"/>
                <a:cs typeface="Calibri"/>
              </a:rPr>
              <a:t>DATA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1019" y="1518920"/>
            <a:ext cx="1099820" cy="3397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54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Sentinel-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2</a:t>
            </a:r>
            <a:r>
              <a:rPr sz="900" spc="5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(Optical)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55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Sentinel-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1</a:t>
            </a:r>
            <a:r>
              <a:rPr sz="900" spc="5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(SAR)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3883" y="1727657"/>
            <a:ext cx="4219575" cy="1610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183515" algn="l"/>
              </a:tabLst>
            </a:pPr>
            <a:r>
              <a:rPr sz="1300" dirty="0">
                <a:latin typeface="Calibri"/>
                <a:cs typeface="Calibri"/>
              </a:rPr>
              <a:t>Manual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workflows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make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difficult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non-</a:t>
            </a:r>
            <a:r>
              <a:rPr sz="1300" dirty="0">
                <a:latin typeface="Calibri"/>
                <a:cs typeface="Calibri"/>
              </a:rPr>
              <a:t>experts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</a:t>
            </a:r>
            <a:endParaRPr sz="13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Calibri"/>
                <a:cs typeface="Calibri"/>
              </a:rPr>
              <a:t>query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satellite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imagery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directly.</a:t>
            </a:r>
            <a:endParaRPr sz="1300">
              <a:latin typeface="Calibri"/>
              <a:cs typeface="Calibri"/>
            </a:endParaRPr>
          </a:p>
          <a:p>
            <a:pPr marL="182880" marR="142875" indent="-170815">
              <a:lnSpc>
                <a:spcPct val="100000"/>
              </a:lnSpc>
              <a:buFont typeface="Courier New"/>
              <a:buChar char="o"/>
              <a:tabLst>
                <a:tab pos="184785" algn="l"/>
              </a:tabLst>
            </a:pPr>
            <a:r>
              <a:rPr sz="1300" dirty="0">
                <a:latin typeface="Calibri"/>
                <a:cs typeface="Calibri"/>
              </a:rPr>
              <a:t>Fragmented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tool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silos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force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users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know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separate 	</a:t>
            </a:r>
            <a:r>
              <a:rPr sz="1300" dirty="0">
                <a:latin typeface="Calibri"/>
                <a:cs typeface="Calibri"/>
              </a:rPr>
              <a:t>model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pick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(VQA,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captioning,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change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detection).</a:t>
            </a:r>
            <a:endParaRPr sz="1300">
              <a:latin typeface="Calibri"/>
              <a:cs typeface="Calibri"/>
            </a:endParaRPr>
          </a:p>
          <a:p>
            <a:pPr marL="182880" marR="5080" indent="-170815">
              <a:lnSpc>
                <a:spcPct val="100000"/>
              </a:lnSpc>
              <a:buFont typeface="Courier New"/>
              <a:buChar char="o"/>
              <a:tabLst>
                <a:tab pos="184785" algn="l"/>
              </a:tabLst>
            </a:pPr>
            <a:r>
              <a:rPr sz="1300" dirty="0">
                <a:latin typeface="Calibri"/>
                <a:cs typeface="Calibri"/>
              </a:rPr>
              <a:t>Weather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&amp;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cloud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barriers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render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optical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imagery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ineffective 	</a:t>
            </a:r>
            <a:r>
              <a:rPr sz="1300" dirty="0">
                <a:latin typeface="Calibri"/>
                <a:cs typeface="Calibri"/>
              </a:rPr>
              <a:t>during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monsoons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nighttime.</a:t>
            </a:r>
            <a:endParaRPr sz="1300">
              <a:latin typeface="Calibri"/>
              <a:cs typeface="Calibri"/>
            </a:endParaRPr>
          </a:p>
          <a:p>
            <a:pPr marL="182880" marR="397510" indent="-170815">
              <a:lnSpc>
                <a:spcPct val="100000"/>
              </a:lnSpc>
              <a:buFont typeface="Courier New"/>
              <a:buChar char="o"/>
              <a:tabLst>
                <a:tab pos="184785" algn="l"/>
              </a:tabLst>
            </a:pPr>
            <a:r>
              <a:rPr sz="1300" dirty="0">
                <a:latin typeface="Calibri"/>
                <a:cs typeface="Calibri"/>
              </a:rPr>
              <a:t>Generic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LLMs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hallucinate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land-</a:t>
            </a:r>
            <a:r>
              <a:rPr sz="1300" dirty="0">
                <a:latin typeface="Calibri"/>
                <a:cs typeface="Calibri"/>
              </a:rPr>
              <a:t>cover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features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lack 	</a:t>
            </a:r>
            <a:r>
              <a:rPr sz="1300" dirty="0">
                <a:latin typeface="Calibri"/>
                <a:cs typeface="Calibri"/>
              </a:rPr>
              <a:t>verifiable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spatial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grounding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audit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traces.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51019" y="1852676"/>
            <a:ext cx="1129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Multi-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Band</a:t>
            </a:r>
            <a:r>
              <a:rPr sz="900" spc="1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GeoTIFF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208776" y="1321816"/>
            <a:ext cx="1535430" cy="890905"/>
            <a:chOff x="6208776" y="1321816"/>
            <a:chExt cx="1535430" cy="890905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8776" y="1717167"/>
              <a:ext cx="128015" cy="1097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41364" y="1337691"/>
              <a:ext cx="1386840" cy="868680"/>
            </a:xfrm>
            <a:custGeom>
              <a:avLst/>
              <a:gdLst/>
              <a:ahLst/>
              <a:cxnLst/>
              <a:rect l="l" t="t" r="r" b="b"/>
              <a:pathLst>
                <a:path w="1386840" h="86868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331976" y="0"/>
                  </a:lnTo>
                  <a:lnTo>
                    <a:pt x="1353300" y="4304"/>
                  </a:lnTo>
                  <a:lnTo>
                    <a:pt x="1370742" y="16049"/>
                  </a:lnTo>
                  <a:lnTo>
                    <a:pt x="1382518" y="33486"/>
                  </a:lnTo>
                  <a:lnTo>
                    <a:pt x="1386839" y="54863"/>
                  </a:lnTo>
                  <a:lnTo>
                    <a:pt x="1386839" y="813816"/>
                  </a:lnTo>
                  <a:lnTo>
                    <a:pt x="1382518" y="835193"/>
                  </a:lnTo>
                  <a:lnTo>
                    <a:pt x="1370742" y="852630"/>
                  </a:lnTo>
                  <a:lnTo>
                    <a:pt x="1353300" y="864375"/>
                  </a:lnTo>
                  <a:lnTo>
                    <a:pt x="1331976" y="868680"/>
                  </a:lnTo>
                  <a:lnTo>
                    <a:pt x="54863" y="868680"/>
                  </a:lnTo>
                  <a:lnTo>
                    <a:pt x="33486" y="864375"/>
                  </a:lnTo>
                  <a:lnTo>
                    <a:pt x="16049" y="852630"/>
                  </a:lnTo>
                  <a:lnTo>
                    <a:pt x="4304" y="835193"/>
                  </a:lnTo>
                  <a:lnTo>
                    <a:pt x="0" y="813816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41364" y="1337691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40">
                  <a:moveTo>
                    <a:pt x="0" y="0"/>
                  </a:moveTo>
                  <a:lnTo>
                    <a:pt x="1386839" y="0"/>
                  </a:lnTo>
                </a:path>
              </a:pathLst>
            </a:custGeom>
            <a:ln w="31750">
              <a:solidFill>
                <a:srgbClr val="2E5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02704" y="1386332"/>
            <a:ext cx="1009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E5FDE"/>
                </a:solidFill>
                <a:latin typeface="Calibri"/>
                <a:cs typeface="Calibri"/>
              </a:rPr>
              <a:t>INTELLIGENCE</a:t>
            </a:r>
            <a:r>
              <a:rPr sz="900" b="1" spc="55" dirty="0">
                <a:solidFill>
                  <a:srgbClr val="2E5FDE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2E5FDE"/>
                </a:solidFill>
                <a:latin typeface="Calibri"/>
                <a:cs typeface="Calibri"/>
              </a:rPr>
              <a:t>LAYER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75272" y="1518920"/>
            <a:ext cx="871855" cy="3397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54"/>
              </a:spcBef>
              <a:buChar char="●"/>
              <a:tabLst>
                <a:tab pos="188595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Query</a:t>
            </a:r>
            <a:r>
              <a:rPr sz="900" spc="-3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Parsing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55"/>
              </a:spcBef>
              <a:buChar char="●"/>
              <a:tabLst>
                <a:tab pos="188595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Spatial</a:t>
            </a:r>
            <a:r>
              <a:rPr sz="900" spc="-1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Co-</a:t>
            </a:r>
            <a:r>
              <a:rPr sz="900" spc="-25" dirty="0">
                <a:solidFill>
                  <a:srgbClr val="44506B"/>
                </a:solidFill>
                <a:latin typeface="Calibri"/>
                <a:cs typeface="Calibri"/>
              </a:rPr>
              <a:t>Reg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75272" y="1834388"/>
            <a:ext cx="1109345" cy="3365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40"/>
              </a:spcBef>
              <a:buChar char="●"/>
              <a:tabLst>
                <a:tab pos="188595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Metadata</a:t>
            </a:r>
            <a:r>
              <a:rPr sz="900" spc="-3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Validator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45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Radiometric</a:t>
            </a:r>
            <a:r>
              <a:rPr sz="900" spc="5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4506B"/>
                </a:solidFill>
                <a:latin typeface="Calibri"/>
                <a:cs typeface="Calibri"/>
              </a:rPr>
              <a:t>Norm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732776" y="1321816"/>
            <a:ext cx="1535430" cy="890905"/>
            <a:chOff x="7732776" y="1321816"/>
            <a:chExt cx="1535430" cy="890905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2776" y="1717167"/>
              <a:ext cx="128016" cy="10972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865364" y="1337691"/>
              <a:ext cx="1386840" cy="868680"/>
            </a:xfrm>
            <a:custGeom>
              <a:avLst/>
              <a:gdLst/>
              <a:ahLst/>
              <a:cxnLst/>
              <a:rect l="l" t="t" r="r" b="b"/>
              <a:pathLst>
                <a:path w="1386840" h="86868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331976" y="0"/>
                  </a:lnTo>
                  <a:lnTo>
                    <a:pt x="1353300" y="4304"/>
                  </a:lnTo>
                  <a:lnTo>
                    <a:pt x="1370742" y="16049"/>
                  </a:lnTo>
                  <a:lnTo>
                    <a:pt x="1382518" y="33486"/>
                  </a:lnTo>
                  <a:lnTo>
                    <a:pt x="1386839" y="54863"/>
                  </a:lnTo>
                  <a:lnTo>
                    <a:pt x="1386839" y="813816"/>
                  </a:lnTo>
                  <a:lnTo>
                    <a:pt x="1382518" y="835193"/>
                  </a:lnTo>
                  <a:lnTo>
                    <a:pt x="1370742" y="852630"/>
                  </a:lnTo>
                  <a:lnTo>
                    <a:pt x="1353300" y="864375"/>
                  </a:lnTo>
                  <a:lnTo>
                    <a:pt x="1331976" y="868680"/>
                  </a:lnTo>
                  <a:lnTo>
                    <a:pt x="54863" y="868680"/>
                  </a:lnTo>
                  <a:lnTo>
                    <a:pt x="33486" y="864375"/>
                  </a:lnTo>
                  <a:lnTo>
                    <a:pt x="16049" y="852630"/>
                  </a:lnTo>
                  <a:lnTo>
                    <a:pt x="4304" y="835193"/>
                  </a:lnTo>
                  <a:lnTo>
                    <a:pt x="0" y="81381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65364" y="1337691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40">
                  <a:moveTo>
                    <a:pt x="0" y="0"/>
                  </a:moveTo>
                  <a:lnTo>
                    <a:pt x="1386839" y="0"/>
                  </a:lnTo>
                </a:path>
              </a:pathLst>
            </a:custGeom>
            <a:ln w="31750">
              <a:solidFill>
                <a:srgbClr val="6B46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926705" y="1386332"/>
            <a:ext cx="9347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B46C1"/>
                </a:solidFill>
                <a:latin typeface="Calibri"/>
                <a:cs typeface="Calibri"/>
              </a:rPr>
              <a:t>SPECIALIST</a:t>
            </a:r>
            <a:r>
              <a:rPr sz="900" b="1" spc="-50" dirty="0">
                <a:solidFill>
                  <a:srgbClr val="6B46C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6B46C1"/>
                </a:solidFill>
                <a:latin typeface="Calibri"/>
                <a:cs typeface="Calibri"/>
              </a:rPr>
              <a:t>ENGINE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9857218" y="1133687"/>
            <a:ext cx="2063750" cy="459105"/>
            <a:chOff x="9857218" y="1133687"/>
            <a:chExt cx="2063750" cy="459105"/>
          </a:xfrm>
        </p:grpSpPr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7218" y="1133687"/>
              <a:ext cx="2063522" cy="459035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895204" y="1148587"/>
              <a:ext cx="1991995" cy="387985"/>
            </a:xfrm>
            <a:custGeom>
              <a:avLst/>
              <a:gdLst/>
              <a:ahLst/>
              <a:cxnLst/>
              <a:rect l="l" t="t" r="r" b="b"/>
              <a:pathLst>
                <a:path w="1991995" h="387984">
                  <a:moveTo>
                    <a:pt x="1927098" y="0"/>
                  </a:moveTo>
                  <a:lnTo>
                    <a:pt x="64643" y="0"/>
                  </a:lnTo>
                  <a:lnTo>
                    <a:pt x="39487" y="5081"/>
                  </a:lnTo>
                  <a:lnTo>
                    <a:pt x="18938" y="18938"/>
                  </a:lnTo>
                  <a:lnTo>
                    <a:pt x="5081" y="39487"/>
                  </a:lnTo>
                  <a:lnTo>
                    <a:pt x="0" y="64642"/>
                  </a:lnTo>
                  <a:lnTo>
                    <a:pt x="0" y="322961"/>
                  </a:lnTo>
                  <a:lnTo>
                    <a:pt x="5081" y="348116"/>
                  </a:lnTo>
                  <a:lnTo>
                    <a:pt x="18938" y="368665"/>
                  </a:lnTo>
                  <a:lnTo>
                    <a:pt x="39487" y="382522"/>
                  </a:lnTo>
                  <a:lnTo>
                    <a:pt x="64643" y="387603"/>
                  </a:lnTo>
                  <a:lnTo>
                    <a:pt x="1927098" y="387603"/>
                  </a:lnTo>
                  <a:lnTo>
                    <a:pt x="1952253" y="382522"/>
                  </a:lnTo>
                  <a:lnTo>
                    <a:pt x="1972802" y="368665"/>
                  </a:lnTo>
                  <a:lnTo>
                    <a:pt x="1986659" y="348116"/>
                  </a:lnTo>
                  <a:lnTo>
                    <a:pt x="1991741" y="322961"/>
                  </a:lnTo>
                  <a:lnTo>
                    <a:pt x="1991741" y="64642"/>
                  </a:lnTo>
                  <a:lnTo>
                    <a:pt x="1986659" y="39487"/>
                  </a:lnTo>
                  <a:lnTo>
                    <a:pt x="1972802" y="18938"/>
                  </a:lnTo>
                  <a:lnTo>
                    <a:pt x="1952253" y="5081"/>
                  </a:lnTo>
                  <a:lnTo>
                    <a:pt x="1927098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895204" y="1148587"/>
              <a:ext cx="1991995" cy="387985"/>
            </a:xfrm>
            <a:custGeom>
              <a:avLst/>
              <a:gdLst/>
              <a:ahLst/>
              <a:cxnLst/>
              <a:rect l="l" t="t" r="r" b="b"/>
              <a:pathLst>
                <a:path w="1991995" h="387984">
                  <a:moveTo>
                    <a:pt x="0" y="64642"/>
                  </a:moveTo>
                  <a:lnTo>
                    <a:pt x="5081" y="39487"/>
                  </a:lnTo>
                  <a:lnTo>
                    <a:pt x="18938" y="18938"/>
                  </a:lnTo>
                  <a:lnTo>
                    <a:pt x="39487" y="5081"/>
                  </a:lnTo>
                  <a:lnTo>
                    <a:pt x="64643" y="0"/>
                  </a:lnTo>
                  <a:lnTo>
                    <a:pt x="1927098" y="0"/>
                  </a:lnTo>
                  <a:lnTo>
                    <a:pt x="1952253" y="5081"/>
                  </a:lnTo>
                  <a:lnTo>
                    <a:pt x="1972802" y="18938"/>
                  </a:lnTo>
                  <a:lnTo>
                    <a:pt x="1986659" y="39487"/>
                  </a:lnTo>
                  <a:lnTo>
                    <a:pt x="1991741" y="64642"/>
                  </a:lnTo>
                  <a:lnTo>
                    <a:pt x="1991741" y="322961"/>
                  </a:lnTo>
                  <a:lnTo>
                    <a:pt x="1986659" y="348116"/>
                  </a:lnTo>
                  <a:lnTo>
                    <a:pt x="1972802" y="368665"/>
                  </a:lnTo>
                  <a:lnTo>
                    <a:pt x="1952253" y="382522"/>
                  </a:lnTo>
                  <a:lnTo>
                    <a:pt x="1927098" y="387603"/>
                  </a:lnTo>
                  <a:lnTo>
                    <a:pt x="64643" y="387603"/>
                  </a:lnTo>
                  <a:lnTo>
                    <a:pt x="39487" y="382522"/>
                  </a:lnTo>
                  <a:lnTo>
                    <a:pt x="18938" y="368665"/>
                  </a:lnTo>
                  <a:lnTo>
                    <a:pt x="5081" y="348116"/>
                  </a:lnTo>
                  <a:lnTo>
                    <a:pt x="0" y="322961"/>
                  </a:lnTo>
                  <a:lnTo>
                    <a:pt x="0" y="64642"/>
                  </a:lnTo>
                  <a:close/>
                </a:path>
              </a:pathLst>
            </a:custGeom>
            <a:ln w="9525">
              <a:solidFill>
                <a:srgbClr val="B7DE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10350500" y="1247394"/>
            <a:ext cx="11588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1B2458"/>
                </a:solidFill>
                <a:latin typeface="Calibri"/>
                <a:cs typeface="Calibri"/>
              </a:rPr>
              <a:t>DETECTION</a:t>
            </a:r>
            <a:r>
              <a:rPr sz="1050" b="1" spc="-45" dirty="0">
                <a:solidFill>
                  <a:srgbClr val="1B2458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B2458"/>
                </a:solidFill>
                <a:latin typeface="Calibri"/>
                <a:cs typeface="Calibri"/>
              </a:rPr>
              <a:t>SIGNALS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899272" y="1518920"/>
            <a:ext cx="1017905" cy="3397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54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RS-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VQA</a:t>
            </a:r>
            <a:r>
              <a:rPr sz="900" spc="-1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Specialist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55"/>
              </a:spcBef>
              <a:buChar char="●"/>
              <a:tabLst>
                <a:tab pos="188595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BigEarthNet</a:t>
            </a:r>
            <a:r>
              <a:rPr sz="900" spc="-4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44506B"/>
                </a:solidFill>
                <a:latin typeface="Calibri"/>
                <a:cs typeface="Calibri"/>
              </a:rPr>
              <a:t>Cap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99272" y="1834388"/>
            <a:ext cx="1077595" cy="3365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40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Bi-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Temporal</a:t>
            </a:r>
            <a:r>
              <a:rPr sz="900" spc="-1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44506B"/>
                </a:solidFill>
                <a:latin typeface="Calibri"/>
                <a:cs typeface="Calibri"/>
              </a:rPr>
              <a:t>CD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45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Optical-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SAR</a:t>
            </a:r>
            <a:r>
              <a:rPr sz="900" spc="3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Fusion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60416" y="2505710"/>
            <a:ext cx="1418590" cy="890905"/>
            <a:chOff x="4860416" y="2505710"/>
            <a:chExt cx="1418590" cy="890905"/>
          </a:xfrm>
        </p:grpSpPr>
        <p:sp>
          <p:nvSpPr>
            <p:cNvPr id="50" name="object 50"/>
            <p:cNvSpPr/>
            <p:nvPr/>
          </p:nvSpPr>
          <p:spPr>
            <a:xfrm>
              <a:off x="4876291" y="2521585"/>
              <a:ext cx="1386840" cy="868680"/>
            </a:xfrm>
            <a:custGeom>
              <a:avLst/>
              <a:gdLst/>
              <a:ahLst/>
              <a:cxnLst/>
              <a:rect l="l" t="t" r="r" b="b"/>
              <a:pathLst>
                <a:path w="1386839" h="868679">
                  <a:moveTo>
                    <a:pt x="0" y="54863"/>
                  </a:moveTo>
                  <a:lnTo>
                    <a:pt x="4321" y="33486"/>
                  </a:lnTo>
                  <a:lnTo>
                    <a:pt x="16097" y="16049"/>
                  </a:lnTo>
                  <a:lnTo>
                    <a:pt x="33539" y="4304"/>
                  </a:lnTo>
                  <a:lnTo>
                    <a:pt x="54863" y="0"/>
                  </a:lnTo>
                  <a:lnTo>
                    <a:pt x="1331976" y="0"/>
                  </a:lnTo>
                  <a:lnTo>
                    <a:pt x="1353353" y="4304"/>
                  </a:lnTo>
                  <a:lnTo>
                    <a:pt x="1370790" y="16049"/>
                  </a:lnTo>
                  <a:lnTo>
                    <a:pt x="1382535" y="33486"/>
                  </a:lnTo>
                  <a:lnTo>
                    <a:pt x="1386840" y="54863"/>
                  </a:lnTo>
                  <a:lnTo>
                    <a:pt x="1386840" y="813815"/>
                  </a:lnTo>
                  <a:lnTo>
                    <a:pt x="1382535" y="835193"/>
                  </a:lnTo>
                  <a:lnTo>
                    <a:pt x="1370790" y="852630"/>
                  </a:lnTo>
                  <a:lnTo>
                    <a:pt x="1353353" y="864375"/>
                  </a:lnTo>
                  <a:lnTo>
                    <a:pt x="1331976" y="868679"/>
                  </a:lnTo>
                  <a:lnTo>
                    <a:pt x="54863" y="868679"/>
                  </a:lnTo>
                  <a:lnTo>
                    <a:pt x="33539" y="864375"/>
                  </a:lnTo>
                  <a:lnTo>
                    <a:pt x="16097" y="852630"/>
                  </a:lnTo>
                  <a:lnTo>
                    <a:pt x="4321" y="835193"/>
                  </a:lnTo>
                  <a:lnTo>
                    <a:pt x="0" y="813815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76291" y="2521585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39">
                  <a:moveTo>
                    <a:pt x="0" y="0"/>
                  </a:moveTo>
                  <a:lnTo>
                    <a:pt x="1386840" y="0"/>
                  </a:lnTo>
                </a:path>
              </a:pathLst>
            </a:custGeom>
            <a:ln w="31750">
              <a:solidFill>
                <a:srgbClr val="D08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37505" y="2607055"/>
            <a:ext cx="1279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D08900"/>
                </a:solidFill>
                <a:latin typeface="Calibri"/>
                <a:cs typeface="Calibri"/>
              </a:rPr>
              <a:t>CONFIDENCE</a:t>
            </a:r>
            <a:r>
              <a:rPr sz="900" b="1" dirty="0">
                <a:solidFill>
                  <a:srgbClr val="D08900"/>
                </a:solidFill>
                <a:latin typeface="Calibri"/>
                <a:cs typeface="Calibri"/>
              </a:rPr>
              <a:t> &amp;</a:t>
            </a:r>
            <a:r>
              <a:rPr sz="900" b="1" spc="25" dirty="0">
                <a:solidFill>
                  <a:srgbClr val="D089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08900"/>
                </a:solidFill>
                <a:latin typeface="Calibri"/>
                <a:cs typeface="Calibri"/>
              </a:rPr>
              <a:t>SYNTHESIS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10073" y="2776220"/>
            <a:ext cx="1120140" cy="4965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254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Multi-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Model</a:t>
            </a:r>
            <a:r>
              <a:rPr sz="900" spc="1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Fusion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55"/>
              </a:spcBef>
              <a:buChar char="●"/>
              <a:tabLst>
                <a:tab pos="188595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Otsu</a:t>
            </a:r>
            <a:r>
              <a:rPr sz="900" spc="-3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Thresholding</a:t>
            </a:r>
            <a:endParaRPr sz="9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155"/>
              </a:spcBef>
              <a:buChar char="●"/>
              <a:tabLst>
                <a:tab pos="188595" algn="l"/>
              </a:tabLst>
            </a:pP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Confidence</a:t>
            </a:r>
            <a:r>
              <a:rPr sz="900" spc="4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4506B"/>
                </a:solidFill>
                <a:latin typeface="Calibri"/>
                <a:cs typeface="Calibri"/>
              </a:rPr>
              <a:t>Score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67703" y="2505710"/>
            <a:ext cx="1535430" cy="686435"/>
            <a:chOff x="6267703" y="2505710"/>
            <a:chExt cx="1535430" cy="686435"/>
          </a:xfrm>
        </p:grpSpPr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7703" y="2901061"/>
              <a:ext cx="128016" cy="10972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400291" y="2521585"/>
              <a:ext cx="1386840" cy="664210"/>
            </a:xfrm>
            <a:custGeom>
              <a:avLst/>
              <a:gdLst/>
              <a:ahLst/>
              <a:cxnLst/>
              <a:rect l="l" t="t" r="r" b="b"/>
              <a:pathLst>
                <a:path w="1386840" h="664210">
                  <a:moveTo>
                    <a:pt x="0" y="41910"/>
                  </a:moveTo>
                  <a:lnTo>
                    <a:pt x="3298" y="25610"/>
                  </a:lnTo>
                  <a:lnTo>
                    <a:pt x="12287" y="12287"/>
                  </a:lnTo>
                  <a:lnTo>
                    <a:pt x="25610" y="3298"/>
                  </a:lnTo>
                  <a:lnTo>
                    <a:pt x="41910" y="0"/>
                  </a:lnTo>
                  <a:lnTo>
                    <a:pt x="1344930" y="0"/>
                  </a:lnTo>
                  <a:lnTo>
                    <a:pt x="1361229" y="3298"/>
                  </a:lnTo>
                  <a:lnTo>
                    <a:pt x="1374552" y="12287"/>
                  </a:lnTo>
                  <a:lnTo>
                    <a:pt x="1383541" y="25610"/>
                  </a:lnTo>
                  <a:lnTo>
                    <a:pt x="1386839" y="41910"/>
                  </a:lnTo>
                  <a:lnTo>
                    <a:pt x="1386839" y="622173"/>
                  </a:lnTo>
                  <a:lnTo>
                    <a:pt x="1383541" y="638472"/>
                  </a:lnTo>
                  <a:lnTo>
                    <a:pt x="1374552" y="651795"/>
                  </a:lnTo>
                  <a:lnTo>
                    <a:pt x="1361229" y="660784"/>
                  </a:lnTo>
                  <a:lnTo>
                    <a:pt x="1344930" y="664082"/>
                  </a:lnTo>
                  <a:lnTo>
                    <a:pt x="41910" y="664082"/>
                  </a:lnTo>
                  <a:lnTo>
                    <a:pt x="25610" y="660784"/>
                  </a:lnTo>
                  <a:lnTo>
                    <a:pt x="12287" y="651795"/>
                  </a:lnTo>
                  <a:lnTo>
                    <a:pt x="3298" y="638472"/>
                  </a:lnTo>
                  <a:lnTo>
                    <a:pt x="0" y="622173"/>
                  </a:lnTo>
                  <a:lnTo>
                    <a:pt x="0" y="41910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00291" y="2521585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40">
                  <a:moveTo>
                    <a:pt x="0" y="0"/>
                  </a:moveTo>
                  <a:lnTo>
                    <a:pt x="1386839" y="0"/>
                  </a:lnTo>
                </a:path>
              </a:pathLst>
            </a:custGeom>
            <a:ln w="31750">
              <a:solidFill>
                <a:srgbClr val="D08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434073" y="2555239"/>
            <a:ext cx="1331595" cy="5467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505"/>
              </a:spcBef>
            </a:pPr>
            <a:r>
              <a:rPr sz="900" b="1" dirty="0">
                <a:solidFill>
                  <a:srgbClr val="D08900"/>
                </a:solidFill>
                <a:latin typeface="Calibri"/>
                <a:cs typeface="Calibri"/>
              </a:rPr>
              <a:t>DUAL</a:t>
            </a:r>
            <a:r>
              <a:rPr sz="900" b="1" spc="10" dirty="0">
                <a:solidFill>
                  <a:srgbClr val="D089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08900"/>
                </a:solidFill>
                <a:latin typeface="Calibri"/>
                <a:cs typeface="Calibri"/>
              </a:rPr>
              <a:t>GROUNDED</a:t>
            </a:r>
            <a:r>
              <a:rPr sz="900" b="1" spc="-5" dirty="0">
                <a:solidFill>
                  <a:srgbClr val="D089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08900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  <a:p>
            <a:pPr marL="187960" marR="138430" indent="-175895">
              <a:lnSpc>
                <a:spcPct val="104400"/>
              </a:lnSpc>
              <a:spcBef>
                <a:spcPts val="360"/>
              </a:spcBef>
              <a:buChar char="●"/>
              <a:tabLst>
                <a:tab pos="190500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Text</a:t>
            </a:r>
            <a:r>
              <a:rPr sz="900" spc="-2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Answer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+</a:t>
            </a:r>
            <a:r>
              <a:rPr sz="900" spc="-2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Spatial</a:t>
            </a:r>
            <a:r>
              <a:rPr sz="900" spc="500" dirty="0">
                <a:solidFill>
                  <a:srgbClr val="44506B"/>
                </a:solidFill>
                <a:latin typeface="Calibri"/>
                <a:cs typeface="Calibri"/>
              </a:rPr>
              <a:t> 	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Heatmap</a:t>
            </a:r>
            <a:r>
              <a:rPr sz="900" spc="-4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Overlay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791704" y="2505710"/>
            <a:ext cx="1535430" cy="686435"/>
            <a:chOff x="7791704" y="2505710"/>
            <a:chExt cx="1535430" cy="686435"/>
          </a:xfrm>
        </p:grpSpPr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91704" y="2901061"/>
              <a:ext cx="128016" cy="10972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924292" y="2521585"/>
              <a:ext cx="1386840" cy="664210"/>
            </a:xfrm>
            <a:custGeom>
              <a:avLst/>
              <a:gdLst/>
              <a:ahLst/>
              <a:cxnLst/>
              <a:rect l="l" t="t" r="r" b="b"/>
              <a:pathLst>
                <a:path w="1386840" h="664210">
                  <a:moveTo>
                    <a:pt x="0" y="41910"/>
                  </a:moveTo>
                  <a:lnTo>
                    <a:pt x="3298" y="25610"/>
                  </a:lnTo>
                  <a:lnTo>
                    <a:pt x="12287" y="12287"/>
                  </a:lnTo>
                  <a:lnTo>
                    <a:pt x="25610" y="3298"/>
                  </a:lnTo>
                  <a:lnTo>
                    <a:pt x="41909" y="0"/>
                  </a:lnTo>
                  <a:lnTo>
                    <a:pt x="1344929" y="0"/>
                  </a:lnTo>
                  <a:lnTo>
                    <a:pt x="1361229" y="3298"/>
                  </a:lnTo>
                  <a:lnTo>
                    <a:pt x="1374552" y="12287"/>
                  </a:lnTo>
                  <a:lnTo>
                    <a:pt x="1383541" y="25610"/>
                  </a:lnTo>
                  <a:lnTo>
                    <a:pt x="1386839" y="41910"/>
                  </a:lnTo>
                  <a:lnTo>
                    <a:pt x="1386839" y="622173"/>
                  </a:lnTo>
                  <a:lnTo>
                    <a:pt x="1383541" y="638472"/>
                  </a:lnTo>
                  <a:lnTo>
                    <a:pt x="1374552" y="651795"/>
                  </a:lnTo>
                  <a:lnTo>
                    <a:pt x="1361229" y="660784"/>
                  </a:lnTo>
                  <a:lnTo>
                    <a:pt x="1344929" y="664082"/>
                  </a:lnTo>
                  <a:lnTo>
                    <a:pt x="41909" y="664082"/>
                  </a:lnTo>
                  <a:lnTo>
                    <a:pt x="25610" y="660784"/>
                  </a:lnTo>
                  <a:lnTo>
                    <a:pt x="12287" y="651795"/>
                  </a:lnTo>
                  <a:lnTo>
                    <a:pt x="3298" y="638472"/>
                  </a:lnTo>
                  <a:lnTo>
                    <a:pt x="0" y="622173"/>
                  </a:lnTo>
                  <a:lnTo>
                    <a:pt x="0" y="41910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924292" y="2521585"/>
              <a:ext cx="1386840" cy="0"/>
            </a:xfrm>
            <a:custGeom>
              <a:avLst/>
              <a:gdLst/>
              <a:ahLst/>
              <a:cxnLst/>
              <a:rect l="l" t="t" r="r" b="b"/>
              <a:pathLst>
                <a:path w="1386840">
                  <a:moveTo>
                    <a:pt x="0" y="0"/>
                  </a:moveTo>
                  <a:lnTo>
                    <a:pt x="1386839" y="0"/>
                  </a:lnTo>
                </a:path>
              </a:pathLst>
            </a:custGeom>
            <a:ln w="3175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958455" y="2546096"/>
            <a:ext cx="1316355" cy="5562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540"/>
              </a:spcBef>
            </a:pPr>
            <a:r>
              <a:rPr sz="900" b="1" dirty="0">
                <a:solidFill>
                  <a:srgbClr val="C0392B"/>
                </a:solidFill>
                <a:latin typeface="Calibri"/>
                <a:cs typeface="Calibri"/>
              </a:rPr>
              <a:t>DISASTER</a:t>
            </a:r>
            <a:r>
              <a:rPr sz="900" b="1" spc="-15" dirty="0">
                <a:solidFill>
                  <a:srgbClr val="C0392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0392B"/>
                </a:solidFill>
                <a:latin typeface="Calibri"/>
                <a:cs typeface="Calibri"/>
              </a:rPr>
              <a:t>/</a:t>
            </a:r>
            <a:r>
              <a:rPr sz="900" b="1" spc="-40" dirty="0">
                <a:solidFill>
                  <a:srgbClr val="C0392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0392B"/>
                </a:solidFill>
                <a:latin typeface="Calibri"/>
                <a:cs typeface="Calibri"/>
              </a:rPr>
              <a:t>AUDIT</a:t>
            </a:r>
            <a:r>
              <a:rPr sz="900" b="1" spc="-35" dirty="0">
                <a:solidFill>
                  <a:srgbClr val="C0392B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C0392B"/>
                </a:solidFill>
                <a:latin typeface="Calibri"/>
                <a:cs typeface="Calibri"/>
              </a:rPr>
              <a:t>REVIEW</a:t>
            </a:r>
            <a:endParaRPr sz="900">
              <a:latin typeface="Calibri"/>
              <a:cs typeface="Calibri"/>
            </a:endParaRPr>
          </a:p>
          <a:p>
            <a:pPr marL="187960" marR="95885" indent="-175895">
              <a:lnSpc>
                <a:spcPct val="104400"/>
              </a:lnSpc>
              <a:spcBef>
                <a:spcPts val="400"/>
              </a:spcBef>
              <a:buChar char="●"/>
              <a:tabLst>
                <a:tab pos="190500" algn="l"/>
              </a:tabLst>
            </a:pP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Actionable</a:t>
            </a:r>
            <a:r>
              <a:rPr sz="900" spc="-4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Decision</a:t>
            </a:r>
            <a:r>
              <a:rPr sz="900" spc="-4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44506B"/>
                </a:solidFill>
                <a:latin typeface="Calibri"/>
                <a:cs typeface="Calibri"/>
              </a:rPr>
              <a:t>&amp;</a:t>
            </a:r>
            <a:r>
              <a:rPr sz="900" spc="500" dirty="0">
                <a:solidFill>
                  <a:srgbClr val="44506B"/>
                </a:solidFill>
                <a:latin typeface="Calibri"/>
                <a:cs typeface="Calibri"/>
              </a:rPr>
              <a:t> 	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Audit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06B"/>
                </a:solidFill>
                <a:latin typeface="Calibri"/>
                <a:cs typeface="Calibri"/>
              </a:rPr>
              <a:t>Trace</a:t>
            </a:r>
            <a:r>
              <a:rPr sz="900" spc="-35" dirty="0">
                <a:solidFill>
                  <a:srgbClr val="44506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4506B"/>
                </a:solidFill>
                <a:latin typeface="Calibri"/>
                <a:cs typeface="Calibri"/>
              </a:rPr>
              <a:t>Report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693920" y="1748027"/>
            <a:ext cx="4897120" cy="1343025"/>
            <a:chOff x="4693920" y="1748027"/>
            <a:chExt cx="4897120" cy="1343025"/>
          </a:xfrm>
        </p:grpSpPr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6112" y="1748027"/>
              <a:ext cx="4884420" cy="65379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748784" y="1783841"/>
              <a:ext cx="4791075" cy="547370"/>
            </a:xfrm>
            <a:custGeom>
              <a:avLst/>
              <a:gdLst/>
              <a:ahLst/>
              <a:cxnLst/>
              <a:rect l="l" t="t" r="r" b="b"/>
              <a:pathLst>
                <a:path w="4791075" h="547369">
                  <a:moveTo>
                    <a:pt x="4562347" y="0"/>
                  </a:moveTo>
                  <a:lnTo>
                    <a:pt x="4790947" y="0"/>
                  </a:lnTo>
                  <a:lnTo>
                    <a:pt x="4790947" y="547370"/>
                  </a:lnTo>
                  <a:lnTo>
                    <a:pt x="0" y="547370"/>
                  </a:lnTo>
                </a:path>
              </a:pathLst>
            </a:custGeom>
            <a:ln w="253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93920" y="2308859"/>
              <a:ext cx="297179" cy="78181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736084" y="2331211"/>
              <a:ext cx="140335" cy="662940"/>
            </a:xfrm>
            <a:custGeom>
              <a:avLst/>
              <a:gdLst/>
              <a:ahLst/>
              <a:cxnLst/>
              <a:rect l="l" t="t" r="r" b="b"/>
              <a:pathLst>
                <a:path w="140335" h="662939">
                  <a:moveTo>
                    <a:pt x="64007" y="586613"/>
                  </a:moveTo>
                  <a:lnTo>
                    <a:pt x="64007" y="662813"/>
                  </a:lnTo>
                  <a:lnTo>
                    <a:pt x="114807" y="637413"/>
                  </a:lnTo>
                  <a:lnTo>
                    <a:pt x="76707" y="637413"/>
                  </a:lnTo>
                  <a:lnTo>
                    <a:pt x="76707" y="612013"/>
                  </a:lnTo>
                  <a:lnTo>
                    <a:pt x="114807" y="612013"/>
                  </a:lnTo>
                  <a:lnTo>
                    <a:pt x="64007" y="586613"/>
                  </a:lnTo>
                  <a:close/>
                </a:path>
                <a:path w="140335" h="662939">
                  <a:moveTo>
                    <a:pt x="25400" y="0"/>
                  </a:moveTo>
                  <a:lnTo>
                    <a:pt x="0" y="0"/>
                  </a:lnTo>
                  <a:lnTo>
                    <a:pt x="0" y="631698"/>
                  </a:lnTo>
                  <a:lnTo>
                    <a:pt x="5714" y="637413"/>
                  </a:lnTo>
                  <a:lnTo>
                    <a:pt x="64007" y="637413"/>
                  </a:lnTo>
                  <a:lnTo>
                    <a:pt x="64007" y="624713"/>
                  </a:lnTo>
                  <a:lnTo>
                    <a:pt x="25400" y="624713"/>
                  </a:lnTo>
                  <a:lnTo>
                    <a:pt x="12700" y="612013"/>
                  </a:lnTo>
                  <a:lnTo>
                    <a:pt x="25400" y="612013"/>
                  </a:lnTo>
                  <a:lnTo>
                    <a:pt x="25400" y="0"/>
                  </a:lnTo>
                  <a:close/>
                </a:path>
                <a:path w="140335" h="662939">
                  <a:moveTo>
                    <a:pt x="114807" y="612013"/>
                  </a:moveTo>
                  <a:lnTo>
                    <a:pt x="76707" y="612013"/>
                  </a:lnTo>
                  <a:lnTo>
                    <a:pt x="76707" y="637413"/>
                  </a:lnTo>
                  <a:lnTo>
                    <a:pt x="114807" y="637413"/>
                  </a:lnTo>
                  <a:lnTo>
                    <a:pt x="140207" y="624713"/>
                  </a:lnTo>
                  <a:lnTo>
                    <a:pt x="114807" y="612013"/>
                  </a:lnTo>
                  <a:close/>
                </a:path>
                <a:path w="140335" h="662939">
                  <a:moveTo>
                    <a:pt x="25400" y="612013"/>
                  </a:moveTo>
                  <a:lnTo>
                    <a:pt x="12700" y="612013"/>
                  </a:lnTo>
                  <a:lnTo>
                    <a:pt x="25400" y="624713"/>
                  </a:lnTo>
                  <a:lnTo>
                    <a:pt x="25400" y="612013"/>
                  </a:lnTo>
                  <a:close/>
                </a:path>
                <a:path w="140335" h="662939">
                  <a:moveTo>
                    <a:pt x="64007" y="612013"/>
                  </a:moveTo>
                  <a:lnTo>
                    <a:pt x="25400" y="612013"/>
                  </a:lnTo>
                  <a:lnTo>
                    <a:pt x="25400" y="624713"/>
                  </a:lnTo>
                  <a:lnTo>
                    <a:pt x="64007" y="624713"/>
                  </a:lnTo>
                  <a:lnTo>
                    <a:pt x="64007" y="61201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9669653" y="1618488"/>
            <a:ext cx="1257300" cy="749300"/>
            <a:chOff x="9669653" y="1618488"/>
            <a:chExt cx="1257300" cy="749300"/>
          </a:xfrm>
        </p:grpSpPr>
        <p:sp>
          <p:nvSpPr>
            <p:cNvPr id="73" name="object 73"/>
            <p:cNvSpPr/>
            <p:nvPr/>
          </p:nvSpPr>
          <p:spPr>
            <a:xfrm>
              <a:off x="9676003" y="1624838"/>
              <a:ext cx="1244600" cy="736600"/>
            </a:xfrm>
            <a:custGeom>
              <a:avLst/>
              <a:gdLst/>
              <a:ahLst/>
              <a:cxnLst/>
              <a:rect l="l" t="t" r="r" b="b"/>
              <a:pathLst>
                <a:path w="1244600" h="736600">
                  <a:moveTo>
                    <a:pt x="1205738" y="0"/>
                  </a:moveTo>
                  <a:lnTo>
                    <a:pt x="38480" y="0"/>
                  </a:lnTo>
                  <a:lnTo>
                    <a:pt x="23520" y="3010"/>
                  </a:lnTo>
                  <a:lnTo>
                    <a:pt x="11287" y="11223"/>
                  </a:lnTo>
                  <a:lnTo>
                    <a:pt x="3030" y="23413"/>
                  </a:lnTo>
                  <a:lnTo>
                    <a:pt x="0" y="38353"/>
                  </a:lnTo>
                  <a:lnTo>
                    <a:pt x="0" y="697864"/>
                  </a:lnTo>
                  <a:lnTo>
                    <a:pt x="3030" y="712825"/>
                  </a:lnTo>
                  <a:lnTo>
                    <a:pt x="11287" y="725058"/>
                  </a:lnTo>
                  <a:lnTo>
                    <a:pt x="23520" y="733315"/>
                  </a:lnTo>
                  <a:lnTo>
                    <a:pt x="38480" y="736346"/>
                  </a:lnTo>
                  <a:lnTo>
                    <a:pt x="1205738" y="736346"/>
                  </a:lnTo>
                  <a:lnTo>
                    <a:pt x="1220678" y="733315"/>
                  </a:lnTo>
                  <a:lnTo>
                    <a:pt x="1232868" y="725058"/>
                  </a:lnTo>
                  <a:lnTo>
                    <a:pt x="1241081" y="712825"/>
                  </a:lnTo>
                  <a:lnTo>
                    <a:pt x="1244092" y="697864"/>
                  </a:lnTo>
                  <a:lnTo>
                    <a:pt x="1244092" y="38353"/>
                  </a:lnTo>
                  <a:lnTo>
                    <a:pt x="1241081" y="23413"/>
                  </a:lnTo>
                  <a:lnTo>
                    <a:pt x="1232868" y="11223"/>
                  </a:lnTo>
                  <a:lnTo>
                    <a:pt x="1220678" y="3010"/>
                  </a:lnTo>
                  <a:lnTo>
                    <a:pt x="1205738" y="0"/>
                  </a:lnTo>
                  <a:close/>
                </a:path>
              </a:pathLst>
            </a:custGeom>
            <a:solidFill>
              <a:srgbClr val="EAE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676003" y="1624838"/>
              <a:ext cx="1244600" cy="736600"/>
            </a:xfrm>
            <a:custGeom>
              <a:avLst/>
              <a:gdLst/>
              <a:ahLst/>
              <a:cxnLst/>
              <a:rect l="l" t="t" r="r" b="b"/>
              <a:pathLst>
                <a:path w="1244600" h="736600">
                  <a:moveTo>
                    <a:pt x="0" y="38353"/>
                  </a:moveTo>
                  <a:lnTo>
                    <a:pt x="3030" y="23413"/>
                  </a:lnTo>
                  <a:lnTo>
                    <a:pt x="11287" y="11223"/>
                  </a:lnTo>
                  <a:lnTo>
                    <a:pt x="23520" y="3010"/>
                  </a:lnTo>
                  <a:lnTo>
                    <a:pt x="38480" y="0"/>
                  </a:lnTo>
                  <a:lnTo>
                    <a:pt x="1205738" y="0"/>
                  </a:lnTo>
                  <a:lnTo>
                    <a:pt x="1220678" y="3010"/>
                  </a:lnTo>
                  <a:lnTo>
                    <a:pt x="1232868" y="11223"/>
                  </a:lnTo>
                  <a:lnTo>
                    <a:pt x="1241081" y="23413"/>
                  </a:lnTo>
                  <a:lnTo>
                    <a:pt x="1244092" y="38353"/>
                  </a:lnTo>
                  <a:lnTo>
                    <a:pt x="1244092" y="697864"/>
                  </a:lnTo>
                  <a:lnTo>
                    <a:pt x="1241081" y="712825"/>
                  </a:lnTo>
                  <a:lnTo>
                    <a:pt x="1232868" y="725058"/>
                  </a:lnTo>
                  <a:lnTo>
                    <a:pt x="1220678" y="733315"/>
                  </a:lnTo>
                  <a:lnTo>
                    <a:pt x="1205738" y="736346"/>
                  </a:lnTo>
                  <a:lnTo>
                    <a:pt x="38480" y="736346"/>
                  </a:lnTo>
                  <a:lnTo>
                    <a:pt x="23520" y="733315"/>
                  </a:lnTo>
                  <a:lnTo>
                    <a:pt x="11287" y="725058"/>
                  </a:lnTo>
                  <a:lnTo>
                    <a:pt x="3030" y="712825"/>
                  </a:lnTo>
                  <a:lnTo>
                    <a:pt x="0" y="697864"/>
                  </a:lnTo>
                  <a:lnTo>
                    <a:pt x="0" y="38353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927463" y="1794786"/>
            <a:ext cx="763270" cy="46609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545"/>
              </a:spcBef>
            </a:pPr>
            <a:r>
              <a:rPr sz="800" b="1" spc="-10" dirty="0">
                <a:solidFill>
                  <a:srgbClr val="2E5FDE"/>
                </a:solidFill>
                <a:latin typeface="Calibri"/>
                <a:cs typeface="Calibri"/>
              </a:rPr>
              <a:t>OPTICAL</a:t>
            </a:r>
            <a:r>
              <a:rPr sz="800" b="1" spc="25" dirty="0">
                <a:solidFill>
                  <a:srgbClr val="2E5FDE"/>
                </a:solidFill>
                <a:latin typeface="Calibri"/>
                <a:cs typeface="Calibri"/>
              </a:rPr>
              <a:t> </a:t>
            </a:r>
            <a:r>
              <a:rPr sz="800" b="1" spc="-25" dirty="0">
                <a:solidFill>
                  <a:srgbClr val="2E5FDE"/>
                </a:solidFill>
                <a:latin typeface="Calibri"/>
                <a:cs typeface="Calibri"/>
              </a:rPr>
              <a:t>VQA</a:t>
            </a:r>
            <a:endParaRPr sz="8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380"/>
              </a:spcBef>
            </a:pP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Land-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cover</a:t>
            </a:r>
            <a:r>
              <a:rPr sz="700" b="1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&amp;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object</a:t>
            </a:r>
            <a:r>
              <a:rPr sz="700" b="1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inspection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1043411" y="1621663"/>
            <a:ext cx="1130300" cy="749300"/>
            <a:chOff x="11043411" y="1621663"/>
            <a:chExt cx="1130300" cy="749300"/>
          </a:xfrm>
        </p:grpSpPr>
        <p:sp>
          <p:nvSpPr>
            <p:cNvPr id="77" name="object 77"/>
            <p:cNvSpPr/>
            <p:nvPr/>
          </p:nvSpPr>
          <p:spPr>
            <a:xfrm>
              <a:off x="11049761" y="1628013"/>
              <a:ext cx="1117600" cy="736600"/>
            </a:xfrm>
            <a:custGeom>
              <a:avLst/>
              <a:gdLst/>
              <a:ahLst/>
              <a:cxnLst/>
              <a:rect l="l" t="t" r="r" b="b"/>
              <a:pathLst>
                <a:path w="1117600" h="736600">
                  <a:moveTo>
                    <a:pt x="1079119" y="0"/>
                  </a:moveTo>
                  <a:lnTo>
                    <a:pt x="38354" y="0"/>
                  </a:lnTo>
                  <a:lnTo>
                    <a:pt x="23413" y="3030"/>
                  </a:lnTo>
                  <a:lnTo>
                    <a:pt x="11223" y="11287"/>
                  </a:lnTo>
                  <a:lnTo>
                    <a:pt x="3010" y="23520"/>
                  </a:lnTo>
                  <a:lnTo>
                    <a:pt x="0" y="38481"/>
                  </a:lnTo>
                  <a:lnTo>
                    <a:pt x="0" y="697991"/>
                  </a:lnTo>
                  <a:lnTo>
                    <a:pt x="3010" y="712932"/>
                  </a:lnTo>
                  <a:lnTo>
                    <a:pt x="11223" y="725122"/>
                  </a:lnTo>
                  <a:lnTo>
                    <a:pt x="23413" y="733335"/>
                  </a:lnTo>
                  <a:lnTo>
                    <a:pt x="38354" y="736346"/>
                  </a:lnTo>
                  <a:lnTo>
                    <a:pt x="1079119" y="736346"/>
                  </a:lnTo>
                  <a:lnTo>
                    <a:pt x="1094079" y="733335"/>
                  </a:lnTo>
                  <a:lnTo>
                    <a:pt x="1106312" y="725122"/>
                  </a:lnTo>
                  <a:lnTo>
                    <a:pt x="1114569" y="712932"/>
                  </a:lnTo>
                  <a:lnTo>
                    <a:pt x="1117600" y="697991"/>
                  </a:lnTo>
                  <a:lnTo>
                    <a:pt x="1117600" y="38481"/>
                  </a:lnTo>
                  <a:lnTo>
                    <a:pt x="1114569" y="23520"/>
                  </a:lnTo>
                  <a:lnTo>
                    <a:pt x="1106312" y="11287"/>
                  </a:lnTo>
                  <a:lnTo>
                    <a:pt x="1094079" y="3030"/>
                  </a:lnTo>
                  <a:lnTo>
                    <a:pt x="1079119" y="0"/>
                  </a:lnTo>
                  <a:close/>
                </a:path>
              </a:pathLst>
            </a:custGeom>
            <a:solidFill>
              <a:srgbClr val="DCF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1049761" y="1628013"/>
              <a:ext cx="1117600" cy="736600"/>
            </a:xfrm>
            <a:custGeom>
              <a:avLst/>
              <a:gdLst/>
              <a:ahLst/>
              <a:cxnLst/>
              <a:rect l="l" t="t" r="r" b="b"/>
              <a:pathLst>
                <a:path w="1117600" h="736600">
                  <a:moveTo>
                    <a:pt x="0" y="38481"/>
                  </a:moveTo>
                  <a:lnTo>
                    <a:pt x="3010" y="23520"/>
                  </a:lnTo>
                  <a:lnTo>
                    <a:pt x="11223" y="11287"/>
                  </a:lnTo>
                  <a:lnTo>
                    <a:pt x="23413" y="3030"/>
                  </a:lnTo>
                  <a:lnTo>
                    <a:pt x="38354" y="0"/>
                  </a:lnTo>
                  <a:lnTo>
                    <a:pt x="1079119" y="0"/>
                  </a:lnTo>
                  <a:lnTo>
                    <a:pt x="1094079" y="3030"/>
                  </a:lnTo>
                  <a:lnTo>
                    <a:pt x="1106312" y="11287"/>
                  </a:lnTo>
                  <a:lnTo>
                    <a:pt x="1114569" y="23520"/>
                  </a:lnTo>
                  <a:lnTo>
                    <a:pt x="1117600" y="38481"/>
                  </a:lnTo>
                  <a:lnTo>
                    <a:pt x="1117600" y="697991"/>
                  </a:lnTo>
                  <a:lnTo>
                    <a:pt x="1114569" y="712932"/>
                  </a:lnTo>
                  <a:lnTo>
                    <a:pt x="1106312" y="725122"/>
                  </a:lnTo>
                  <a:lnTo>
                    <a:pt x="1094079" y="733335"/>
                  </a:lnTo>
                  <a:lnTo>
                    <a:pt x="1079119" y="736346"/>
                  </a:lnTo>
                  <a:lnTo>
                    <a:pt x="38354" y="736346"/>
                  </a:lnTo>
                  <a:lnTo>
                    <a:pt x="23413" y="733335"/>
                  </a:lnTo>
                  <a:lnTo>
                    <a:pt x="11223" y="725122"/>
                  </a:lnTo>
                  <a:lnTo>
                    <a:pt x="3010" y="712932"/>
                  </a:lnTo>
                  <a:lnTo>
                    <a:pt x="0" y="697991"/>
                  </a:lnTo>
                  <a:lnTo>
                    <a:pt x="0" y="38481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1383518" y="1811782"/>
            <a:ext cx="51879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1B7E4B"/>
                </a:solidFill>
                <a:latin typeface="Calibri"/>
                <a:cs typeface="Calibri"/>
              </a:rPr>
              <a:t>SAR</a:t>
            </a:r>
            <a:r>
              <a:rPr sz="800" b="1" spc="-30" dirty="0">
                <a:solidFill>
                  <a:srgbClr val="1B7E4B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1B7E4B"/>
                </a:solidFill>
                <a:latin typeface="Calibri"/>
                <a:cs typeface="Calibri"/>
              </a:rPr>
              <a:t>RADAR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0211689" y="1546148"/>
            <a:ext cx="1614805" cy="334645"/>
            <a:chOff x="10211689" y="1546148"/>
            <a:chExt cx="1614805" cy="334645"/>
          </a:xfrm>
        </p:grpSpPr>
        <p:pic>
          <p:nvPicPr>
            <p:cNvPr id="100" name="object 10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11689" y="1660461"/>
              <a:ext cx="182435" cy="1824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91849" y="1546148"/>
              <a:ext cx="334086" cy="334086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1252072" y="2015998"/>
            <a:ext cx="8464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Cloud/rain</a:t>
            </a:r>
            <a:r>
              <a:rPr sz="700" b="1" spc="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microwave</a:t>
            </a:r>
            <a:r>
              <a:rPr sz="700" b="1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backscatter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9693402" y="2470657"/>
            <a:ext cx="1247140" cy="768985"/>
            <a:chOff x="9693402" y="2470657"/>
            <a:chExt cx="1247140" cy="768985"/>
          </a:xfrm>
        </p:grpSpPr>
        <p:sp>
          <p:nvSpPr>
            <p:cNvPr id="82" name="object 82"/>
            <p:cNvSpPr/>
            <p:nvPr/>
          </p:nvSpPr>
          <p:spPr>
            <a:xfrm>
              <a:off x="9699752" y="2477007"/>
              <a:ext cx="1234440" cy="756285"/>
            </a:xfrm>
            <a:custGeom>
              <a:avLst/>
              <a:gdLst/>
              <a:ahLst/>
              <a:cxnLst/>
              <a:rect l="l" t="t" r="r" b="b"/>
              <a:pathLst>
                <a:path w="1234440" h="756285">
                  <a:moveTo>
                    <a:pt x="1194434" y="0"/>
                  </a:moveTo>
                  <a:lnTo>
                    <a:pt x="39497" y="0"/>
                  </a:lnTo>
                  <a:lnTo>
                    <a:pt x="24110" y="3097"/>
                  </a:lnTo>
                  <a:lnTo>
                    <a:pt x="11557" y="11541"/>
                  </a:lnTo>
                  <a:lnTo>
                    <a:pt x="3099" y="24056"/>
                  </a:lnTo>
                  <a:lnTo>
                    <a:pt x="0" y="39369"/>
                  </a:lnTo>
                  <a:lnTo>
                    <a:pt x="0" y="716279"/>
                  </a:lnTo>
                  <a:lnTo>
                    <a:pt x="3099" y="731666"/>
                  </a:lnTo>
                  <a:lnTo>
                    <a:pt x="11556" y="744220"/>
                  </a:lnTo>
                  <a:lnTo>
                    <a:pt x="24110" y="752677"/>
                  </a:lnTo>
                  <a:lnTo>
                    <a:pt x="39497" y="755776"/>
                  </a:lnTo>
                  <a:lnTo>
                    <a:pt x="1194434" y="755776"/>
                  </a:lnTo>
                  <a:lnTo>
                    <a:pt x="1209821" y="752677"/>
                  </a:lnTo>
                  <a:lnTo>
                    <a:pt x="1222374" y="744219"/>
                  </a:lnTo>
                  <a:lnTo>
                    <a:pt x="1230832" y="731666"/>
                  </a:lnTo>
                  <a:lnTo>
                    <a:pt x="1233931" y="716279"/>
                  </a:lnTo>
                  <a:lnTo>
                    <a:pt x="1233931" y="39369"/>
                  </a:lnTo>
                  <a:lnTo>
                    <a:pt x="1230832" y="24056"/>
                  </a:lnTo>
                  <a:lnTo>
                    <a:pt x="1222375" y="11541"/>
                  </a:lnTo>
                  <a:lnTo>
                    <a:pt x="1209821" y="3097"/>
                  </a:lnTo>
                  <a:lnTo>
                    <a:pt x="1194434" y="0"/>
                  </a:lnTo>
                  <a:close/>
                </a:path>
              </a:pathLst>
            </a:custGeom>
            <a:solidFill>
              <a:srgbClr val="FAF1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699752" y="2477007"/>
              <a:ext cx="1234440" cy="756285"/>
            </a:xfrm>
            <a:custGeom>
              <a:avLst/>
              <a:gdLst/>
              <a:ahLst/>
              <a:cxnLst/>
              <a:rect l="l" t="t" r="r" b="b"/>
              <a:pathLst>
                <a:path w="1234440" h="756285">
                  <a:moveTo>
                    <a:pt x="0" y="39369"/>
                  </a:moveTo>
                  <a:lnTo>
                    <a:pt x="3099" y="24056"/>
                  </a:lnTo>
                  <a:lnTo>
                    <a:pt x="11557" y="11541"/>
                  </a:lnTo>
                  <a:lnTo>
                    <a:pt x="24110" y="3097"/>
                  </a:lnTo>
                  <a:lnTo>
                    <a:pt x="39497" y="0"/>
                  </a:lnTo>
                  <a:lnTo>
                    <a:pt x="1194434" y="0"/>
                  </a:lnTo>
                  <a:lnTo>
                    <a:pt x="1209821" y="3097"/>
                  </a:lnTo>
                  <a:lnTo>
                    <a:pt x="1222375" y="11541"/>
                  </a:lnTo>
                  <a:lnTo>
                    <a:pt x="1230832" y="24056"/>
                  </a:lnTo>
                  <a:lnTo>
                    <a:pt x="1233931" y="39369"/>
                  </a:lnTo>
                  <a:lnTo>
                    <a:pt x="1233931" y="716279"/>
                  </a:lnTo>
                  <a:lnTo>
                    <a:pt x="1230832" y="731666"/>
                  </a:lnTo>
                  <a:lnTo>
                    <a:pt x="1222374" y="744219"/>
                  </a:lnTo>
                  <a:lnTo>
                    <a:pt x="1209821" y="752677"/>
                  </a:lnTo>
                  <a:lnTo>
                    <a:pt x="1194434" y="755776"/>
                  </a:lnTo>
                  <a:lnTo>
                    <a:pt x="39497" y="755776"/>
                  </a:lnTo>
                  <a:lnTo>
                    <a:pt x="24110" y="752677"/>
                  </a:lnTo>
                  <a:lnTo>
                    <a:pt x="11556" y="744220"/>
                  </a:lnTo>
                  <a:lnTo>
                    <a:pt x="3099" y="731666"/>
                  </a:lnTo>
                  <a:lnTo>
                    <a:pt x="0" y="716279"/>
                  </a:lnTo>
                  <a:lnTo>
                    <a:pt x="0" y="39369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9895713" y="2686931"/>
            <a:ext cx="743585" cy="4368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420"/>
              </a:spcBef>
            </a:pPr>
            <a:r>
              <a:rPr sz="800" b="1" spc="-10" dirty="0">
                <a:solidFill>
                  <a:srgbClr val="B8850A"/>
                </a:solidFill>
                <a:latin typeface="Calibri"/>
                <a:cs typeface="Calibri"/>
              </a:rPr>
              <a:t>TEMPORAL</a:t>
            </a:r>
            <a:endParaRPr sz="800">
              <a:latin typeface="Calibri"/>
              <a:cs typeface="Calibri"/>
            </a:endParaRPr>
          </a:p>
          <a:p>
            <a:pPr marL="152400" marR="5080" indent="-140335">
              <a:lnSpc>
                <a:spcPct val="100000"/>
              </a:lnSpc>
              <a:spcBef>
                <a:spcPts val="275"/>
              </a:spcBef>
            </a:pP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10-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yr</a:t>
            </a:r>
            <a:r>
              <a:rPr sz="700" b="1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epoch</a:t>
            </a:r>
            <a:r>
              <a:rPr sz="7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change</a:t>
            </a:r>
            <a:r>
              <a:rPr sz="700" b="1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differencing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50551" y="2501328"/>
            <a:ext cx="132219" cy="244538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11044555" y="2490089"/>
            <a:ext cx="1147445" cy="749300"/>
            <a:chOff x="11044555" y="2490089"/>
            <a:chExt cx="1147445" cy="749300"/>
          </a:xfrm>
        </p:grpSpPr>
        <p:sp>
          <p:nvSpPr>
            <p:cNvPr id="86" name="object 86"/>
            <p:cNvSpPr/>
            <p:nvPr/>
          </p:nvSpPr>
          <p:spPr>
            <a:xfrm>
              <a:off x="11050905" y="2496439"/>
              <a:ext cx="1134745" cy="736600"/>
            </a:xfrm>
            <a:custGeom>
              <a:avLst/>
              <a:gdLst/>
              <a:ahLst/>
              <a:cxnLst/>
              <a:rect l="l" t="t" r="r" b="b"/>
              <a:pathLst>
                <a:path w="1134745" h="736600">
                  <a:moveTo>
                    <a:pt x="1096264" y="0"/>
                  </a:moveTo>
                  <a:lnTo>
                    <a:pt x="38353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3"/>
                  </a:lnTo>
                  <a:lnTo>
                    <a:pt x="0" y="697864"/>
                  </a:lnTo>
                  <a:lnTo>
                    <a:pt x="3010" y="712825"/>
                  </a:lnTo>
                  <a:lnTo>
                    <a:pt x="11223" y="725058"/>
                  </a:lnTo>
                  <a:lnTo>
                    <a:pt x="23413" y="733315"/>
                  </a:lnTo>
                  <a:lnTo>
                    <a:pt x="38353" y="736346"/>
                  </a:lnTo>
                  <a:lnTo>
                    <a:pt x="1096264" y="736346"/>
                  </a:lnTo>
                  <a:lnTo>
                    <a:pt x="1111224" y="733315"/>
                  </a:lnTo>
                  <a:lnTo>
                    <a:pt x="1123457" y="725058"/>
                  </a:lnTo>
                  <a:lnTo>
                    <a:pt x="1131714" y="712825"/>
                  </a:lnTo>
                  <a:lnTo>
                    <a:pt x="1134745" y="697864"/>
                  </a:lnTo>
                  <a:lnTo>
                    <a:pt x="1134745" y="38353"/>
                  </a:lnTo>
                  <a:lnTo>
                    <a:pt x="1131714" y="23413"/>
                  </a:lnTo>
                  <a:lnTo>
                    <a:pt x="1123457" y="11223"/>
                  </a:lnTo>
                  <a:lnTo>
                    <a:pt x="1111224" y="3010"/>
                  </a:lnTo>
                  <a:lnTo>
                    <a:pt x="1096264" y="0"/>
                  </a:lnTo>
                  <a:close/>
                </a:path>
              </a:pathLst>
            </a:custGeom>
            <a:solidFill>
              <a:srgbClr val="DCF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1050905" y="2496439"/>
              <a:ext cx="1134745" cy="736600"/>
            </a:xfrm>
            <a:custGeom>
              <a:avLst/>
              <a:gdLst/>
              <a:ahLst/>
              <a:cxnLst/>
              <a:rect l="l" t="t" r="r" b="b"/>
              <a:pathLst>
                <a:path w="1134745" h="736600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96264" y="0"/>
                  </a:lnTo>
                  <a:lnTo>
                    <a:pt x="1111224" y="3010"/>
                  </a:lnTo>
                  <a:lnTo>
                    <a:pt x="1123457" y="11223"/>
                  </a:lnTo>
                  <a:lnTo>
                    <a:pt x="1131714" y="23413"/>
                  </a:lnTo>
                  <a:lnTo>
                    <a:pt x="1134745" y="38353"/>
                  </a:lnTo>
                  <a:lnTo>
                    <a:pt x="1134745" y="697864"/>
                  </a:lnTo>
                  <a:lnTo>
                    <a:pt x="1131714" y="712825"/>
                  </a:lnTo>
                  <a:lnTo>
                    <a:pt x="1123457" y="725058"/>
                  </a:lnTo>
                  <a:lnTo>
                    <a:pt x="1111224" y="733315"/>
                  </a:lnTo>
                  <a:lnTo>
                    <a:pt x="1096264" y="736346"/>
                  </a:lnTo>
                  <a:lnTo>
                    <a:pt x="38353" y="736346"/>
                  </a:lnTo>
                  <a:lnTo>
                    <a:pt x="23413" y="733315"/>
                  </a:lnTo>
                  <a:lnTo>
                    <a:pt x="11223" y="725058"/>
                  </a:lnTo>
                  <a:lnTo>
                    <a:pt x="3010" y="712825"/>
                  </a:lnTo>
                  <a:lnTo>
                    <a:pt x="0" y="697864"/>
                  </a:lnTo>
                  <a:lnTo>
                    <a:pt x="0" y="38353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11249025" y="2654137"/>
            <a:ext cx="742950" cy="4667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50"/>
              </a:spcBef>
            </a:pPr>
            <a:r>
              <a:rPr sz="800" b="1" spc="-10" dirty="0">
                <a:solidFill>
                  <a:srgbClr val="1B7E4B"/>
                </a:solidFill>
                <a:latin typeface="Calibri"/>
                <a:cs typeface="Calibri"/>
              </a:rPr>
              <a:t>SPECTRAL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Raw</a:t>
            </a:r>
            <a:r>
              <a:rPr sz="7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NDVI,</a:t>
            </a:r>
            <a:r>
              <a:rPr sz="7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NDWI</a:t>
            </a:r>
            <a:r>
              <a:rPr sz="7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50" dirty="0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endParaRPr sz="7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700" b="1" dirty="0">
                <a:solidFill>
                  <a:srgbClr val="0D0D0D"/>
                </a:solidFill>
                <a:latin typeface="Calibri"/>
                <a:cs typeface="Calibri"/>
              </a:rPr>
              <a:t>NDBI</a:t>
            </a:r>
            <a:r>
              <a:rPr sz="7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0D0D0D"/>
                </a:solidFill>
                <a:latin typeface="Calibri"/>
                <a:cs typeface="Calibri"/>
              </a:rPr>
              <a:t>bands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80292" y="2458402"/>
            <a:ext cx="299275" cy="29927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0269" y="3700271"/>
            <a:ext cx="4831715" cy="3094355"/>
            <a:chOff x="50269" y="3700271"/>
            <a:chExt cx="4831715" cy="3094355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269" y="3718525"/>
              <a:ext cx="4831125" cy="30754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388" y="3733418"/>
              <a:ext cx="4752340" cy="2988310"/>
            </a:xfrm>
            <a:custGeom>
              <a:avLst/>
              <a:gdLst/>
              <a:ahLst/>
              <a:cxnLst/>
              <a:rect l="l" t="t" r="r" b="b"/>
              <a:pathLst>
                <a:path w="4752340" h="2988309">
                  <a:moveTo>
                    <a:pt x="4751975" y="0"/>
                  </a:moveTo>
                  <a:lnTo>
                    <a:pt x="498021" y="0"/>
                  </a:lnTo>
                  <a:lnTo>
                    <a:pt x="450057" y="2280"/>
                  </a:lnTo>
                  <a:lnTo>
                    <a:pt x="403384" y="8981"/>
                  </a:lnTo>
                  <a:lnTo>
                    <a:pt x="358209" y="19894"/>
                  </a:lnTo>
                  <a:lnTo>
                    <a:pt x="314741" y="34811"/>
                  </a:lnTo>
                  <a:lnTo>
                    <a:pt x="273190" y="53522"/>
                  </a:lnTo>
                  <a:lnTo>
                    <a:pt x="233764" y="75819"/>
                  </a:lnTo>
                  <a:lnTo>
                    <a:pt x="196671" y="101492"/>
                  </a:lnTo>
                  <a:lnTo>
                    <a:pt x="162121" y="130332"/>
                  </a:lnTo>
                  <a:lnTo>
                    <a:pt x="130321" y="162131"/>
                  </a:lnTo>
                  <a:lnTo>
                    <a:pt x="101481" y="196680"/>
                  </a:lnTo>
                  <a:lnTo>
                    <a:pt x="75810" y="233770"/>
                  </a:lnTo>
                  <a:lnTo>
                    <a:pt x="53515" y="273192"/>
                  </a:lnTo>
                  <a:lnTo>
                    <a:pt x="34806" y="314736"/>
                  </a:lnTo>
                  <a:lnTo>
                    <a:pt x="19891" y="358195"/>
                  </a:lnTo>
                  <a:lnTo>
                    <a:pt x="8979" y="403359"/>
                  </a:lnTo>
                  <a:lnTo>
                    <a:pt x="2279" y="450019"/>
                  </a:lnTo>
                  <a:lnTo>
                    <a:pt x="0" y="497966"/>
                  </a:lnTo>
                  <a:lnTo>
                    <a:pt x="0" y="2988055"/>
                  </a:lnTo>
                  <a:lnTo>
                    <a:pt x="4253881" y="2988055"/>
                  </a:lnTo>
                  <a:lnTo>
                    <a:pt x="4301850" y="2985776"/>
                  </a:lnTo>
                  <a:lnTo>
                    <a:pt x="4348528" y="2979075"/>
                  </a:lnTo>
                  <a:lnTo>
                    <a:pt x="4393709" y="2968163"/>
                  </a:lnTo>
                  <a:lnTo>
                    <a:pt x="4437181" y="2953248"/>
                  </a:lnTo>
                  <a:lnTo>
                    <a:pt x="4478738" y="2934539"/>
                  </a:lnTo>
                  <a:lnTo>
                    <a:pt x="4518170" y="2912243"/>
                  </a:lnTo>
                  <a:lnTo>
                    <a:pt x="4555268" y="2886571"/>
                  </a:lnTo>
                  <a:lnTo>
                    <a:pt x="4589824" y="2857731"/>
                  </a:lnTo>
                  <a:lnTo>
                    <a:pt x="4621629" y="2825931"/>
                  </a:lnTo>
                  <a:lnTo>
                    <a:pt x="4650474" y="2791381"/>
                  </a:lnTo>
                  <a:lnTo>
                    <a:pt x="4676150" y="2754288"/>
                  </a:lnTo>
                  <a:lnTo>
                    <a:pt x="4698449" y="2714862"/>
                  </a:lnTo>
                  <a:lnTo>
                    <a:pt x="4717162" y="2673312"/>
                  </a:lnTo>
                  <a:lnTo>
                    <a:pt x="4732079" y="2629845"/>
                  </a:lnTo>
                  <a:lnTo>
                    <a:pt x="4742993" y="2584672"/>
                  </a:lnTo>
                  <a:lnTo>
                    <a:pt x="4749695" y="2538000"/>
                  </a:lnTo>
                  <a:lnTo>
                    <a:pt x="4751975" y="2490038"/>
                  </a:lnTo>
                  <a:lnTo>
                    <a:pt x="4751975" y="0"/>
                  </a:lnTo>
                  <a:close/>
                </a:path>
              </a:pathLst>
            </a:custGeom>
            <a:solidFill>
              <a:srgbClr val="EAE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388" y="3733418"/>
              <a:ext cx="4752340" cy="2988310"/>
            </a:xfrm>
            <a:custGeom>
              <a:avLst/>
              <a:gdLst/>
              <a:ahLst/>
              <a:cxnLst/>
              <a:rect l="l" t="t" r="r" b="b"/>
              <a:pathLst>
                <a:path w="4752340" h="2988309">
                  <a:moveTo>
                    <a:pt x="498021" y="0"/>
                  </a:moveTo>
                  <a:lnTo>
                    <a:pt x="4751975" y="0"/>
                  </a:lnTo>
                  <a:lnTo>
                    <a:pt x="4751975" y="2490038"/>
                  </a:lnTo>
                  <a:lnTo>
                    <a:pt x="4749695" y="2538000"/>
                  </a:lnTo>
                  <a:lnTo>
                    <a:pt x="4742993" y="2584672"/>
                  </a:lnTo>
                  <a:lnTo>
                    <a:pt x="4732079" y="2629845"/>
                  </a:lnTo>
                  <a:lnTo>
                    <a:pt x="4717162" y="2673312"/>
                  </a:lnTo>
                  <a:lnTo>
                    <a:pt x="4698449" y="2714862"/>
                  </a:lnTo>
                  <a:lnTo>
                    <a:pt x="4676150" y="2754288"/>
                  </a:lnTo>
                  <a:lnTo>
                    <a:pt x="4650474" y="2791381"/>
                  </a:lnTo>
                  <a:lnTo>
                    <a:pt x="4621629" y="2825931"/>
                  </a:lnTo>
                  <a:lnTo>
                    <a:pt x="4589824" y="2857731"/>
                  </a:lnTo>
                  <a:lnTo>
                    <a:pt x="4555268" y="2886571"/>
                  </a:lnTo>
                  <a:lnTo>
                    <a:pt x="4518170" y="2912243"/>
                  </a:lnTo>
                  <a:lnTo>
                    <a:pt x="4478738" y="2934539"/>
                  </a:lnTo>
                  <a:lnTo>
                    <a:pt x="4437181" y="2953248"/>
                  </a:lnTo>
                  <a:lnTo>
                    <a:pt x="4393709" y="2968163"/>
                  </a:lnTo>
                  <a:lnTo>
                    <a:pt x="4348528" y="2979075"/>
                  </a:lnTo>
                  <a:lnTo>
                    <a:pt x="4301850" y="2985776"/>
                  </a:lnTo>
                  <a:lnTo>
                    <a:pt x="4253881" y="2988055"/>
                  </a:lnTo>
                  <a:lnTo>
                    <a:pt x="0" y="2988055"/>
                  </a:lnTo>
                  <a:lnTo>
                    <a:pt x="0" y="497966"/>
                  </a:lnTo>
                  <a:lnTo>
                    <a:pt x="2279" y="450019"/>
                  </a:lnTo>
                  <a:lnTo>
                    <a:pt x="8979" y="403359"/>
                  </a:lnTo>
                  <a:lnTo>
                    <a:pt x="19891" y="358195"/>
                  </a:lnTo>
                  <a:lnTo>
                    <a:pt x="34806" y="314736"/>
                  </a:lnTo>
                  <a:lnTo>
                    <a:pt x="53515" y="273192"/>
                  </a:lnTo>
                  <a:lnTo>
                    <a:pt x="75810" y="233770"/>
                  </a:lnTo>
                  <a:lnTo>
                    <a:pt x="101481" y="196680"/>
                  </a:lnTo>
                  <a:lnTo>
                    <a:pt x="130321" y="162131"/>
                  </a:lnTo>
                  <a:lnTo>
                    <a:pt x="162121" y="130332"/>
                  </a:lnTo>
                  <a:lnTo>
                    <a:pt x="196671" y="101492"/>
                  </a:lnTo>
                  <a:lnTo>
                    <a:pt x="233764" y="75819"/>
                  </a:lnTo>
                  <a:lnTo>
                    <a:pt x="273190" y="53522"/>
                  </a:lnTo>
                  <a:lnTo>
                    <a:pt x="314741" y="34811"/>
                  </a:lnTo>
                  <a:lnTo>
                    <a:pt x="358209" y="19894"/>
                  </a:lnTo>
                  <a:lnTo>
                    <a:pt x="403384" y="8981"/>
                  </a:lnTo>
                  <a:lnTo>
                    <a:pt x="450057" y="2280"/>
                  </a:lnTo>
                  <a:lnTo>
                    <a:pt x="498021" y="0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5340" y="3700271"/>
              <a:ext cx="589026" cy="48082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1904" y="3725036"/>
            <a:ext cx="4566285" cy="291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2585" algn="ctr">
              <a:lnSpc>
                <a:spcPct val="100000"/>
              </a:lnSpc>
              <a:spcBef>
                <a:spcPts val="100"/>
              </a:spcBef>
              <a:tabLst>
                <a:tab pos="449580" algn="l"/>
                <a:tab pos="2658110" algn="l"/>
              </a:tabLst>
            </a:pPr>
            <a:r>
              <a:rPr sz="2000" b="1" u="heavy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	OUR</a:t>
            </a:r>
            <a:r>
              <a:rPr sz="2000" b="1" u="heavy" spc="-20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10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SOLUTION</a:t>
            </a:r>
            <a:r>
              <a:rPr sz="2000" b="1" u="heavy" dirty="0"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marL="353695" marR="762635" indent="-340995">
              <a:lnSpc>
                <a:spcPct val="100000"/>
              </a:lnSpc>
              <a:spcBef>
                <a:spcPts val="1600"/>
              </a:spcBef>
              <a:buFont typeface="Courier New"/>
              <a:buChar char="o"/>
              <a:tabLst>
                <a:tab pos="355600" algn="l"/>
              </a:tabLst>
            </a:pPr>
            <a:r>
              <a:rPr sz="1300" dirty="0">
                <a:latin typeface="Calibri"/>
                <a:cs typeface="Calibri"/>
              </a:rPr>
              <a:t>An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AI-</a:t>
            </a:r>
            <a:r>
              <a:rPr sz="1300" dirty="0">
                <a:latin typeface="Calibri"/>
                <a:cs typeface="Calibri"/>
              </a:rPr>
              <a:t>powered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agentic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remote-</a:t>
            </a:r>
            <a:r>
              <a:rPr sz="1300" dirty="0">
                <a:latin typeface="Calibri"/>
                <a:cs typeface="Calibri"/>
              </a:rPr>
              <a:t>sensing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intelligence 	workbench.</a:t>
            </a:r>
            <a:endParaRPr sz="13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buFont typeface="Courier New"/>
              <a:buChar char="o"/>
              <a:tabLst>
                <a:tab pos="393065" algn="l"/>
              </a:tabLst>
            </a:pPr>
            <a:r>
              <a:rPr sz="1300" dirty="0">
                <a:latin typeface="Calibri"/>
                <a:cs typeface="Calibri"/>
              </a:rPr>
              <a:t>Ingests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single-</a:t>
            </a:r>
            <a:r>
              <a:rPr sz="1300" dirty="0">
                <a:latin typeface="Calibri"/>
                <a:cs typeface="Calibri"/>
              </a:rPr>
              <a:t>scene,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multi-</a:t>
            </a:r>
            <a:r>
              <a:rPr sz="1300" dirty="0">
                <a:latin typeface="Calibri"/>
                <a:cs typeface="Calibri"/>
              </a:rPr>
              <a:t>temporal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(2016–</a:t>
            </a:r>
            <a:r>
              <a:rPr sz="1300" dirty="0">
                <a:latin typeface="Calibri"/>
                <a:cs typeface="Calibri"/>
              </a:rPr>
              <a:t>2026),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optical</a:t>
            </a:r>
            <a:endParaRPr sz="1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Calibri"/>
                <a:cs typeface="Calibri"/>
              </a:rPr>
              <a:t>+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SAR</a:t>
            </a:r>
            <a:r>
              <a:rPr sz="1300" spc="-10" dirty="0">
                <a:latin typeface="Calibri"/>
                <a:cs typeface="Calibri"/>
              </a:rPr>
              <a:t> pairs.</a:t>
            </a:r>
            <a:endParaRPr sz="1300">
              <a:latin typeface="Calibri"/>
              <a:cs typeface="Calibri"/>
            </a:endParaRPr>
          </a:p>
          <a:p>
            <a:pPr marL="353695" marR="516890" indent="-340995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1300" dirty="0">
                <a:latin typeface="Calibri"/>
                <a:cs typeface="Calibri"/>
              </a:rPr>
              <a:t>Combines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specialized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vision-</a:t>
            </a:r>
            <a:r>
              <a:rPr sz="1300" dirty="0">
                <a:latin typeface="Calibri"/>
                <a:cs typeface="Calibri"/>
              </a:rPr>
              <a:t>language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models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with</a:t>
            </a:r>
            <a:r>
              <a:rPr sz="1300" spc="-25" dirty="0">
                <a:latin typeface="Calibri"/>
                <a:cs typeface="Calibri"/>
              </a:rPr>
              <a:t> raw 	</a:t>
            </a:r>
            <a:r>
              <a:rPr sz="1300" dirty="0">
                <a:latin typeface="Calibri"/>
                <a:cs typeface="Calibri"/>
              </a:rPr>
              <a:t>spectral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math.</a:t>
            </a:r>
            <a:endParaRPr sz="1300">
              <a:latin typeface="Calibri"/>
              <a:cs typeface="Calibri"/>
            </a:endParaRPr>
          </a:p>
          <a:p>
            <a:pPr marL="353695" marR="40640" indent="-340995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1300" dirty="0">
                <a:latin typeface="Calibri"/>
                <a:cs typeface="Calibri"/>
              </a:rPr>
              <a:t>Detects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land-</a:t>
            </a:r>
            <a:r>
              <a:rPr sz="1300" dirty="0">
                <a:latin typeface="Calibri"/>
                <a:cs typeface="Calibri"/>
              </a:rPr>
              <a:t>cover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shifts,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environmental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damage,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ground 	objects.</a:t>
            </a:r>
            <a:endParaRPr sz="13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buFont typeface="Courier New"/>
              <a:buChar char="o"/>
              <a:tabLst>
                <a:tab pos="353695" algn="l"/>
              </a:tabLst>
            </a:pPr>
            <a:r>
              <a:rPr sz="1300" dirty="0">
                <a:latin typeface="Calibri"/>
                <a:cs typeface="Calibri"/>
              </a:rPr>
              <a:t>Generates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pixel-</a:t>
            </a:r>
            <a:r>
              <a:rPr sz="1300" dirty="0">
                <a:latin typeface="Calibri"/>
                <a:cs typeface="Calibri"/>
              </a:rPr>
              <a:t>aligned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spatial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heatmaps,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difference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masks,</a:t>
            </a:r>
            <a:endParaRPr sz="1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and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bounding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boxes.</a:t>
            </a:r>
            <a:endParaRPr sz="1300">
              <a:latin typeface="Calibri"/>
              <a:cs typeface="Calibri"/>
            </a:endParaRPr>
          </a:p>
          <a:p>
            <a:pPr marL="355600" marR="307975" indent="-342900">
              <a:lnSpc>
                <a:spcPct val="100000"/>
              </a:lnSpc>
              <a:buChar char="o"/>
              <a:tabLst>
                <a:tab pos="355600" algn="l"/>
                <a:tab pos="393065" algn="l"/>
              </a:tabLst>
            </a:pPr>
            <a:r>
              <a:rPr sz="1300" dirty="0">
                <a:latin typeface="Courier New"/>
                <a:cs typeface="Courier New"/>
              </a:rPr>
              <a:t>	</a:t>
            </a:r>
            <a:r>
              <a:rPr sz="1300" dirty="0">
                <a:latin typeface="Calibri"/>
                <a:cs typeface="Calibri"/>
              </a:rPr>
              <a:t>Provides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auditable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execution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traces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decision-support exports.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7532" y="3483864"/>
            <a:ext cx="9074785" cy="3380740"/>
            <a:chOff x="827532" y="3483864"/>
            <a:chExt cx="9074785" cy="3380740"/>
          </a:xfrm>
        </p:grpSpPr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7532" y="4024884"/>
              <a:ext cx="2752344" cy="10515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22011" y="3522853"/>
              <a:ext cx="4973955" cy="3335654"/>
            </a:xfrm>
            <a:custGeom>
              <a:avLst/>
              <a:gdLst/>
              <a:ahLst/>
              <a:cxnLst/>
              <a:rect l="l" t="t" r="r" b="b"/>
              <a:pathLst>
                <a:path w="4973955" h="3335654">
                  <a:moveTo>
                    <a:pt x="4894453" y="0"/>
                  </a:moveTo>
                  <a:lnTo>
                    <a:pt x="79248" y="0"/>
                  </a:lnTo>
                  <a:lnTo>
                    <a:pt x="48434" y="6221"/>
                  </a:lnTo>
                  <a:lnTo>
                    <a:pt x="23240" y="23193"/>
                  </a:lnTo>
                  <a:lnTo>
                    <a:pt x="6238" y="48381"/>
                  </a:lnTo>
                  <a:lnTo>
                    <a:pt x="0" y="79248"/>
                  </a:lnTo>
                  <a:lnTo>
                    <a:pt x="0" y="3262613"/>
                  </a:lnTo>
                  <a:lnTo>
                    <a:pt x="6238" y="3293470"/>
                  </a:lnTo>
                  <a:lnTo>
                    <a:pt x="23241" y="3318668"/>
                  </a:lnTo>
                  <a:lnTo>
                    <a:pt x="47678" y="3335147"/>
                  </a:lnTo>
                  <a:lnTo>
                    <a:pt x="4926096" y="3335147"/>
                  </a:lnTo>
                  <a:lnTo>
                    <a:pt x="4950571" y="3318668"/>
                  </a:lnTo>
                  <a:lnTo>
                    <a:pt x="4967587" y="3293470"/>
                  </a:lnTo>
                  <a:lnTo>
                    <a:pt x="4973828" y="3262613"/>
                  </a:lnTo>
                  <a:lnTo>
                    <a:pt x="4973828" y="79248"/>
                  </a:lnTo>
                  <a:lnTo>
                    <a:pt x="4967587" y="48381"/>
                  </a:lnTo>
                  <a:lnTo>
                    <a:pt x="4950571" y="23193"/>
                  </a:lnTo>
                  <a:lnTo>
                    <a:pt x="4925339" y="6221"/>
                  </a:lnTo>
                  <a:lnTo>
                    <a:pt x="4894453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22011" y="3522853"/>
              <a:ext cx="4973955" cy="3335654"/>
            </a:xfrm>
            <a:custGeom>
              <a:avLst/>
              <a:gdLst/>
              <a:ahLst/>
              <a:cxnLst/>
              <a:rect l="l" t="t" r="r" b="b"/>
              <a:pathLst>
                <a:path w="4973955" h="3335654">
                  <a:moveTo>
                    <a:pt x="47678" y="3335147"/>
                  </a:moveTo>
                  <a:lnTo>
                    <a:pt x="23241" y="3318668"/>
                  </a:lnTo>
                  <a:lnTo>
                    <a:pt x="6238" y="3293470"/>
                  </a:lnTo>
                  <a:lnTo>
                    <a:pt x="0" y="3262613"/>
                  </a:lnTo>
                  <a:lnTo>
                    <a:pt x="0" y="79248"/>
                  </a:lnTo>
                  <a:lnTo>
                    <a:pt x="6238" y="48381"/>
                  </a:lnTo>
                  <a:lnTo>
                    <a:pt x="23240" y="23193"/>
                  </a:lnTo>
                  <a:lnTo>
                    <a:pt x="48434" y="6221"/>
                  </a:lnTo>
                  <a:lnTo>
                    <a:pt x="79248" y="0"/>
                  </a:lnTo>
                  <a:lnTo>
                    <a:pt x="4894453" y="0"/>
                  </a:lnTo>
                  <a:lnTo>
                    <a:pt x="4925339" y="6221"/>
                  </a:lnTo>
                  <a:lnTo>
                    <a:pt x="4950571" y="23193"/>
                  </a:lnTo>
                  <a:lnTo>
                    <a:pt x="4967587" y="48381"/>
                  </a:lnTo>
                  <a:lnTo>
                    <a:pt x="4973828" y="79248"/>
                  </a:lnTo>
                  <a:lnTo>
                    <a:pt x="4973828" y="3262613"/>
                  </a:lnTo>
                  <a:lnTo>
                    <a:pt x="4967587" y="3293470"/>
                  </a:lnTo>
                  <a:lnTo>
                    <a:pt x="4950571" y="3318668"/>
                  </a:lnTo>
                  <a:lnTo>
                    <a:pt x="4926096" y="3335147"/>
                  </a:lnTo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53455" y="3483864"/>
              <a:ext cx="654558" cy="534162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6101334" y="3540709"/>
            <a:ext cx="175196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WHY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DIFFERENT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569711" y="3894454"/>
            <a:ext cx="2825115" cy="11430"/>
          </a:xfrm>
          <a:custGeom>
            <a:avLst/>
            <a:gdLst/>
            <a:ahLst/>
            <a:cxnLst/>
            <a:rect l="l" t="t" r="r" b="b"/>
            <a:pathLst>
              <a:path w="2825115" h="11429">
                <a:moveTo>
                  <a:pt x="0" y="11176"/>
                </a:moveTo>
                <a:lnTo>
                  <a:pt x="2824988" y="0"/>
                </a:lnTo>
              </a:path>
            </a:pathLst>
          </a:custGeom>
          <a:ln w="57149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10031983" y="3488944"/>
            <a:ext cx="1861820" cy="893444"/>
            <a:chOff x="10031983" y="3488944"/>
            <a:chExt cx="1861820" cy="893444"/>
          </a:xfrm>
        </p:grpSpPr>
        <p:sp>
          <p:nvSpPr>
            <p:cNvPr id="90" name="object 90"/>
            <p:cNvSpPr/>
            <p:nvPr/>
          </p:nvSpPr>
          <p:spPr>
            <a:xfrm>
              <a:off x="10038333" y="3495294"/>
              <a:ext cx="1849120" cy="880744"/>
            </a:xfrm>
            <a:custGeom>
              <a:avLst/>
              <a:gdLst/>
              <a:ahLst/>
              <a:cxnLst/>
              <a:rect l="l" t="t" r="r" b="b"/>
              <a:pathLst>
                <a:path w="1849120" h="880745">
                  <a:moveTo>
                    <a:pt x="1822323" y="0"/>
                  </a:moveTo>
                  <a:lnTo>
                    <a:pt x="26289" y="0"/>
                  </a:lnTo>
                  <a:lnTo>
                    <a:pt x="16073" y="2071"/>
                  </a:lnTo>
                  <a:lnTo>
                    <a:pt x="7715" y="7715"/>
                  </a:lnTo>
                  <a:lnTo>
                    <a:pt x="2071" y="16073"/>
                  </a:lnTo>
                  <a:lnTo>
                    <a:pt x="0" y="26288"/>
                  </a:lnTo>
                  <a:lnTo>
                    <a:pt x="0" y="854328"/>
                  </a:lnTo>
                  <a:lnTo>
                    <a:pt x="2071" y="864598"/>
                  </a:lnTo>
                  <a:lnTo>
                    <a:pt x="7715" y="872950"/>
                  </a:lnTo>
                  <a:lnTo>
                    <a:pt x="16073" y="878564"/>
                  </a:lnTo>
                  <a:lnTo>
                    <a:pt x="26289" y="880617"/>
                  </a:lnTo>
                  <a:lnTo>
                    <a:pt x="1822323" y="880617"/>
                  </a:lnTo>
                  <a:lnTo>
                    <a:pt x="1832538" y="878564"/>
                  </a:lnTo>
                  <a:lnTo>
                    <a:pt x="1840896" y="872950"/>
                  </a:lnTo>
                  <a:lnTo>
                    <a:pt x="1846540" y="864598"/>
                  </a:lnTo>
                  <a:lnTo>
                    <a:pt x="1848612" y="854328"/>
                  </a:lnTo>
                  <a:lnTo>
                    <a:pt x="1848612" y="26288"/>
                  </a:lnTo>
                  <a:lnTo>
                    <a:pt x="1846540" y="16073"/>
                  </a:lnTo>
                  <a:lnTo>
                    <a:pt x="1840896" y="7715"/>
                  </a:lnTo>
                  <a:lnTo>
                    <a:pt x="1832538" y="2071"/>
                  </a:lnTo>
                  <a:lnTo>
                    <a:pt x="1822323" y="0"/>
                  </a:lnTo>
                  <a:close/>
                </a:path>
              </a:pathLst>
            </a:custGeom>
            <a:solidFill>
              <a:srgbClr val="DCF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0038333" y="3495294"/>
              <a:ext cx="1849120" cy="880744"/>
            </a:xfrm>
            <a:custGeom>
              <a:avLst/>
              <a:gdLst/>
              <a:ahLst/>
              <a:cxnLst/>
              <a:rect l="l" t="t" r="r" b="b"/>
              <a:pathLst>
                <a:path w="1849120" h="880745">
                  <a:moveTo>
                    <a:pt x="0" y="26288"/>
                  </a:moveTo>
                  <a:lnTo>
                    <a:pt x="2071" y="16073"/>
                  </a:lnTo>
                  <a:lnTo>
                    <a:pt x="7715" y="7715"/>
                  </a:lnTo>
                  <a:lnTo>
                    <a:pt x="16073" y="2071"/>
                  </a:lnTo>
                  <a:lnTo>
                    <a:pt x="26289" y="0"/>
                  </a:lnTo>
                  <a:lnTo>
                    <a:pt x="1822323" y="0"/>
                  </a:lnTo>
                  <a:lnTo>
                    <a:pt x="1832538" y="2071"/>
                  </a:lnTo>
                  <a:lnTo>
                    <a:pt x="1840896" y="7715"/>
                  </a:lnTo>
                  <a:lnTo>
                    <a:pt x="1846540" y="16073"/>
                  </a:lnTo>
                  <a:lnTo>
                    <a:pt x="1848612" y="26288"/>
                  </a:lnTo>
                  <a:lnTo>
                    <a:pt x="1848612" y="854328"/>
                  </a:lnTo>
                  <a:lnTo>
                    <a:pt x="1846540" y="864598"/>
                  </a:lnTo>
                  <a:lnTo>
                    <a:pt x="1840896" y="872950"/>
                  </a:lnTo>
                  <a:lnTo>
                    <a:pt x="1832538" y="878564"/>
                  </a:lnTo>
                  <a:lnTo>
                    <a:pt x="1822323" y="880617"/>
                  </a:lnTo>
                  <a:lnTo>
                    <a:pt x="26289" y="880617"/>
                  </a:lnTo>
                  <a:lnTo>
                    <a:pt x="16073" y="878564"/>
                  </a:lnTo>
                  <a:lnTo>
                    <a:pt x="7715" y="872950"/>
                  </a:lnTo>
                  <a:lnTo>
                    <a:pt x="2071" y="864598"/>
                  </a:lnTo>
                  <a:lnTo>
                    <a:pt x="0" y="854328"/>
                  </a:lnTo>
                  <a:lnTo>
                    <a:pt x="0" y="26288"/>
                  </a:lnTo>
                  <a:close/>
                </a:path>
              </a:pathLst>
            </a:custGeom>
            <a:ln w="12700">
              <a:solidFill>
                <a:srgbClr val="DCE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0648950" y="3819905"/>
            <a:ext cx="5918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1B7E4B"/>
                </a:solidFill>
                <a:latin typeface="Calibri"/>
                <a:cs typeface="Calibri"/>
              </a:rPr>
              <a:t>AUDIT</a:t>
            </a:r>
            <a:r>
              <a:rPr sz="800" b="1" spc="-40" dirty="0">
                <a:solidFill>
                  <a:srgbClr val="1B7E4B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1B7E4B"/>
                </a:solidFill>
                <a:latin typeface="Calibri"/>
                <a:cs typeface="Calibri"/>
              </a:rPr>
              <a:t>TRACE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04" name="object 10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697718" y="3474249"/>
            <a:ext cx="444842" cy="444842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4981194" y="4065168"/>
            <a:ext cx="4905375" cy="2676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 marR="45720" indent="-285115">
              <a:lnSpc>
                <a:spcPct val="105000"/>
              </a:lnSpc>
              <a:spcBef>
                <a:spcPts val="105"/>
              </a:spcBef>
              <a:buFont typeface="Courier New"/>
              <a:buChar char="o"/>
              <a:tabLst>
                <a:tab pos="299085" algn="l"/>
              </a:tabLst>
            </a:pP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Dynamic</a:t>
            </a:r>
            <a:r>
              <a:rPr sz="13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Agentic</a:t>
            </a:r>
            <a:r>
              <a:rPr sz="13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Routing</a:t>
            </a:r>
            <a:r>
              <a:rPr sz="13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Automatically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selects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right</a:t>
            </a:r>
            <a:r>
              <a:rPr sz="13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specialist 	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tool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based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query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intent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imagery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types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without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manual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GIS 	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setup.</a:t>
            </a:r>
            <a:endParaRPr sz="1300">
              <a:latin typeface="Calibri"/>
              <a:cs typeface="Calibri"/>
            </a:endParaRPr>
          </a:p>
          <a:p>
            <a:pPr marL="297180" marR="5080" indent="-285115">
              <a:lnSpc>
                <a:spcPct val="104600"/>
              </a:lnSpc>
              <a:spcBef>
                <a:spcPts val="315"/>
              </a:spcBef>
              <a:buFont typeface="Courier New"/>
              <a:buChar char="o"/>
              <a:tabLst>
                <a:tab pos="299085" algn="l"/>
              </a:tabLst>
            </a:pP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Change</a:t>
            </a:r>
            <a:r>
              <a:rPr sz="13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Understanding</a:t>
            </a:r>
            <a:r>
              <a:rPr sz="13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vs.</a:t>
            </a:r>
            <a:r>
              <a:rPr sz="13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Binary</a:t>
            </a:r>
            <a:r>
              <a:rPr sz="13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Mask</a:t>
            </a:r>
            <a:r>
              <a:rPr sz="13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Interprets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semantic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shifts 	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(e.g.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+8.5%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Built-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up,</a:t>
            </a:r>
            <a:r>
              <a:rPr sz="13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14.2%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Surface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Water)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rather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than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generic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blur.</a:t>
            </a:r>
            <a:endParaRPr sz="1300">
              <a:latin typeface="Calibri"/>
              <a:cs typeface="Calibri"/>
            </a:endParaRPr>
          </a:p>
          <a:p>
            <a:pPr marL="297180" marR="41910" indent="-285115">
              <a:lnSpc>
                <a:spcPct val="104600"/>
              </a:lnSpc>
              <a:spcBef>
                <a:spcPts val="315"/>
              </a:spcBef>
              <a:buFont typeface="Courier New"/>
              <a:buChar char="o"/>
              <a:tabLst>
                <a:tab pos="299085" algn="l"/>
              </a:tabLst>
            </a:pPr>
            <a:r>
              <a:rPr sz="1300" b="1" spc="-20" dirty="0">
                <a:solidFill>
                  <a:srgbClr val="0D0D0D"/>
                </a:solidFill>
                <a:latin typeface="Calibri"/>
                <a:cs typeface="Calibri"/>
              </a:rPr>
              <a:t>All-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Weather</a:t>
            </a:r>
            <a:r>
              <a:rPr sz="1300" b="1" spc="-10" dirty="0">
                <a:solidFill>
                  <a:srgbClr val="0D0D0D"/>
                </a:solidFill>
                <a:latin typeface="Calibri"/>
                <a:cs typeface="Calibri"/>
              </a:rPr>
              <a:t> Optical-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SAR</a:t>
            </a:r>
            <a:r>
              <a:rPr sz="1300" b="1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Fusion</a:t>
            </a:r>
            <a:r>
              <a:rPr sz="13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Retains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observation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continuity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by 	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fusing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cloud-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penetrating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radar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when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optical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cloud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cover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exceeds</a:t>
            </a:r>
            <a:endParaRPr sz="13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80"/>
              </a:spcBef>
            </a:pP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15%.</a:t>
            </a:r>
            <a:endParaRPr sz="13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375"/>
              </a:spcBef>
              <a:buFont typeface="Courier New"/>
              <a:buChar char="o"/>
              <a:tabLst>
                <a:tab pos="297815" algn="l"/>
              </a:tabLst>
            </a:pP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Authentic</a:t>
            </a:r>
            <a:r>
              <a:rPr sz="13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Spectral</a:t>
            </a:r>
            <a:r>
              <a:rPr sz="13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Math</a:t>
            </a:r>
            <a:r>
              <a:rPr sz="13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Computes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true</a:t>
            </a:r>
            <a:r>
              <a:rPr sz="13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mathematical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indices</a:t>
            </a:r>
            <a:endParaRPr sz="13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85"/>
              </a:spcBef>
            </a:pP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(NDVI,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NDWI,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NDBI)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raw</a:t>
            </a:r>
            <a:r>
              <a:rPr sz="13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bands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instead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generic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LLM</a:t>
            </a:r>
            <a:r>
              <a:rPr sz="13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guessing.</a:t>
            </a:r>
            <a:endParaRPr sz="1300">
              <a:latin typeface="Calibri"/>
              <a:cs typeface="Calibri"/>
            </a:endParaRPr>
          </a:p>
          <a:p>
            <a:pPr marL="297180" marR="5715" indent="-285115">
              <a:lnSpc>
                <a:spcPct val="105400"/>
              </a:lnSpc>
              <a:spcBef>
                <a:spcPts val="290"/>
              </a:spcBef>
              <a:buFont typeface="Courier New"/>
              <a:buChar char="o"/>
              <a:tabLst>
                <a:tab pos="299085" algn="l"/>
              </a:tabLst>
            </a:pP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Verifiable</a:t>
            </a:r>
            <a:r>
              <a:rPr sz="13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Execution</a:t>
            </a:r>
            <a:r>
              <a:rPr sz="13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Trace</a:t>
            </a:r>
            <a:r>
              <a:rPr sz="13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3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Exposes</a:t>
            </a:r>
            <a:r>
              <a:rPr sz="13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auditable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card</a:t>
            </a:r>
            <a:r>
              <a:rPr sz="13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tool</a:t>
            </a:r>
            <a:r>
              <a:rPr sz="13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D0D0D"/>
                </a:solidFill>
                <a:latin typeface="Calibri"/>
                <a:cs typeface="Calibri"/>
              </a:rPr>
              <a:t>IDs, 	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thresholds,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confidence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metrics</a:t>
            </a:r>
            <a:r>
              <a:rPr sz="13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mission-</a:t>
            </a:r>
            <a:r>
              <a:rPr sz="1300" dirty="0">
                <a:solidFill>
                  <a:srgbClr val="0D0D0D"/>
                </a:solidFill>
                <a:latin typeface="Calibri"/>
                <a:cs typeface="Calibri"/>
              </a:rPr>
              <a:t>critical </a:t>
            </a:r>
            <a:r>
              <a:rPr sz="1300" spc="-10" dirty="0">
                <a:solidFill>
                  <a:srgbClr val="0D0D0D"/>
                </a:solidFill>
                <a:latin typeface="Calibri"/>
                <a:cs typeface="Calibri"/>
              </a:rPr>
              <a:t>trust</a:t>
            </a:r>
            <a:r>
              <a:rPr sz="1100" spc="-10" dirty="0">
                <a:solidFill>
                  <a:srgbClr val="0D0D0D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464165" y="4018533"/>
            <a:ext cx="9696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5080" indent="-3556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0D0D0D"/>
                </a:solidFill>
                <a:latin typeface="Calibri"/>
                <a:cs typeface="Calibri"/>
              </a:rPr>
              <a:t>Model</a:t>
            </a:r>
            <a:r>
              <a:rPr sz="6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0D0D0D"/>
                </a:solidFill>
                <a:latin typeface="Calibri"/>
                <a:cs typeface="Calibri"/>
              </a:rPr>
              <a:t>IDs,</a:t>
            </a:r>
            <a:r>
              <a:rPr sz="6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0D0D0D"/>
                </a:solidFill>
                <a:latin typeface="Calibri"/>
                <a:cs typeface="Calibri"/>
              </a:rPr>
              <a:t>Otsu</a:t>
            </a:r>
            <a:r>
              <a:rPr sz="6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r>
              <a:rPr sz="6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" b="1" spc="-10" dirty="0">
                <a:solidFill>
                  <a:srgbClr val="0D0D0D"/>
                </a:solidFill>
                <a:latin typeface="Calibri"/>
                <a:cs typeface="Calibri"/>
              </a:rPr>
              <a:t>confidence</a:t>
            </a:r>
            <a:r>
              <a:rPr sz="600" b="1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" b="1" spc="-10" dirty="0">
                <a:solidFill>
                  <a:srgbClr val="0D0D0D"/>
                </a:solidFill>
                <a:latin typeface="Calibri"/>
                <a:cs typeface="Calibri"/>
              </a:rPr>
              <a:t>metrics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241675" y="-88010"/>
            <a:ext cx="5499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11" name="object 11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6440" y="21653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768" y="490550"/>
            <a:ext cx="543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3995" y="465201"/>
            <a:ext cx="647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Core</a:t>
            </a:r>
            <a:r>
              <a:rPr sz="1400" b="1" spc="-4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Programming</a:t>
            </a:r>
            <a:r>
              <a:rPr sz="1400" b="1" spc="-4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Languages,</a:t>
            </a:r>
            <a:r>
              <a:rPr sz="1400" b="1" spc="-4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WebGIS</a:t>
            </a:r>
            <a:r>
              <a:rPr sz="1400" b="1" spc="-50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Frameworks,</a:t>
            </a:r>
            <a:r>
              <a:rPr sz="1400" b="1" spc="-40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Specialist</a:t>
            </a:r>
            <a:r>
              <a:rPr sz="1400" b="1" spc="-40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AI</a:t>
            </a:r>
            <a:r>
              <a:rPr sz="1400" b="1" spc="-2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Models</a:t>
            </a:r>
            <a:r>
              <a:rPr sz="1400" b="1" spc="-3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&amp;</a:t>
            </a:r>
            <a:r>
              <a:rPr sz="1400" b="1" spc="-1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F497A"/>
                </a:solidFill>
                <a:latin typeface="Calibri"/>
                <a:cs typeface="Calibri"/>
              </a:rPr>
              <a:t>Cloud</a:t>
            </a:r>
            <a:r>
              <a:rPr sz="1400" b="1" spc="-35" dirty="0">
                <a:solidFill>
                  <a:srgbClr val="5F497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F497A"/>
                </a:solidFill>
                <a:latin typeface="Calibri"/>
                <a:cs typeface="Calibri"/>
              </a:rPr>
              <a:t>Stack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480" y="765428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8237" y="239522"/>
            <a:ext cx="1504315" cy="833119"/>
            <a:chOff x="118237" y="239522"/>
            <a:chExt cx="1504315" cy="833119"/>
          </a:xfrm>
        </p:grpSpPr>
        <p:sp>
          <p:nvSpPr>
            <p:cNvPr id="16" name="object 16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739355" y="0"/>
                  </a:moveTo>
                  <a:lnTo>
                    <a:pt x="678717" y="1338"/>
                  </a:lnTo>
                  <a:lnTo>
                    <a:pt x="619429" y="5283"/>
                  </a:lnTo>
                  <a:lnTo>
                    <a:pt x="561681" y="11731"/>
                  </a:lnTo>
                  <a:lnTo>
                    <a:pt x="505664" y="20579"/>
                  </a:lnTo>
                  <a:lnTo>
                    <a:pt x="451567" y="31722"/>
                  </a:lnTo>
                  <a:lnTo>
                    <a:pt x="399581" y="45057"/>
                  </a:lnTo>
                  <a:lnTo>
                    <a:pt x="349896" y="60479"/>
                  </a:lnTo>
                  <a:lnTo>
                    <a:pt x="302703" y="77886"/>
                  </a:lnTo>
                  <a:lnTo>
                    <a:pt x="258192" y="97173"/>
                  </a:lnTo>
                  <a:lnTo>
                    <a:pt x="216554" y="118237"/>
                  </a:lnTo>
                  <a:lnTo>
                    <a:pt x="177977" y="140973"/>
                  </a:lnTo>
                  <a:lnTo>
                    <a:pt x="142654" y="165277"/>
                  </a:lnTo>
                  <a:lnTo>
                    <a:pt x="110773" y="191047"/>
                  </a:lnTo>
                  <a:lnTo>
                    <a:pt x="82526" y="218178"/>
                  </a:lnTo>
                  <a:lnTo>
                    <a:pt x="37693" y="276108"/>
                  </a:lnTo>
                  <a:lnTo>
                    <a:pt x="9677" y="338236"/>
                  </a:lnTo>
                  <a:lnTo>
                    <a:pt x="0" y="403732"/>
                  </a:lnTo>
                  <a:lnTo>
                    <a:pt x="2450" y="436832"/>
                  </a:lnTo>
                  <a:lnTo>
                    <a:pt x="21487" y="500717"/>
                  </a:lnTo>
                  <a:lnTo>
                    <a:pt x="58102" y="560826"/>
                  </a:lnTo>
                  <a:lnTo>
                    <a:pt x="110773" y="616326"/>
                  </a:lnTo>
                  <a:lnTo>
                    <a:pt x="142654" y="642088"/>
                  </a:lnTo>
                  <a:lnTo>
                    <a:pt x="177977" y="666387"/>
                  </a:lnTo>
                  <a:lnTo>
                    <a:pt x="216554" y="689117"/>
                  </a:lnTo>
                  <a:lnTo>
                    <a:pt x="258192" y="710176"/>
                  </a:lnTo>
                  <a:lnTo>
                    <a:pt x="302703" y="729460"/>
                  </a:lnTo>
                  <a:lnTo>
                    <a:pt x="349896" y="746864"/>
                  </a:lnTo>
                  <a:lnTo>
                    <a:pt x="399581" y="762285"/>
                  </a:lnTo>
                  <a:lnTo>
                    <a:pt x="451567" y="775618"/>
                  </a:lnTo>
                  <a:lnTo>
                    <a:pt x="505664" y="786760"/>
                  </a:lnTo>
                  <a:lnTo>
                    <a:pt x="561681" y="795607"/>
                  </a:lnTo>
                  <a:lnTo>
                    <a:pt x="619429" y="802055"/>
                  </a:lnTo>
                  <a:lnTo>
                    <a:pt x="678717" y="806000"/>
                  </a:lnTo>
                  <a:lnTo>
                    <a:pt x="739355" y="807338"/>
                  </a:lnTo>
                  <a:lnTo>
                    <a:pt x="799995" y="806000"/>
                  </a:lnTo>
                  <a:lnTo>
                    <a:pt x="859283" y="802055"/>
                  </a:lnTo>
                  <a:lnTo>
                    <a:pt x="917031" y="795607"/>
                  </a:lnTo>
                  <a:lnTo>
                    <a:pt x="973047" y="786760"/>
                  </a:lnTo>
                  <a:lnTo>
                    <a:pt x="1027142" y="775618"/>
                  </a:lnTo>
                  <a:lnTo>
                    <a:pt x="1079125" y="762285"/>
                  </a:lnTo>
                  <a:lnTo>
                    <a:pt x="1128806" y="746864"/>
                  </a:lnTo>
                  <a:lnTo>
                    <a:pt x="1175995" y="729460"/>
                  </a:lnTo>
                  <a:lnTo>
                    <a:pt x="1220502" y="710176"/>
                  </a:lnTo>
                  <a:lnTo>
                    <a:pt x="1262137" y="689117"/>
                  </a:lnTo>
                  <a:lnTo>
                    <a:pt x="1300709" y="666387"/>
                  </a:lnTo>
                  <a:lnTo>
                    <a:pt x="1336028" y="642088"/>
                  </a:lnTo>
                  <a:lnTo>
                    <a:pt x="1367904" y="616326"/>
                  </a:lnTo>
                  <a:lnTo>
                    <a:pt x="1396147" y="589204"/>
                  </a:lnTo>
                  <a:lnTo>
                    <a:pt x="1440974" y="531295"/>
                  </a:lnTo>
                  <a:lnTo>
                    <a:pt x="1468985" y="469195"/>
                  </a:lnTo>
                  <a:lnTo>
                    <a:pt x="1478661" y="403732"/>
                  </a:lnTo>
                  <a:lnTo>
                    <a:pt x="1476210" y="370615"/>
                  </a:lnTo>
                  <a:lnTo>
                    <a:pt x="1457176" y="306699"/>
                  </a:lnTo>
                  <a:lnTo>
                    <a:pt x="1420567" y="246566"/>
                  </a:lnTo>
                  <a:lnTo>
                    <a:pt x="1367904" y="191047"/>
                  </a:lnTo>
                  <a:lnTo>
                    <a:pt x="1336028" y="165277"/>
                  </a:lnTo>
                  <a:lnTo>
                    <a:pt x="1300709" y="140973"/>
                  </a:lnTo>
                  <a:lnTo>
                    <a:pt x="1262137" y="118237"/>
                  </a:lnTo>
                  <a:lnTo>
                    <a:pt x="1220502" y="97173"/>
                  </a:lnTo>
                  <a:lnTo>
                    <a:pt x="1175995" y="77886"/>
                  </a:lnTo>
                  <a:lnTo>
                    <a:pt x="1128806" y="60479"/>
                  </a:lnTo>
                  <a:lnTo>
                    <a:pt x="1079125" y="45057"/>
                  </a:lnTo>
                  <a:lnTo>
                    <a:pt x="1027142" y="31722"/>
                  </a:lnTo>
                  <a:lnTo>
                    <a:pt x="973047" y="20579"/>
                  </a:lnTo>
                  <a:lnTo>
                    <a:pt x="917031" y="11731"/>
                  </a:lnTo>
                  <a:lnTo>
                    <a:pt x="859283" y="5283"/>
                  </a:lnTo>
                  <a:lnTo>
                    <a:pt x="799995" y="1338"/>
                  </a:lnTo>
                  <a:lnTo>
                    <a:pt x="739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0" y="403732"/>
                  </a:moveTo>
                  <a:lnTo>
                    <a:pt x="9677" y="338236"/>
                  </a:lnTo>
                  <a:lnTo>
                    <a:pt x="37693" y="276108"/>
                  </a:lnTo>
                  <a:lnTo>
                    <a:pt x="82526" y="218178"/>
                  </a:lnTo>
                  <a:lnTo>
                    <a:pt x="110773" y="191047"/>
                  </a:lnTo>
                  <a:lnTo>
                    <a:pt x="142654" y="165277"/>
                  </a:lnTo>
                  <a:lnTo>
                    <a:pt x="177977" y="140973"/>
                  </a:lnTo>
                  <a:lnTo>
                    <a:pt x="216554" y="118237"/>
                  </a:lnTo>
                  <a:lnTo>
                    <a:pt x="258192" y="97173"/>
                  </a:lnTo>
                  <a:lnTo>
                    <a:pt x="302703" y="77886"/>
                  </a:lnTo>
                  <a:lnTo>
                    <a:pt x="349896" y="60479"/>
                  </a:lnTo>
                  <a:lnTo>
                    <a:pt x="399581" y="45057"/>
                  </a:lnTo>
                  <a:lnTo>
                    <a:pt x="451567" y="31722"/>
                  </a:lnTo>
                  <a:lnTo>
                    <a:pt x="505664" y="20579"/>
                  </a:lnTo>
                  <a:lnTo>
                    <a:pt x="561681" y="11731"/>
                  </a:lnTo>
                  <a:lnTo>
                    <a:pt x="619429" y="5283"/>
                  </a:lnTo>
                  <a:lnTo>
                    <a:pt x="678717" y="1338"/>
                  </a:lnTo>
                  <a:lnTo>
                    <a:pt x="739355" y="0"/>
                  </a:lnTo>
                  <a:lnTo>
                    <a:pt x="799995" y="1338"/>
                  </a:lnTo>
                  <a:lnTo>
                    <a:pt x="859283" y="5283"/>
                  </a:lnTo>
                  <a:lnTo>
                    <a:pt x="917031" y="11731"/>
                  </a:lnTo>
                  <a:lnTo>
                    <a:pt x="973047" y="20579"/>
                  </a:lnTo>
                  <a:lnTo>
                    <a:pt x="1027142" y="31722"/>
                  </a:lnTo>
                  <a:lnTo>
                    <a:pt x="1079125" y="45057"/>
                  </a:lnTo>
                  <a:lnTo>
                    <a:pt x="1128806" y="60479"/>
                  </a:lnTo>
                  <a:lnTo>
                    <a:pt x="1175995" y="77886"/>
                  </a:lnTo>
                  <a:lnTo>
                    <a:pt x="1220502" y="97173"/>
                  </a:lnTo>
                  <a:lnTo>
                    <a:pt x="1262137" y="118237"/>
                  </a:lnTo>
                  <a:lnTo>
                    <a:pt x="1300709" y="140973"/>
                  </a:lnTo>
                  <a:lnTo>
                    <a:pt x="1336028" y="165277"/>
                  </a:lnTo>
                  <a:lnTo>
                    <a:pt x="1367904" y="191047"/>
                  </a:lnTo>
                  <a:lnTo>
                    <a:pt x="1396147" y="218178"/>
                  </a:lnTo>
                  <a:lnTo>
                    <a:pt x="1440974" y="276108"/>
                  </a:lnTo>
                  <a:lnTo>
                    <a:pt x="1468985" y="338236"/>
                  </a:lnTo>
                  <a:lnTo>
                    <a:pt x="1478661" y="403732"/>
                  </a:lnTo>
                  <a:lnTo>
                    <a:pt x="1476210" y="436832"/>
                  </a:lnTo>
                  <a:lnTo>
                    <a:pt x="1457176" y="500717"/>
                  </a:lnTo>
                  <a:lnTo>
                    <a:pt x="1420567" y="560826"/>
                  </a:lnTo>
                  <a:lnTo>
                    <a:pt x="1367904" y="616326"/>
                  </a:lnTo>
                  <a:lnTo>
                    <a:pt x="1336028" y="642088"/>
                  </a:lnTo>
                  <a:lnTo>
                    <a:pt x="1300709" y="666387"/>
                  </a:lnTo>
                  <a:lnTo>
                    <a:pt x="1262137" y="689117"/>
                  </a:lnTo>
                  <a:lnTo>
                    <a:pt x="1220502" y="710176"/>
                  </a:lnTo>
                  <a:lnTo>
                    <a:pt x="1175995" y="729460"/>
                  </a:lnTo>
                  <a:lnTo>
                    <a:pt x="1128806" y="746864"/>
                  </a:lnTo>
                  <a:lnTo>
                    <a:pt x="1079125" y="762285"/>
                  </a:lnTo>
                  <a:lnTo>
                    <a:pt x="1027142" y="775618"/>
                  </a:lnTo>
                  <a:lnTo>
                    <a:pt x="973047" y="786760"/>
                  </a:lnTo>
                  <a:lnTo>
                    <a:pt x="917031" y="795607"/>
                  </a:lnTo>
                  <a:lnTo>
                    <a:pt x="859283" y="802055"/>
                  </a:lnTo>
                  <a:lnTo>
                    <a:pt x="799995" y="806000"/>
                  </a:lnTo>
                  <a:lnTo>
                    <a:pt x="739355" y="807338"/>
                  </a:lnTo>
                  <a:lnTo>
                    <a:pt x="678717" y="806000"/>
                  </a:lnTo>
                  <a:lnTo>
                    <a:pt x="619429" y="802055"/>
                  </a:lnTo>
                  <a:lnTo>
                    <a:pt x="561681" y="795607"/>
                  </a:lnTo>
                  <a:lnTo>
                    <a:pt x="505664" y="786760"/>
                  </a:lnTo>
                  <a:lnTo>
                    <a:pt x="451567" y="775618"/>
                  </a:lnTo>
                  <a:lnTo>
                    <a:pt x="399581" y="762285"/>
                  </a:lnTo>
                  <a:lnTo>
                    <a:pt x="349896" y="746864"/>
                  </a:lnTo>
                  <a:lnTo>
                    <a:pt x="302703" y="729460"/>
                  </a:lnTo>
                  <a:lnTo>
                    <a:pt x="258192" y="710176"/>
                  </a:lnTo>
                  <a:lnTo>
                    <a:pt x="216554" y="689117"/>
                  </a:lnTo>
                  <a:lnTo>
                    <a:pt x="177977" y="666387"/>
                  </a:lnTo>
                  <a:lnTo>
                    <a:pt x="142654" y="642088"/>
                  </a:lnTo>
                  <a:lnTo>
                    <a:pt x="110773" y="616326"/>
                  </a:lnTo>
                  <a:lnTo>
                    <a:pt x="82526" y="589204"/>
                  </a:lnTo>
                  <a:lnTo>
                    <a:pt x="37693" y="531295"/>
                  </a:lnTo>
                  <a:lnTo>
                    <a:pt x="9677" y="469195"/>
                  </a:lnTo>
                  <a:lnTo>
                    <a:pt x="0" y="403732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7133" y="353695"/>
            <a:ext cx="4673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3948" y="628269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Manions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8042" y="878839"/>
            <a:ext cx="4734686" cy="149377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978908" y="1536"/>
            <a:ext cx="7051040" cy="1068705"/>
            <a:chOff x="4978908" y="1536"/>
            <a:chExt cx="7051040" cy="106870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142" y="1536"/>
              <a:ext cx="2249804" cy="10623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8908" y="705650"/>
              <a:ext cx="2537460" cy="3641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0536" y="745172"/>
              <a:ext cx="2394204" cy="32010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29708" y="733171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2396363" y="0"/>
                  </a:moveTo>
                  <a:lnTo>
                    <a:pt x="44576" y="0"/>
                  </a:lnTo>
                  <a:lnTo>
                    <a:pt x="27217" y="3520"/>
                  </a:lnTo>
                  <a:lnTo>
                    <a:pt x="13049" y="13112"/>
                  </a:lnTo>
                  <a:lnTo>
                    <a:pt x="3500" y="27324"/>
                  </a:lnTo>
                  <a:lnTo>
                    <a:pt x="0" y="44703"/>
                  </a:lnTo>
                  <a:lnTo>
                    <a:pt x="0" y="223392"/>
                  </a:lnTo>
                  <a:lnTo>
                    <a:pt x="3500" y="240772"/>
                  </a:lnTo>
                  <a:lnTo>
                    <a:pt x="13049" y="254984"/>
                  </a:lnTo>
                  <a:lnTo>
                    <a:pt x="27217" y="264576"/>
                  </a:lnTo>
                  <a:lnTo>
                    <a:pt x="44576" y="268096"/>
                  </a:lnTo>
                  <a:lnTo>
                    <a:pt x="2396363" y="268096"/>
                  </a:lnTo>
                  <a:lnTo>
                    <a:pt x="2413742" y="264576"/>
                  </a:lnTo>
                  <a:lnTo>
                    <a:pt x="2427954" y="254984"/>
                  </a:lnTo>
                  <a:lnTo>
                    <a:pt x="2437546" y="240772"/>
                  </a:lnTo>
                  <a:lnTo>
                    <a:pt x="2441066" y="223392"/>
                  </a:lnTo>
                  <a:lnTo>
                    <a:pt x="2441066" y="44703"/>
                  </a:lnTo>
                  <a:lnTo>
                    <a:pt x="2437546" y="27324"/>
                  </a:lnTo>
                  <a:lnTo>
                    <a:pt x="2427954" y="13112"/>
                  </a:lnTo>
                  <a:lnTo>
                    <a:pt x="2413742" y="3520"/>
                  </a:lnTo>
                  <a:lnTo>
                    <a:pt x="23963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29708" y="733171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0" y="44703"/>
                  </a:moveTo>
                  <a:lnTo>
                    <a:pt x="3500" y="27324"/>
                  </a:lnTo>
                  <a:lnTo>
                    <a:pt x="13049" y="13112"/>
                  </a:lnTo>
                  <a:lnTo>
                    <a:pt x="27217" y="3520"/>
                  </a:lnTo>
                  <a:lnTo>
                    <a:pt x="44576" y="0"/>
                  </a:lnTo>
                  <a:lnTo>
                    <a:pt x="2396363" y="0"/>
                  </a:lnTo>
                  <a:lnTo>
                    <a:pt x="2413742" y="3520"/>
                  </a:lnTo>
                  <a:lnTo>
                    <a:pt x="2427954" y="13112"/>
                  </a:lnTo>
                  <a:lnTo>
                    <a:pt x="2437546" y="27324"/>
                  </a:lnTo>
                  <a:lnTo>
                    <a:pt x="2441066" y="44703"/>
                  </a:lnTo>
                  <a:lnTo>
                    <a:pt x="2441066" y="223392"/>
                  </a:lnTo>
                  <a:lnTo>
                    <a:pt x="2437546" y="240772"/>
                  </a:lnTo>
                  <a:lnTo>
                    <a:pt x="2427954" y="254984"/>
                  </a:lnTo>
                  <a:lnTo>
                    <a:pt x="2413742" y="264576"/>
                  </a:lnTo>
                  <a:lnTo>
                    <a:pt x="2396363" y="268096"/>
                  </a:lnTo>
                  <a:lnTo>
                    <a:pt x="44576" y="268096"/>
                  </a:lnTo>
                  <a:lnTo>
                    <a:pt x="27217" y="264576"/>
                  </a:lnTo>
                  <a:lnTo>
                    <a:pt x="13049" y="254984"/>
                  </a:lnTo>
                  <a:lnTo>
                    <a:pt x="3500" y="240772"/>
                  </a:lnTo>
                  <a:lnTo>
                    <a:pt x="0" y="223392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149722" y="776985"/>
            <a:ext cx="2202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User</a:t>
            </a:r>
            <a:r>
              <a:rPr sz="900" b="1" spc="-40" dirty="0">
                <a:latin typeface="Trebuchet MS"/>
                <a:cs typeface="Trebuchet MS"/>
              </a:rPr>
              <a:t> </a:t>
            </a:r>
            <a:r>
              <a:rPr sz="900" b="1" spc="-25" dirty="0">
                <a:latin typeface="Trebuchet MS"/>
                <a:cs typeface="Trebuchet MS"/>
              </a:rPr>
              <a:t>Query</a:t>
            </a:r>
            <a:r>
              <a:rPr sz="900" b="1" spc="-35" dirty="0">
                <a:latin typeface="Trebuchet MS"/>
                <a:cs typeface="Trebuchet MS"/>
              </a:rPr>
              <a:t> </a:t>
            </a:r>
            <a:r>
              <a:rPr sz="900" b="1" spc="-40" dirty="0">
                <a:latin typeface="Trebuchet MS"/>
                <a:cs typeface="Trebuchet MS"/>
              </a:rPr>
              <a:t>&amp;</a:t>
            </a:r>
            <a:r>
              <a:rPr sz="900" b="1" spc="-35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Multi-</a:t>
            </a:r>
            <a:r>
              <a:rPr sz="900" b="1" dirty="0">
                <a:latin typeface="Trebuchet MS"/>
                <a:cs typeface="Trebuchet MS"/>
              </a:rPr>
              <a:t>Modal</a:t>
            </a:r>
            <a:r>
              <a:rPr sz="900" b="1" spc="-75" dirty="0">
                <a:latin typeface="Trebuchet MS"/>
                <a:cs typeface="Trebuchet MS"/>
              </a:rPr>
              <a:t> </a:t>
            </a:r>
            <a:r>
              <a:rPr sz="900" b="1" spc="-40" dirty="0">
                <a:latin typeface="Trebuchet MS"/>
                <a:cs typeface="Trebuchet MS"/>
              </a:rPr>
              <a:t>GeoTIFF </a:t>
            </a:r>
            <a:r>
              <a:rPr sz="900" b="1" spc="-10" dirty="0">
                <a:latin typeface="Trebuchet MS"/>
                <a:cs typeface="Trebuchet MS"/>
              </a:rPr>
              <a:t>Upload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2565" y="1121532"/>
            <a:ext cx="3010535" cy="442595"/>
            <a:chOff x="132565" y="1121532"/>
            <a:chExt cx="3010535" cy="44259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565" y="1121532"/>
              <a:ext cx="3009945" cy="4422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1119" y="1137412"/>
              <a:ext cx="2938145" cy="369570"/>
            </a:xfrm>
            <a:custGeom>
              <a:avLst/>
              <a:gdLst/>
              <a:ahLst/>
              <a:cxnLst/>
              <a:rect l="l" t="t" r="r" b="b"/>
              <a:pathLst>
                <a:path w="2938145" h="369569">
                  <a:moveTo>
                    <a:pt x="2937586" y="0"/>
                  </a:moveTo>
                  <a:lnTo>
                    <a:pt x="61556" y="0"/>
                  </a:lnTo>
                  <a:lnTo>
                    <a:pt x="37595" y="4837"/>
                  </a:lnTo>
                  <a:lnTo>
                    <a:pt x="18029" y="18034"/>
                  </a:lnTo>
                  <a:lnTo>
                    <a:pt x="4837" y="37611"/>
                  </a:lnTo>
                  <a:lnTo>
                    <a:pt x="0" y="61595"/>
                  </a:lnTo>
                  <a:lnTo>
                    <a:pt x="0" y="369315"/>
                  </a:lnTo>
                  <a:lnTo>
                    <a:pt x="2875991" y="369315"/>
                  </a:lnTo>
                  <a:lnTo>
                    <a:pt x="2899974" y="364480"/>
                  </a:lnTo>
                  <a:lnTo>
                    <a:pt x="2919552" y="351297"/>
                  </a:lnTo>
                  <a:lnTo>
                    <a:pt x="2932748" y="331757"/>
                  </a:lnTo>
                  <a:lnTo>
                    <a:pt x="2937586" y="307848"/>
                  </a:lnTo>
                  <a:lnTo>
                    <a:pt x="2937586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1119" y="1137412"/>
              <a:ext cx="2938145" cy="369570"/>
            </a:xfrm>
            <a:custGeom>
              <a:avLst/>
              <a:gdLst/>
              <a:ahLst/>
              <a:cxnLst/>
              <a:rect l="l" t="t" r="r" b="b"/>
              <a:pathLst>
                <a:path w="2938145" h="369569">
                  <a:moveTo>
                    <a:pt x="61556" y="0"/>
                  </a:moveTo>
                  <a:lnTo>
                    <a:pt x="2937586" y="0"/>
                  </a:lnTo>
                  <a:lnTo>
                    <a:pt x="2937586" y="307848"/>
                  </a:lnTo>
                  <a:lnTo>
                    <a:pt x="2932748" y="331757"/>
                  </a:lnTo>
                  <a:lnTo>
                    <a:pt x="2919552" y="351297"/>
                  </a:lnTo>
                  <a:lnTo>
                    <a:pt x="2899974" y="364480"/>
                  </a:lnTo>
                  <a:lnTo>
                    <a:pt x="2875991" y="369315"/>
                  </a:lnTo>
                  <a:lnTo>
                    <a:pt x="0" y="369315"/>
                  </a:lnTo>
                  <a:lnTo>
                    <a:pt x="0" y="61595"/>
                  </a:lnTo>
                  <a:lnTo>
                    <a:pt x="4837" y="37611"/>
                  </a:lnTo>
                  <a:lnTo>
                    <a:pt x="18029" y="18034"/>
                  </a:lnTo>
                  <a:lnTo>
                    <a:pt x="37595" y="4837"/>
                  </a:lnTo>
                  <a:lnTo>
                    <a:pt x="61556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4403" y="1076325"/>
            <a:ext cx="2334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Technologies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978908" y="994903"/>
            <a:ext cx="2537460" cy="415290"/>
            <a:chOff x="4978908" y="994903"/>
            <a:chExt cx="2537460" cy="41529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9752" y="994903"/>
              <a:ext cx="77364" cy="1242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50178" y="1008887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1397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908" y="1045502"/>
              <a:ext cx="2537460" cy="36419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9032" y="1083525"/>
              <a:ext cx="2077212" cy="32160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029708" y="1072387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2396363" y="0"/>
                  </a:moveTo>
                  <a:lnTo>
                    <a:pt x="44576" y="0"/>
                  </a:lnTo>
                  <a:lnTo>
                    <a:pt x="27217" y="3520"/>
                  </a:lnTo>
                  <a:lnTo>
                    <a:pt x="13049" y="13112"/>
                  </a:lnTo>
                  <a:lnTo>
                    <a:pt x="3500" y="27324"/>
                  </a:lnTo>
                  <a:lnTo>
                    <a:pt x="0" y="44703"/>
                  </a:lnTo>
                  <a:lnTo>
                    <a:pt x="0" y="223392"/>
                  </a:lnTo>
                  <a:lnTo>
                    <a:pt x="3500" y="240825"/>
                  </a:lnTo>
                  <a:lnTo>
                    <a:pt x="13049" y="255031"/>
                  </a:lnTo>
                  <a:lnTo>
                    <a:pt x="27217" y="264594"/>
                  </a:lnTo>
                  <a:lnTo>
                    <a:pt x="44576" y="268097"/>
                  </a:lnTo>
                  <a:lnTo>
                    <a:pt x="2396363" y="268097"/>
                  </a:lnTo>
                  <a:lnTo>
                    <a:pt x="2413742" y="264594"/>
                  </a:lnTo>
                  <a:lnTo>
                    <a:pt x="2427954" y="255031"/>
                  </a:lnTo>
                  <a:lnTo>
                    <a:pt x="2437546" y="240825"/>
                  </a:lnTo>
                  <a:lnTo>
                    <a:pt x="2441066" y="223392"/>
                  </a:lnTo>
                  <a:lnTo>
                    <a:pt x="2441066" y="44703"/>
                  </a:lnTo>
                  <a:lnTo>
                    <a:pt x="2437546" y="27324"/>
                  </a:lnTo>
                  <a:lnTo>
                    <a:pt x="2427954" y="13112"/>
                  </a:lnTo>
                  <a:lnTo>
                    <a:pt x="2413742" y="3520"/>
                  </a:lnTo>
                  <a:lnTo>
                    <a:pt x="23963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29708" y="1072387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0" y="44703"/>
                  </a:moveTo>
                  <a:lnTo>
                    <a:pt x="3500" y="27324"/>
                  </a:lnTo>
                  <a:lnTo>
                    <a:pt x="13049" y="13112"/>
                  </a:lnTo>
                  <a:lnTo>
                    <a:pt x="27217" y="3520"/>
                  </a:lnTo>
                  <a:lnTo>
                    <a:pt x="44576" y="0"/>
                  </a:lnTo>
                  <a:lnTo>
                    <a:pt x="2396363" y="0"/>
                  </a:lnTo>
                  <a:lnTo>
                    <a:pt x="2413742" y="3520"/>
                  </a:lnTo>
                  <a:lnTo>
                    <a:pt x="2427954" y="13112"/>
                  </a:lnTo>
                  <a:lnTo>
                    <a:pt x="2437546" y="27324"/>
                  </a:lnTo>
                  <a:lnTo>
                    <a:pt x="2441066" y="44703"/>
                  </a:lnTo>
                  <a:lnTo>
                    <a:pt x="2441066" y="223392"/>
                  </a:lnTo>
                  <a:lnTo>
                    <a:pt x="2437546" y="240825"/>
                  </a:lnTo>
                  <a:lnTo>
                    <a:pt x="2427954" y="255031"/>
                  </a:lnTo>
                  <a:lnTo>
                    <a:pt x="2413742" y="264594"/>
                  </a:lnTo>
                  <a:lnTo>
                    <a:pt x="2396363" y="268097"/>
                  </a:lnTo>
                  <a:lnTo>
                    <a:pt x="44576" y="268097"/>
                  </a:lnTo>
                  <a:lnTo>
                    <a:pt x="27217" y="264594"/>
                  </a:lnTo>
                  <a:lnTo>
                    <a:pt x="13049" y="255031"/>
                  </a:lnTo>
                  <a:lnTo>
                    <a:pt x="3500" y="240825"/>
                  </a:lnTo>
                  <a:lnTo>
                    <a:pt x="0" y="223392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308219" y="1116329"/>
            <a:ext cx="1884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CRS,</a:t>
            </a:r>
            <a:r>
              <a:rPr sz="900" b="1" spc="-25" dirty="0">
                <a:latin typeface="Trebuchet MS"/>
                <a:cs typeface="Trebuchet MS"/>
              </a:rPr>
              <a:t> </a:t>
            </a:r>
            <a:r>
              <a:rPr sz="900" b="1" dirty="0">
                <a:latin typeface="Trebuchet MS"/>
                <a:cs typeface="Trebuchet MS"/>
              </a:rPr>
              <a:t>EPSG</a:t>
            </a:r>
            <a:r>
              <a:rPr sz="900" b="1" spc="-20" dirty="0">
                <a:latin typeface="Trebuchet MS"/>
                <a:cs typeface="Trebuchet MS"/>
              </a:rPr>
              <a:t> </a:t>
            </a:r>
            <a:r>
              <a:rPr sz="900" b="1" spc="-40" dirty="0">
                <a:latin typeface="Trebuchet MS"/>
                <a:cs typeface="Trebuchet MS"/>
              </a:rPr>
              <a:t>&amp;</a:t>
            </a:r>
            <a:r>
              <a:rPr sz="900" b="1" spc="-15" dirty="0">
                <a:latin typeface="Trebuchet MS"/>
                <a:cs typeface="Trebuchet MS"/>
              </a:rPr>
              <a:t> </a:t>
            </a:r>
            <a:r>
              <a:rPr sz="900" b="1" spc="55" dirty="0">
                <a:latin typeface="Trebuchet MS"/>
                <a:cs typeface="Trebuchet MS"/>
              </a:rPr>
              <a:t>GSD</a:t>
            </a:r>
            <a:r>
              <a:rPr sz="900" b="1" spc="-25" dirty="0">
                <a:latin typeface="Trebuchet MS"/>
                <a:cs typeface="Trebuchet MS"/>
              </a:rPr>
              <a:t> </a:t>
            </a:r>
            <a:r>
              <a:rPr sz="900" b="1" dirty="0">
                <a:latin typeface="Trebuchet MS"/>
                <a:cs typeface="Trebuchet MS"/>
              </a:rPr>
              <a:t>Spatial</a:t>
            </a:r>
            <a:r>
              <a:rPr sz="900" b="1" spc="-40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Validation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189100"/>
            <a:ext cx="4919980" cy="2715895"/>
            <a:chOff x="0" y="1189100"/>
            <a:chExt cx="4919980" cy="271589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100" y="1189100"/>
              <a:ext cx="384975" cy="3693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528571"/>
              <a:ext cx="4919472" cy="237591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3877" y="1552320"/>
              <a:ext cx="4832985" cy="2286635"/>
            </a:xfrm>
            <a:custGeom>
              <a:avLst/>
              <a:gdLst/>
              <a:ahLst/>
              <a:cxnLst/>
              <a:rect l="l" t="t" r="r" b="b"/>
              <a:pathLst>
                <a:path w="4832985" h="2286635">
                  <a:moveTo>
                    <a:pt x="4444937" y="0"/>
                  </a:moveTo>
                  <a:lnTo>
                    <a:pt x="252718" y="0"/>
                  </a:lnTo>
                  <a:lnTo>
                    <a:pt x="207291" y="4072"/>
                  </a:lnTo>
                  <a:lnTo>
                    <a:pt x="164536" y="15812"/>
                  </a:lnTo>
                  <a:lnTo>
                    <a:pt x="125166" y="34506"/>
                  </a:lnTo>
                  <a:lnTo>
                    <a:pt x="89895" y="59440"/>
                  </a:lnTo>
                  <a:lnTo>
                    <a:pt x="59436" y="89901"/>
                  </a:lnTo>
                  <a:lnTo>
                    <a:pt x="34503" y="125174"/>
                  </a:lnTo>
                  <a:lnTo>
                    <a:pt x="15810" y="164546"/>
                  </a:lnTo>
                  <a:lnTo>
                    <a:pt x="4071" y="207303"/>
                  </a:lnTo>
                  <a:lnTo>
                    <a:pt x="0" y="252729"/>
                  </a:lnTo>
                  <a:lnTo>
                    <a:pt x="0" y="1898395"/>
                  </a:lnTo>
                  <a:lnTo>
                    <a:pt x="3023" y="1947058"/>
                  </a:lnTo>
                  <a:lnTo>
                    <a:pt x="11850" y="1993918"/>
                  </a:lnTo>
                  <a:lnTo>
                    <a:pt x="26118" y="2038612"/>
                  </a:lnTo>
                  <a:lnTo>
                    <a:pt x="45463" y="2080776"/>
                  </a:lnTo>
                  <a:lnTo>
                    <a:pt x="69521" y="2120047"/>
                  </a:lnTo>
                  <a:lnTo>
                    <a:pt x="97928" y="2156060"/>
                  </a:lnTo>
                  <a:lnTo>
                    <a:pt x="130321" y="2188452"/>
                  </a:lnTo>
                  <a:lnTo>
                    <a:pt x="166337" y="2216859"/>
                  </a:lnTo>
                  <a:lnTo>
                    <a:pt x="205612" y="2240916"/>
                  </a:lnTo>
                  <a:lnTo>
                    <a:pt x="247781" y="2260261"/>
                  </a:lnTo>
                  <a:lnTo>
                    <a:pt x="292482" y="2274529"/>
                  </a:lnTo>
                  <a:lnTo>
                    <a:pt x="339351" y="2283357"/>
                  </a:lnTo>
                  <a:lnTo>
                    <a:pt x="388024" y="2286380"/>
                  </a:lnTo>
                  <a:lnTo>
                    <a:pt x="4580192" y="2286380"/>
                  </a:lnTo>
                  <a:lnTo>
                    <a:pt x="4625619" y="2282308"/>
                  </a:lnTo>
                  <a:lnTo>
                    <a:pt x="4668376" y="2270568"/>
                  </a:lnTo>
                  <a:lnTo>
                    <a:pt x="4707747" y="2251874"/>
                  </a:lnTo>
                  <a:lnTo>
                    <a:pt x="4743021" y="2226940"/>
                  </a:lnTo>
                  <a:lnTo>
                    <a:pt x="4773481" y="2196479"/>
                  </a:lnTo>
                  <a:lnTo>
                    <a:pt x="4798416" y="2161206"/>
                  </a:lnTo>
                  <a:lnTo>
                    <a:pt x="4817110" y="2121834"/>
                  </a:lnTo>
                  <a:lnTo>
                    <a:pt x="4828850" y="2079077"/>
                  </a:lnTo>
                  <a:lnTo>
                    <a:pt x="4832922" y="2033651"/>
                  </a:lnTo>
                  <a:lnTo>
                    <a:pt x="4832922" y="387984"/>
                  </a:lnTo>
                  <a:lnTo>
                    <a:pt x="4829899" y="339322"/>
                  </a:lnTo>
                  <a:lnTo>
                    <a:pt x="4821071" y="292462"/>
                  </a:lnTo>
                  <a:lnTo>
                    <a:pt x="4806803" y="247768"/>
                  </a:lnTo>
                  <a:lnTo>
                    <a:pt x="4787458" y="205604"/>
                  </a:lnTo>
                  <a:lnTo>
                    <a:pt x="4763400" y="166333"/>
                  </a:lnTo>
                  <a:lnTo>
                    <a:pt x="4734994" y="130320"/>
                  </a:lnTo>
                  <a:lnTo>
                    <a:pt x="4702602" y="97928"/>
                  </a:lnTo>
                  <a:lnTo>
                    <a:pt x="4666589" y="69521"/>
                  </a:lnTo>
                  <a:lnTo>
                    <a:pt x="4627318" y="45464"/>
                  </a:lnTo>
                  <a:lnTo>
                    <a:pt x="4585154" y="26119"/>
                  </a:lnTo>
                  <a:lnTo>
                    <a:pt x="4540460" y="11851"/>
                  </a:lnTo>
                  <a:lnTo>
                    <a:pt x="4493600" y="3023"/>
                  </a:lnTo>
                  <a:lnTo>
                    <a:pt x="4444937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877" y="1552320"/>
              <a:ext cx="4832985" cy="2286635"/>
            </a:xfrm>
            <a:custGeom>
              <a:avLst/>
              <a:gdLst/>
              <a:ahLst/>
              <a:cxnLst/>
              <a:rect l="l" t="t" r="r" b="b"/>
              <a:pathLst>
                <a:path w="4832985" h="2286635">
                  <a:moveTo>
                    <a:pt x="252718" y="0"/>
                  </a:moveTo>
                  <a:lnTo>
                    <a:pt x="4444937" y="0"/>
                  </a:lnTo>
                  <a:lnTo>
                    <a:pt x="4493600" y="3023"/>
                  </a:lnTo>
                  <a:lnTo>
                    <a:pt x="4540460" y="11851"/>
                  </a:lnTo>
                  <a:lnTo>
                    <a:pt x="4585154" y="26119"/>
                  </a:lnTo>
                  <a:lnTo>
                    <a:pt x="4627318" y="45464"/>
                  </a:lnTo>
                  <a:lnTo>
                    <a:pt x="4666589" y="69521"/>
                  </a:lnTo>
                  <a:lnTo>
                    <a:pt x="4702602" y="97928"/>
                  </a:lnTo>
                  <a:lnTo>
                    <a:pt x="4734994" y="130320"/>
                  </a:lnTo>
                  <a:lnTo>
                    <a:pt x="4763400" y="166333"/>
                  </a:lnTo>
                  <a:lnTo>
                    <a:pt x="4787458" y="205604"/>
                  </a:lnTo>
                  <a:lnTo>
                    <a:pt x="4806803" y="247768"/>
                  </a:lnTo>
                  <a:lnTo>
                    <a:pt x="4821071" y="292462"/>
                  </a:lnTo>
                  <a:lnTo>
                    <a:pt x="4829899" y="339322"/>
                  </a:lnTo>
                  <a:lnTo>
                    <a:pt x="4832922" y="387984"/>
                  </a:lnTo>
                  <a:lnTo>
                    <a:pt x="4832922" y="2033651"/>
                  </a:lnTo>
                  <a:lnTo>
                    <a:pt x="4828850" y="2079077"/>
                  </a:lnTo>
                  <a:lnTo>
                    <a:pt x="4817110" y="2121834"/>
                  </a:lnTo>
                  <a:lnTo>
                    <a:pt x="4798416" y="2161206"/>
                  </a:lnTo>
                  <a:lnTo>
                    <a:pt x="4773481" y="2196479"/>
                  </a:lnTo>
                  <a:lnTo>
                    <a:pt x="4743021" y="2226940"/>
                  </a:lnTo>
                  <a:lnTo>
                    <a:pt x="4707747" y="2251874"/>
                  </a:lnTo>
                  <a:lnTo>
                    <a:pt x="4668376" y="2270568"/>
                  </a:lnTo>
                  <a:lnTo>
                    <a:pt x="4625619" y="2282308"/>
                  </a:lnTo>
                  <a:lnTo>
                    <a:pt x="4580192" y="2286380"/>
                  </a:lnTo>
                  <a:lnTo>
                    <a:pt x="388024" y="2286380"/>
                  </a:lnTo>
                  <a:lnTo>
                    <a:pt x="339351" y="2283357"/>
                  </a:lnTo>
                  <a:lnTo>
                    <a:pt x="292482" y="2274529"/>
                  </a:lnTo>
                  <a:lnTo>
                    <a:pt x="247781" y="2260261"/>
                  </a:lnTo>
                  <a:lnTo>
                    <a:pt x="205612" y="2240916"/>
                  </a:lnTo>
                  <a:lnTo>
                    <a:pt x="166337" y="2216859"/>
                  </a:lnTo>
                  <a:lnTo>
                    <a:pt x="130321" y="2188452"/>
                  </a:lnTo>
                  <a:lnTo>
                    <a:pt x="97928" y="2156060"/>
                  </a:lnTo>
                  <a:lnTo>
                    <a:pt x="69521" y="2120047"/>
                  </a:lnTo>
                  <a:lnTo>
                    <a:pt x="45463" y="2080776"/>
                  </a:lnTo>
                  <a:lnTo>
                    <a:pt x="26118" y="2038612"/>
                  </a:lnTo>
                  <a:lnTo>
                    <a:pt x="11850" y="1993918"/>
                  </a:lnTo>
                  <a:lnTo>
                    <a:pt x="3023" y="1947058"/>
                  </a:lnTo>
                  <a:lnTo>
                    <a:pt x="0" y="1898395"/>
                  </a:lnTo>
                  <a:lnTo>
                    <a:pt x="0" y="252729"/>
                  </a:lnTo>
                  <a:lnTo>
                    <a:pt x="4071" y="207303"/>
                  </a:lnTo>
                  <a:lnTo>
                    <a:pt x="15810" y="164546"/>
                  </a:lnTo>
                  <a:lnTo>
                    <a:pt x="34503" y="125174"/>
                  </a:lnTo>
                  <a:lnTo>
                    <a:pt x="59436" y="89901"/>
                  </a:lnTo>
                  <a:lnTo>
                    <a:pt x="89895" y="59440"/>
                  </a:lnTo>
                  <a:lnTo>
                    <a:pt x="125166" y="34506"/>
                  </a:lnTo>
                  <a:lnTo>
                    <a:pt x="164536" y="15812"/>
                  </a:lnTo>
                  <a:lnTo>
                    <a:pt x="207291" y="4072"/>
                  </a:lnTo>
                  <a:lnTo>
                    <a:pt x="252718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4027" y="1464563"/>
              <a:ext cx="585978" cy="48082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56641" y="1917464"/>
            <a:ext cx="107314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z="1400" spc="-50" dirty="0">
                <a:latin typeface="Courier New"/>
                <a:cs typeface="Courier New"/>
              </a:rPr>
              <a:t>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6641" y="2587770"/>
            <a:ext cx="107314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z="1400" spc="-50" dirty="0">
                <a:latin typeface="Courier New"/>
                <a:cs typeface="Courier New"/>
              </a:rPr>
              <a:t>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641" y="3287921"/>
            <a:ext cx="107314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z="1400" spc="-50" dirty="0">
                <a:latin typeface="Courier New"/>
                <a:cs typeface="Courier New"/>
              </a:rPr>
              <a:t>o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7675" y="1910283"/>
            <a:ext cx="499109" cy="1579880"/>
            <a:chOff x="27675" y="1910283"/>
            <a:chExt cx="499109" cy="1579880"/>
          </a:xfrm>
        </p:grpSpPr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1698" y="1910283"/>
              <a:ext cx="273100" cy="2731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528" y="2476627"/>
              <a:ext cx="268160" cy="3460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675" y="3124835"/>
              <a:ext cx="498487" cy="36474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530453" y="1405821"/>
            <a:ext cx="3895725" cy="24758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latin typeface="Calibri"/>
                <a:cs typeface="Calibri"/>
              </a:rPr>
              <a:t>Programming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6700"/>
              </a:lnSpc>
              <a:spcBef>
                <a:spcPts val="565"/>
              </a:spcBef>
            </a:pPr>
            <a:r>
              <a:rPr sz="1400" b="1" dirty="0">
                <a:latin typeface="Calibri"/>
                <a:cs typeface="Calibri"/>
              </a:rPr>
              <a:t>Python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3.11: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Core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backend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remote-</a:t>
            </a:r>
            <a:r>
              <a:rPr sz="1300" dirty="0">
                <a:latin typeface="Calibri"/>
                <a:cs typeface="Calibri"/>
              </a:rPr>
              <a:t>sensing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data </a:t>
            </a:r>
            <a:r>
              <a:rPr sz="1300" dirty="0">
                <a:latin typeface="Calibri"/>
                <a:cs typeface="Calibri"/>
              </a:rPr>
              <a:t>processing,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spectral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mathematics,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AI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model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orchestration.</a:t>
            </a:r>
            <a:endParaRPr sz="1300">
              <a:latin typeface="Calibri"/>
              <a:cs typeface="Calibri"/>
            </a:endParaRPr>
          </a:p>
          <a:p>
            <a:pPr marL="12700" marR="38735">
              <a:lnSpc>
                <a:spcPct val="102400"/>
              </a:lnSpc>
              <a:spcBef>
                <a:spcPts val="325"/>
              </a:spcBef>
              <a:tabLst>
                <a:tab pos="424180" algn="l"/>
              </a:tabLst>
            </a:pPr>
            <a:r>
              <a:rPr sz="1400" b="1" dirty="0">
                <a:latin typeface="Calibri"/>
                <a:cs typeface="Calibri"/>
              </a:rPr>
              <a:t>TypeScript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/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JavaScript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(ES2023):</a:t>
            </a:r>
            <a:r>
              <a:rPr sz="1400" b="1" spc="114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Type-</a:t>
            </a:r>
            <a:r>
              <a:rPr sz="1300" dirty="0">
                <a:latin typeface="Calibri"/>
                <a:cs typeface="Calibri"/>
              </a:rPr>
              <a:t>safe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frontend </a:t>
            </a:r>
            <a:r>
              <a:rPr sz="1300" dirty="0">
                <a:latin typeface="Calibri"/>
                <a:cs typeface="Calibri"/>
              </a:rPr>
              <a:t>client,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interactive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WebGIS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workbench,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asynchronous </a:t>
            </a:r>
            <a:r>
              <a:rPr sz="1300" spc="-25" dirty="0">
                <a:latin typeface="Calibri"/>
                <a:cs typeface="Calibri"/>
              </a:rPr>
              <a:t>API</a:t>
            </a:r>
            <a:r>
              <a:rPr sz="1300" dirty="0">
                <a:latin typeface="Calibri"/>
                <a:cs typeface="Calibri"/>
              </a:rPr>
              <a:t>	</a:t>
            </a:r>
            <a:r>
              <a:rPr sz="1300" spc="-10" dirty="0">
                <a:latin typeface="Calibri"/>
                <a:cs typeface="Calibri"/>
              </a:rPr>
              <a:t>communication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71755">
              <a:lnSpc>
                <a:spcPct val="100000"/>
              </a:lnSpc>
              <a:spcBef>
                <a:spcPts val="30"/>
              </a:spcBef>
            </a:pPr>
            <a:r>
              <a:rPr sz="1400" b="1" dirty="0">
                <a:latin typeface="Calibri"/>
                <a:cs typeface="Calibri"/>
              </a:rPr>
              <a:t>HTML5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CSS3: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Canvas-</a:t>
            </a:r>
            <a:r>
              <a:rPr sz="1300" dirty="0">
                <a:latin typeface="Calibri"/>
                <a:cs typeface="Calibri"/>
              </a:rPr>
              <a:t>based pixel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manipulation, </a:t>
            </a:r>
            <a:r>
              <a:rPr sz="1300" spc="-10" dirty="0">
                <a:latin typeface="Calibri"/>
                <a:cs typeface="Calibri"/>
              </a:rPr>
              <a:t>high-</a:t>
            </a:r>
            <a:r>
              <a:rPr sz="1300" dirty="0">
                <a:latin typeface="Calibri"/>
                <a:cs typeface="Calibri"/>
              </a:rPr>
              <a:t>contrast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visual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overlays,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responsive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presentation layouts.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978908" y="1328659"/>
            <a:ext cx="2552700" cy="758190"/>
            <a:chOff x="4978908" y="1328659"/>
            <a:chExt cx="2552700" cy="758190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9752" y="1328659"/>
              <a:ext cx="77364" cy="12425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250178" y="1342008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1397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94148" y="1376210"/>
              <a:ext cx="2537459" cy="36419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044948" y="1403984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2396490" y="0"/>
                  </a:moveTo>
                  <a:lnTo>
                    <a:pt x="44703" y="0"/>
                  </a:lnTo>
                  <a:lnTo>
                    <a:pt x="27324" y="3520"/>
                  </a:lnTo>
                  <a:lnTo>
                    <a:pt x="13112" y="13112"/>
                  </a:lnTo>
                  <a:lnTo>
                    <a:pt x="3520" y="27324"/>
                  </a:lnTo>
                  <a:lnTo>
                    <a:pt x="0" y="44703"/>
                  </a:lnTo>
                  <a:lnTo>
                    <a:pt x="0" y="223392"/>
                  </a:lnTo>
                  <a:lnTo>
                    <a:pt x="3520" y="240772"/>
                  </a:lnTo>
                  <a:lnTo>
                    <a:pt x="13112" y="254984"/>
                  </a:lnTo>
                  <a:lnTo>
                    <a:pt x="27324" y="264576"/>
                  </a:lnTo>
                  <a:lnTo>
                    <a:pt x="44703" y="268097"/>
                  </a:lnTo>
                  <a:lnTo>
                    <a:pt x="2396490" y="268097"/>
                  </a:lnTo>
                  <a:lnTo>
                    <a:pt x="2413849" y="264576"/>
                  </a:lnTo>
                  <a:lnTo>
                    <a:pt x="2428017" y="254984"/>
                  </a:lnTo>
                  <a:lnTo>
                    <a:pt x="2437566" y="240772"/>
                  </a:lnTo>
                  <a:lnTo>
                    <a:pt x="2441067" y="223392"/>
                  </a:lnTo>
                  <a:lnTo>
                    <a:pt x="2441067" y="44703"/>
                  </a:lnTo>
                  <a:lnTo>
                    <a:pt x="2437566" y="27324"/>
                  </a:lnTo>
                  <a:lnTo>
                    <a:pt x="2428017" y="13112"/>
                  </a:lnTo>
                  <a:lnTo>
                    <a:pt x="2413849" y="3520"/>
                  </a:lnTo>
                  <a:lnTo>
                    <a:pt x="23964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44948" y="1403984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0" y="44703"/>
                  </a:moveTo>
                  <a:lnTo>
                    <a:pt x="3520" y="27324"/>
                  </a:lnTo>
                  <a:lnTo>
                    <a:pt x="13112" y="13112"/>
                  </a:lnTo>
                  <a:lnTo>
                    <a:pt x="27324" y="3520"/>
                  </a:lnTo>
                  <a:lnTo>
                    <a:pt x="44703" y="0"/>
                  </a:lnTo>
                  <a:lnTo>
                    <a:pt x="2396490" y="0"/>
                  </a:lnTo>
                  <a:lnTo>
                    <a:pt x="2413849" y="3520"/>
                  </a:lnTo>
                  <a:lnTo>
                    <a:pt x="2428017" y="13112"/>
                  </a:lnTo>
                  <a:lnTo>
                    <a:pt x="2437566" y="27324"/>
                  </a:lnTo>
                  <a:lnTo>
                    <a:pt x="2441067" y="44703"/>
                  </a:lnTo>
                  <a:lnTo>
                    <a:pt x="2441067" y="223392"/>
                  </a:lnTo>
                  <a:lnTo>
                    <a:pt x="2437566" y="240772"/>
                  </a:lnTo>
                  <a:lnTo>
                    <a:pt x="2428017" y="254984"/>
                  </a:lnTo>
                  <a:lnTo>
                    <a:pt x="2413849" y="264576"/>
                  </a:lnTo>
                  <a:lnTo>
                    <a:pt x="2396490" y="268097"/>
                  </a:lnTo>
                  <a:lnTo>
                    <a:pt x="44703" y="268097"/>
                  </a:lnTo>
                  <a:lnTo>
                    <a:pt x="27324" y="264576"/>
                  </a:lnTo>
                  <a:lnTo>
                    <a:pt x="13112" y="254984"/>
                  </a:lnTo>
                  <a:lnTo>
                    <a:pt x="3520" y="240772"/>
                  </a:lnTo>
                  <a:lnTo>
                    <a:pt x="0" y="223392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09752" y="1657980"/>
              <a:ext cx="77364" cy="12546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250305" y="1672081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1397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8908" y="1722158"/>
              <a:ext cx="2537460" cy="36419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3624" y="1761680"/>
              <a:ext cx="1749552" cy="32010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029708" y="1749678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2396363" y="0"/>
                  </a:moveTo>
                  <a:lnTo>
                    <a:pt x="44576" y="0"/>
                  </a:lnTo>
                  <a:lnTo>
                    <a:pt x="27217" y="3520"/>
                  </a:lnTo>
                  <a:lnTo>
                    <a:pt x="13049" y="13112"/>
                  </a:lnTo>
                  <a:lnTo>
                    <a:pt x="3500" y="27324"/>
                  </a:lnTo>
                  <a:lnTo>
                    <a:pt x="0" y="44704"/>
                  </a:lnTo>
                  <a:lnTo>
                    <a:pt x="0" y="223393"/>
                  </a:lnTo>
                  <a:lnTo>
                    <a:pt x="3500" y="240825"/>
                  </a:lnTo>
                  <a:lnTo>
                    <a:pt x="13049" y="255031"/>
                  </a:lnTo>
                  <a:lnTo>
                    <a:pt x="27217" y="264594"/>
                  </a:lnTo>
                  <a:lnTo>
                    <a:pt x="44576" y="268097"/>
                  </a:lnTo>
                  <a:lnTo>
                    <a:pt x="2396363" y="268097"/>
                  </a:lnTo>
                  <a:lnTo>
                    <a:pt x="2413742" y="264594"/>
                  </a:lnTo>
                  <a:lnTo>
                    <a:pt x="2427954" y="255031"/>
                  </a:lnTo>
                  <a:lnTo>
                    <a:pt x="2437546" y="240825"/>
                  </a:lnTo>
                  <a:lnTo>
                    <a:pt x="2441066" y="223393"/>
                  </a:lnTo>
                  <a:lnTo>
                    <a:pt x="2441066" y="44704"/>
                  </a:lnTo>
                  <a:lnTo>
                    <a:pt x="2437546" y="27324"/>
                  </a:lnTo>
                  <a:lnTo>
                    <a:pt x="2427954" y="13112"/>
                  </a:lnTo>
                  <a:lnTo>
                    <a:pt x="2413742" y="3520"/>
                  </a:lnTo>
                  <a:lnTo>
                    <a:pt x="23963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29708" y="1749678"/>
              <a:ext cx="2441575" cy="268605"/>
            </a:xfrm>
            <a:custGeom>
              <a:avLst/>
              <a:gdLst/>
              <a:ahLst/>
              <a:cxnLst/>
              <a:rect l="l" t="t" r="r" b="b"/>
              <a:pathLst>
                <a:path w="2441575" h="268605">
                  <a:moveTo>
                    <a:pt x="0" y="44704"/>
                  </a:moveTo>
                  <a:lnTo>
                    <a:pt x="3500" y="27324"/>
                  </a:lnTo>
                  <a:lnTo>
                    <a:pt x="13049" y="13112"/>
                  </a:lnTo>
                  <a:lnTo>
                    <a:pt x="27217" y="3520"/>
                  </a:lnTo>
                  <a:lnTo>
                    <a:pt x="44576" y="0"/>
                  </a:lnTo>
                  <a:lnTo>
                    <a:pt x="2396363" y="0"/>
                  </a:lnTo>
                  <a:lnTo>
                    <a:pt x="2413742" y="3520"/>
                  </a:lnTo>
                  <a:lnTo>
                    <a:pt x="2427954" y="13112"/>
                  </a:lnTo>
                  <a:lnTo>
                    <a:pt x="2437546" y="27324"/>
                  </a:lnTo>
                  <a:lnTo>
                    <a:pt x="2441066" y="44704"/>
                  </a:lnTo>
                  <a:lnTo>
                    <a:pt x="2441066" y="223393"/>
                  </a:lnTo>
                  <a:lnTo>
                    <a:pt x="2437546" y="240825"/>
                  </a:lnTo>
                  <a:lnTo>
                    <a:pt x="2427954" y="255031"/>
                  </a:lnTo>
                  <a:lnTo>
                    <a:pt x="2413742" y="264594"/>
                  </a:lnTo>
                  <a:lnTo>
                    <a:pt x="2396363" y="268097"/>
                  </a:lnTo>
                  <a:lnTo>
                    <a:pt x="44576" y="268097"/>
                  </a:lnTo>
                  <a:lnTo>
                    <a:pt x="27217" y="264594"/>
                  </a:lnTo>
                  <a:lnTo>
                    <a:pt x="13049" y="255031"/>
                  </a:lnTo>
                  <a:lnTo>
                    <a:pt x="3500" y="240825"/>
                  </a:lnTo>
                  <a:lnTo>
                    <a:pt x="0" y="223393"/>
                  </a:lnTo>
                  <a:lnTo>
                    <a:pt x="0" y="44704"/>
                  </a:lnTo>
                  <a:close/>
                </a:path>
              </a:pathLst>
            </a:custGeom>
            <a:ln w="1524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175"/>
          <p:cNvSpPr txBox="1"/>
          <p:nvPr/>
        </p:nvSpPr>
        <p:spPr>
          <a:xfrm>
            <a:off x="5124958" y="1468627"/>
            <a:ext cx="22809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Trebuchet MS"/>
                <a:cs typeface="Trebuchet MS"/>
              </a:rPr>
              <a:t>Bilinear</a:t>
            </a:r>
            <a:r>
              <a:rPr sz="800" b="1" spc="-40" dirty="0">
                <a:latin typeface="Trebuchet MS"/>
                <a:cs typeface="Trebuchet MS"/>
              </a:rPr>
              <a:t> </a:t>
            </a:r>
            <a:r>
              <a:rPr sz="800" b="1" dirty="0">
                <a:latin typeface="Trebuchet MS"/>
                <a:cs typeface="Trebuchet MS"/>
              </a:rPr>
              <a:t>Resampling</a:t>
            </a:r>
            <a:r>
              <a:rPr sz="800" b="1" spc="-70" dirty="0">
                <a:latin typeface="Trebuchet MS"/>
                <a:cs typeface="Trebuchet MS"/>
              </a:rPr>
              <a:t> </a:t>
            </a:r>
            <a:r>
              <a:rPr sz="800" b="1" spc="-30" dirty="0">
                <a:latin typeface="Trebuchet MS"/>
                <a:cs typeface="Trebuchet MS"/>
              </a:rPr>
              <a:t>&amp;</a:t>
            </a:r>
            <a:r>
              <a:rPr sz="800" b="1" spc="-45" dirty="0">
                <a:latin typeface="Trebuchet MS"/>
                <a:cs typeface="Trebuchet MS"/>
              </a:rPr>
              <a:t> </a:t>
            </a:r>
            <a:r>
              <a:rPr sz="800" b="1" spc="-10" dirty="0">
                <a:latin typeface="Trebuchet MS"/>
                <a:cs typeface="Trebuchet MS"/>
              </a:rPr>
              <a:t>Radiometric</a:t>
            </a:r>
            <a:r>
              <a:rPr sz="800" b="1" spc="-40" dirty="0">
                <a:latin typeface="Trebuchet MS"/>
                <a:cs typeface="Trebuchet MS"/>
              </a:rPr>
              <a:t> </a:t>
            </a:r>
            <a:r>
              <a:rPr sz="800" b="1" spc="-10" dirty="0">
                <a:latin typeface="Trebuchet MS"/>
                <a:cs typeface="Trebuchet MS"/>
              </a:rPr>
              <a:t>Normaliz</a:t>
            </a:r>
            <a:r>
              <a:rPr sz="700" b="1" spc="-10" dirty="0">
                <a:latin typeface="Trebuchet MS"/>
                <a:cs typeface="Trebuchet MS"/>
              </a:rPr>
              <a:t>ation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472810" y="1793875"/>
            <a:ext cx="15570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Trebuchet MS"/>
                <a:cs typeface="Trebuchet MS"/>
              </a:rPr>
              <a:t>Rasterio</a:t>
            </a:r>
            <a:r>
              <a:rPr sz="900" b="1" spc="-60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Memory</a:t>
            </a:r>
            <a:r>
              <a:rPr sz="900" b="1" spc="-50" dirty="0">
                <a:latin typeface="Trebuchet MS"/>
                <a:cs typeface="Trebuchet MS"/>
              </a:rPr>
              <a:t> </a:t>
            </a:r>
            <a:r>
              <a:rPr sz="900" b="1" spc="-45" dirty="0">
                <a:latin typeface="Trebuchet MS"/>
                <a:cs typeface="Trebuchet MS"/>
              </a:rPr>
              <a:t>Tensor</a:t>
            </a:r>
            <a:r>
              <a:rPr sz="900" b="1" spc="-10" dirty="0">
                <a:latin typeface="Trebuchet MS"/>
                <a:cs typeface="Trebuchet MS"/>
              </a:rPr>
              <a:t> </a:t>
            </a:r>
            <a:r>
              <a:rPr sz="900" b="1" spc="-20" dirty="0">
                <a:latin typeface="Trebuchet MS"/>
                <a:cs typeface="Trebuchet MS"/>
              </a:rPr>
              <a:t>Pack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077967" y="1987359"/>
            <a:ext cx="2339340" cy="485140"/>
            <a:chOff x="5077967" y="1987359"/>
            <a:chExt cx="2339340" cy="485140"/>
          </a:xfrm>
        </p:grpSpPr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1155" y="1987359"/>
              <a:ext cx="94556" cy="2361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250177" y="2010156"/>
              <a:ext cx="0" cy="148590"/>
            </a:xfrm>
            <a:custGeom>
              <a:avLst/>
              <a:gdLst/>
              <a:ahLst/>
              <a:cxnLst/>
              <a:rect l="l" t="t" r="r" b="b"/>
              <a:pathLst>
                <a:path h="148589">
                  <a:moveTo>
                    <a:pt x="0" y="0"/>
                  </a:moveTo>
                  <a:lnTo>
                    <a:pt x="0" y="148209"/>
                  </a:lnTo>
                </a:path>
              </a:pathLst>
            </a:custGeom>
            <a:ln w="1397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77967" y="2107730"/>
              <a:ext cx="2339340" cy="36419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54751" y="2145753"/>
              <a:ext cx="1985772" cy="32160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128386" y="2134362"/>
              <a:ext cx="2244090" cy="268605"/>
            </a:xfrm>
            <a:custGeom>
              <a:avLst/>
              <a:gdLst/>
              <a:ahLst/>
              <a:cxnLst/>
              <a:rect l="l" t="t" r="r" b="b"/>
              <a:pathLst>
                <a:path w="2244090" h="268605">
                  <a:moveTo>
                    <a:pt x="2198878" y="0"/>
                  </a:moveTo>
                  <a:lnTo>
                    <a:pt x="44703" y="0"/>
                  </a:lnTo>
                  <a:lnTo>
                    <a:pt x="27324" y="3520"/>
                  </a:lnTo>
                  <a:lnTo>
                    <a:pt x="13112" y="13112"/>
                  </a:lnTo>
                  <a:lnTo>
                    <a:pt x="3520" y="27324"/>
                  </a:lnTo>
                  <a:lnTo>
                    <a:pt x="0" y="44703"/>
                  </a:lnTo>
                  <a:lnTo>
                    <a:pt x="0" y="223520"/>
                  </a:lnTo>
                  <a:lnTo>
                    <a:pt x="3520" y="240879"/>
                  </a:lnTo>
                  <a:lnTo>
                    <a:pt x="13112" y="255047"/>
                  </a:lnTo>
                  <a:lnTo>
                    <a:pt x="27324" y="264596"/>
                  </a:lnTo>
                  <a:lnTo>
                    <a:pt x="44703" y="268097"/>
                  </a:lnTo>
                  <a:lnTo>
                    <a:pt x="2198878" y="268097"/>
                  </a:lnTo>
                  <a:lnTo>
                    <a:pt x="2216310" y="264596"/>
                  </a:lnTo>
                  <a:lnTo>
                    <a:pt x="2230516" y="255047"/>
                  </a:lnTo>
                  <a:lnTo>
                    <a:pt x="2240079" y="240879"/>
                  </a:lnTo>
                  <a:lnTo>
                    <a:pt x="2243582" y="223520"/>
                  </a:lnTo>
                  <a:lnTo>
                    <a:pt x="2243582" y="44703"/>
                  </a:lnTo>
                  <a:lnTo>
                    <a:pt x="2240079" y="27324"/>
                  </a:lnTo>
                  <a:lnTo>
                    <a:pt x="2230516" y="13112"/>
                  </a:lnTo>
                  <a:lnTo>
                    <a:pt x="2216310" y="3520"/>
                  </a:lnTo>
                  <a:lnTo>
                    <a:pt x="2198878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128386" y="2134362"/>
              <a:ext cx="2244090" cy="268605"/>
            </a:xfrm>
            <a:custGeom>
              <a:avLst/>
              <a:gdLst/>
              <a:ahLst/>
              <a:cxnLst/>
              <a:rect l="l" t="t" r="r" b="b"/>
              <a:pathLst>
                <a:path w="2244090" h="268605">
                  <a:moveTo>
                    <a:pt x="0" y="44703"/>
                  </a:moveTo>
                  <a:lnTo>
                    <a:pt x="3520" y="27324"/>
                  </a:lnTo>
                  <a:lnTo>
                    <a:pt x="13112" y="13112"/>
                  </a:lnTo>
                  <a:lnTo>
                    <a:pt x="27324" y="3520"/>
                  </a:lnTo>
                  <a:lnTo>
                    <a:pt x="44703" y="0"/>
                  </a:lnTo>
                  <a:lnTo>
                    <a:pt x="2198878" y="0"/>
                  </a:lnTo>
                  <a:lnTo>
                    <a:pt x="2216310" y="3520"/>
                  </a:lnTo>
                  <a:lnTo>
                    <a:pt x="2230516" y="13112"/>
                  </a:lnTo>
                  <a:lnTo>
                    <a:pt x="2240079" y="27324"/>
                  </a:lnTo>
                  <a:lnTo>
                    <a:pt x="2243582" y="44703"/>
                  </a:lnTo>
                  <a:lnTo>
                    <a:pt x="2243582" y="223520"/>
                  </a:lnTo>
                  <a:lnTo>
                    <a:pt x="2240079" y="240879"/>
                  </a:lnTo>
                  <a:lnTo>
                    <a:pt x="2230516" y="255047"/>
                  </a:lnTo>
                  <a:lnTo>
                    <a:pt x="2216310" y="264596"/>
                  </a:lnTo>
                  <a:lnTo>
                    <a:pt x="2198878" y="268097"/>
                  </a:lnTo>
                  <a:lnTo>
                    <a:pt x="44703" y="268097"/>
                  </a:lnTo>
                  <a:lnTo>
                    <a:pt x="27324" y="264596"/>
                  </a:lnTo>
                  <a:lnTo>
                    <a:pt x="13112" y="255047"/>
                  </a:lnTo>
                  <a:lnTo>
                    <a:pt x="3520" y="240879"/>
                  </a:lnTo>
                  <a:lnTo>
                    <a:pt x="0" y="223520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353939" y="2178558"/>
            <a:ext cx="1791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Semantic</a:t>
            </a:r>
            <a:r>
              <a:rPr sz="900" b="1" spc="-35" dirty="0">
                <a:latin typeface="Trebuchet MS"/>
                <a:cs typeface="Trebuchet MS"/>
              </a:rPr>
              <a:t> Intent</a:t>
            </a:r>
            <a:r>
              <a:rPr sz="900" b="1" spc="-40" dirty="0">
                <a:latin typeface="Trebuchet MS"/>
                <a:cs typeface="Trebuchet MS"/>
              </a:rPr>
              <a:t> &amp;</a:t>
            </a:r>
            <a:r>
              <a:rPr sz="900" b="1" spc="-55" dirty="0">
                <a:latin typeface="Trebuchet MS"/>
                <a:cs typeface="Trebuchet MS"/>
              </a:rPr>
              <a:t> </a:t>
            </a:r>
            <a:r>
              <a:rPr sz="900" b="1" spc="-30" dirty="0">
                <a:latin typeface="Trebuchet MS"/>
                <a:cs typeface="Trebuchet MS"/>
              </a:rPr>
              <a:t>Keyword</a:t>
            </a:r>
            <a:r>
              <a:rPr sz="900" b="1" spc="-50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Parser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148071" y="2397264"/>
            <a:ext cx="2212975" cy="1092835"/>
            <a:chOff x="5148071" y="2397264"/>
            <a:chExt cx="2212975" cy="1092835"/>
          </a:xfrm>
        </p:grpSpPr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04203" y="2397264"/>
              <a:ext cx="94556" cy="16470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253987" y="2419350"/>
              <a:ext cx="0" cy="78105"/>
            </a:xfrm>
            <a:custGeom>
              <a:avLst/>
              <a:gdLst/>
              <a:ahLst/>
              <a:cxnLst/>
              <a:rect l="l" t="t" r="r" b="b"/>
              <a:pathLst>
                <a:path h="78105">
                  <a:moveTo>
                    <a:pt x="0" y="0"/>
                  </a:moveTo>
                  <a:lnTo>
                    <a:pt x="0" y="77597"/>
                  </a:lnTo>
                </a:path>
              </a:pathLst>
            </a:custGeom>
            <a:ln w="1397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05179" y="3053961"/>
              <a:ext cx="77364" cy="144956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246367" y="3066923"/>
              <a:ext cx="0" cy="85090"/>
            </a:xfrm>
            <a:custGeom>
              <a:avLst/>
              <a:gdLst/>
              <a:ahLst/>
              <a:cxnLst/>
              <a:rect l="l" t="t" r="r" b="b"/>
              <a:pathLst>
                <a:path h="85089">
                  <a:moveTo>
                    <a:pt x="0" y="0"/>
                  </a:moveTo>
                  <a:lnTo>
                    <a:pt x="0" y="84709"/>
                  </a:lnTo>
                </a:path>
              </a:pathLst>
            </a:custGeom>
            <a:ln w="1397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48071" y="3125762"/>
              <a:ext cx="2212848" cy="36419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23331" y="3165284"/>
              <a:ext cx="1860804" cy="32010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198617" y="3153663"/>
              <a:ext cx="2117090" cy="268605"/>
            </a:xfrm>
            <a:custGeom>
              <a:avLst/>
              <a:gdLst/>
              <a:ahLst/>
              <a:cxnLst/>
              <a:rect l="l" t="t" r="r" b="b"/>
              <a:pathLst>
                <a:path w="2117090" h="268604">
                  <a:moveTo>
                    <a:pt x="2071878" y="0"/>
                  </a:moveTo>
                  <a:lnTo>
                    <a:pt x="44704" y="0"/>
                  </a:lnTo>
                  <a:lnTo>
                    <a:pt x="27324" y="3520"/>
                  </a:lnTo>
                  <a:lnTo>
                    <a:pt x="13112" y="13112"/>
                  </a:lnTo>
                  <a:lnTo>
                    <a:pt x="3520" y="27324"/>
                  </a:lnTo>
                  <a:lnTo>
                    <a:pt x="0" y="44703"/>
                  </a:lnTo>
                  <a:lnTo>
                    <a:pt x="0" y="223393"/>
                  </a:lnTo>
                  <a:lnTo>
                    <a:pt x="3520" y="240825"/>
                  </a:lnTo>
                  <a:lnTo>
                    <a:pt x="13112" y="255031"/>
                  </a:lnTo>
                  <a:lnTo>
                    <a:pt x="27324" y="264594"/>
                  </a:lnTo>
                  <a:lnTo>
                    <a:pt x="44704" y="268097"/>
                  </a:lnTo>
                  <a:lnTo>
                    <a:pt x="2071878" y="268097"/>
                  </a:lnTo>
                  <a:lnTo>
                    <a:pt x="2089257" y="264594"/>
                  </a:lnTo>
                  <a:lnTo>
                    <a:pt x="2103469" y="255031"/>
                  </a:lnTo>
                  <a:lnTo>
                    <a:pt x="2113061" y="240825"/>
                  </a:lnTo>
                  <a:lnTo>
                    <a:pt x="2116582" y="223393"/>
                  </a:lnTo>
                  <a:lnTo>
                    <a:pt x="2116582" y="44703"/>
                  </a:lnTo>
                  <a:lnTo>
                    <a:pt x="2113061" y="27324"/>
                  </a:lnTo>
                  <a:lnTo>
                    <a:pt x="2103469" y="13112"/>
                  </a:lnTo>
                  <a:lnTo>
                    <a:pt x="2089257" y="3520"/>
                  </a:lnTo>
                  <a:lnTo>
                    <a:pt x="2071878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98617" y="3153663"/>
              <a:ext cx="2117090" cy="268605"/>
            </a:xfrm>
            <a:custGeom>
              <a:avLst/>
              <a:gdLst/>
              <a:ahLst/>
              <a:cxnLst/>
              <a:rect l="l" t="t" r="r" b="b"/>
              <a:pathLst>
                <a:path w="2117090" h="268604">
                  <a:moveTo>
                    <a:pt x="0" y="44703"/>
                  </a:moveTo>
                  <a:lnTo>
                    <a:pt x="3520" y="27324"/>
                  </a:lnTo>
                  <a:lnTo>
                    <a:pt x="13112" y="13112"/>
                  </a:lnTo>
                  <a:lnTo>
                    <a:pt x="27324" y="3520"/>
                  </a:lnTo>
                  <a:lnTo>
                    <a:pt x="44704" y="0"/>
                  </a:lnTo>
                  <a:lnTo>
                    <a:pt x="2071878" y="0"/>
                  </a:lnTo>
                  <a:lnTo>
                    <a:pt x="2089257" y="3520"/>
                  </a:lnTo>
                  <a:lnTo>
                    <a:pt x="2103469" y="13112"/>
                  </a:lnTo>
                  <a:lnTo>
                    <a:pt x="2113061" y="27324"/>
                  </a:lnTo>
                  <a:lnTo>
                    <a:pt x="2116582" y="44703"/>
                  </a:lnTo>
                  <a:lnTo>
                    <a:pt x="2116582" y="223393"/>
                  </a:lnTo>
                  <a:lnTo>
                    <a:pt x="2113061" y="240825"/>
                  </a:lnTo>
                  <a:lnTo>
                    <a:pt x="2103469" y="255031"/>
                  </a:lnTo>
                  <a:lnTo>
                    <a:pt x="2089257" y="264594"/>
                  </a:lnTo>
                  <a:lnTo>
                    <a:pt x="2071878" y="268097"/>
                  </a:lnTo>
                  <a:lnTo>
                    <a:pt x="44704" y="268097"/>
                  </a:lnTo>
                  <a:lnTo>
                    <a:pt x="27324" y="264594"/>
                  </a:lnTo>
                  <a:lnTo>
                    <a:pt x="13112" y="255031"/>
                  </a:lnTo>
                  <a:lnTo>
                    <a:pt x="3520" y="240825"/>
                  </a:lnTo>
                  <a:lnTo>
                    <a:pt x="0" y="223393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5472684" y="2477998"/>
            <a:ext cx="1518285" cy="695325"/>
            <a:chOff x="5472684" y="2477998"/>
            <a:chExt cx="1518285" cy="695325"/>
          </a:xfrm>
        </p:grpSpPr>
        <p:pic>
          <p:nvPicPr>
            <p:cNvPr id="96" name="object 9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72684" y="2488717"/>
              <a:ext cx="1517904" cy="64767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02452" y="2477998"/>
              <a:ext cx="675106" cy="69496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523484" y="2516631"/>
              <a:ext cx="1420495" cy="550545"/>
            </a:xfrm>
            <a:custGeom>
              <a:avLst/>
              <a:gdLst/>
              <a:ahLst/>
              <a:cxnLst/>
              <a:rect l="l" t="t" r="r" b="b"/>
              <a:pathLst>
                <a:path w="1420495" h="550544">
                  <a:moveTo>
                    <a:pt x="710183" y="0"/>
                  </a:moveTo>
                  <a:lnTo>
                    <a:pt x="0" y="275208"/>
                  </a:lnTo>
                  <a:lnTo>
                    <a:pt x="710183" y="550290"/>
                  </a:lnTo>
                  <a:lnTo>
                    <a:pt x="1420367" y="275208"/>
                  </a:lnTo>
                  <a:lnTo>
                    <a:pt x="710183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523484" y="2516631"/>
              <a:ext cx="1420495" cy="550545"/>
            </a:xfrm>
            <a:custGeom>
              <a:avLst/>
              <a:gdLst/>
              <a:ahLst/>
              <a:cxnLst/>
              <a:rect l="l" t="t" r="r" b="b"/>
              <a:pathLst>
                <a:path w="1420495" h="550544">
                  <a:moveTo>
                    <a:pt x="0" y="275208"/>
                  </a:moveTo>
                  <a:lnTo>
                    <a:pt x="710183" y="0"/>
                  </a:lnTo>
                  <a:lnTo>
                    <a:pt x="1420367" y="275208"/>
                  </a:lnTo>
                  <a:lnTo>
                    <a:pt x="710183" y="550290"/>
                  </a:lnTo>
                  <a:lnTo>
                    <a:pt x="0" y="275208"/>
                  </a:lnTo>
                  <a:close/>
                </a:path>
              </a:pathLst>
            </a:custGeom>
            <a:ln w="17780">
              <a:solidFill>
                <a:srgbClr val="FFCD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5987288" y="2506725"/>
            <a:ext cx="49530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 marR="37465" indent="-1270" algn="ctr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Trebuchet MS"/>
                <a:cs typeface="Trebuchet MS"/>
              </a:rPr>
              <a:t>Cloud Screening </a:t>
            </a:r>
            <a:r>
              <a:rPr sz="700" b="1" spc="-20" dirty="0">
                <a:latin typeface="Trebuchet MS"/>
                <a:cs typeface="Trebuchet MS"/>
              </a:rPr>
              <a:t>Gate</a:t>
            </a:r>
            <a:endParaRPr sz="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700" b="1" spc="-25" dirty="0">
                <a:latin typeface="Trebuchet MS"/>
                <a:cs typeface="Trebuchet MS"/>
              </a:rPr>
              <a:t>(Coverage</a:t>
            </a:r>
            <a:r>
              <a:rPr sz="700" b="1" spc="5" dirty="0">
                <a:latin typeface="Trebuchet MS"/>
                <a:cs typeface="Trebuchet MS"/>
              </a:rPr>
              <a:t> </a:t>
            </a:r>
            <a:r>
              <a:rPr sz="700" b="1" spc="-50" dirty="0">
                <a:latin typeface="Trebuchet MS"/>
                <a:cs typeface="Trebuchet MS"/>
              </a:rPr>
              <a:t>&gt;</a:t>
            </a:r>
            <a:endParaRPr sz="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700" b="1" spc="-10" dirty="0">
                <a:latin typeface="Trebuchet MS"/>
                <a:cs typeface="Trebuchet MS"/>
              </a:rPr>
              <a:t>15%?)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423404" y="2190013"/>
            <a:ext cx="2444750" cy="824865"/>
            <a:chOff x="7423404" y="2190013"/>
            <a:chExt cx="2444750" cy="824865"/>
          </a:xfrm>
        </p:grpSpPr>
        <p:pic>
          <p:nvPicPr>
            <p:cNvPr id="102" name="object 10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773412" y="2190013"/>
              <a:ext cx="94556" cy="48308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822434" y="2266061"/>
              <a:ext cx="0" cy="341630"/>
            </a:xfrm>
            <a:custGeom>
              <a:avLst/>
              <a:gdLst/>
              <a:ahLst/>
              <a:cxnLst/>
              <a:rect l="l" t="t" r="r" b="b"/>
              <a:pathLst>
                <a:path h="341630">
                  <a:moveTo>
                    <a:pt x="0" y="0"/>
                  </a:moveTo>
                  <a:lnTo>
                    <a:pt x="0" y="341629"/>
                  </a:lnTo>
                </a:path>
              </a:pathLst>
            </a:custGeom>
            <a:ln w="13969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815449" y="221659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69" y="0"/>
                  </a:lnTo>
                </a:path>
              </a:pathLst>
            </a:custGeom>
            <a:ln w="7494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23404" y="2580132"/>
              <a:ext cx="1005865" cy="434339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499604" y="2642590"/>
              <a:ext cx="853452" cy="332257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7473061" y="2607691"/>
              <a:ext cx="911225" cy="339090"/>
            </a:xfrm>
            <a:custGeom>
              <a:avLst/>
              <a:gdLst/>
              <a:ahLst/>
              <a:cxnLst/>
              <a:rect l="l" t="t" r="r" b="b"/>
              <a:pathLst>
                <a:path w="911225" h="339089">
                  <a:moveTo>
                    <a:pt x="854456" y="0"/>
                  </a:moveTo>
                  <a:lnTo>
                    <a:pt x="56388" y="0"/>
                  </a:lnTo>
                  <a:lnTo>
                    <a:pt x="34450" y="4437"/>
                  </a:lnTo>
                  <a:lnTo>
                    <a:pt x="16525" y="16541"/>
                  </a:lnTo>
                  <a:lnTo>
                    <a:pt x="4435" y="34504"/>
                  </a:lnTo>
                  <a:lnTo>
                    <a:pt x="0" y="56514"/>
                  </a:lnTo>
                  <a:lnTo>
                    <a:pt x="0" y="282194"/>
                  </a:lnTo>
                  <a:lnTo>
                    <a:pt x="4435" y="304204"/>
                  </a:lnTo>
                  <a:lnTo>
                    <a:pt x="16525" y="322167"/>
                  </a:lnTo>
                  <a:lnTo>
                    <a:pt x="34450" y="334271"/>
                  </a:lnTo>
                  <a:lnTo>
                    <a:pt x="56388" y="338709"/>
                  </a:lnTo>
                  <a:lnTo>
                    <a:pt x="854456" y="338709"/>
                  </a:lnTo>
                  <a:lnTo>
                    <a:pt x="876466" y="334271"/>
                  </a:lnTo>
                  <a:lnTo>
                    <a:pt x="894429" y="322167"/>
                  </a:lnTo>
                  <a:lnTo>
                    <a:pt x="906533" y="304204"/>
                  </a:lnTo>
                  <a:lnTo>
                    <a:pt x="910971" y="282194"/>
                  </a:lnTo>
                  <a:lnTo>
                    <a:pt x="910971" y="56514"/>
                  </a:lnTo>
                  <a:lnTo>
                    <a:pt x="906533" y="34504"/>
                  </a:lnTo>
                  <a:lnTo>
                    <a:pt x="894429" y="16541"/>
                  </a:lnTo>
                  <a:lnTo>
                    <a:pt x="876466" y="4437"/>
                  </a:lnTo>
                  <a:lnTo>
                    <a:pt x="854456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473061" y="2607691"/>
              <a:ext cx="911225" cy="339090"/>
            </a:xfrm>
            <a:custGeom>
              <a:avLst/>
              <a:gdLst/>
              <a:ahLst/>
              <a:cxnLst/>
              <a:rect l="l" t="t" r="r" b="b"/>
              <a:pathLst>
                <a:path w="911225" h="339089">
                  <a:moveTo>
                    <a:pt x="0" y="56514"/>
                  </a:moveTo>
                  <a:lnTo>
                    <a:pt x="4435" y="34504"/>
                  </a:lnTo>
                  <a:lnTo>
                    <a:pt x="16525" y="16541"/>
                  </a:lnTo>
                  <a:lnTo>
                    <a:pt x="34450" y="4437"/>
                  </a:lnTo>
                  <a:lnTo>
                    <a:pt x="56388" y="0"/>
                  </a:lnTo>
                  <a:lnTo>
                    <a:pt x="854456" y="0"/>
                  </a:lnTo>
                  <a:lnTo>
                    <a:pt x="876466" y="4437"/>
                  </a:lnTo>
                  <a:lnTo>
                    <a:pt x="894429" y="16541"/>
                  </a:lnTo>
                  <a:lnTo>
                    <a:pt x="906533" y="34504"/>
                  </a:lnTo>
                  <a:lnTo>
                    <a:pt x="910971" y="56514"/>
                  </a:lnTo>
                  <a:lnTo>
                    <a:pt x="910971" y="282194"/>
                  </a:lnTo>
                  <a:lnTo>
                    <a:pt x="906533" y="304204"/>
                  </a:lnTo>
                  <a:lnTo>
                    <a:pt x="894429" y="322167"/>
                  </a:lnTo>
                  <a:lnTo>
                    <a:pt x="876466" y="334271"/>
                  </a:lnTo>
                  <a:lnTo>
                    <a:pt x="854456" y="338709"/>
                  </a:lnTo>
                  <a:lnTo>
                    <a:pt x="56388" y="338709"/>
                  </a:lnTo>
                  <a:lnTo>
                    <a:pt x="34450" y="334271"/>
                  </a:lnTo>
                  <a:lnTo>
                    <a:pt x="16525" y="322167"/>
                  </a:lnTo>
                  <a:lnTo>
                    <a:pt x="4435" y="304204"/>
                  </a:lnTo>
                  <a:lnTo>
                    <a:pt x="0" y="282194"/>
                  </a:lnTo>
                  <a:lnTo>
                    <a:pt x="0" y="56514"/>
                  </a:lnTo>
                  <a:close/>
                </a:path>
              </a:pathLst>
            </a:custGeom>
            <a:ln w="1524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7575931" y="2589022"/>
            <a:ext cx="706755" cy="2870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645">
              <a:lnSpc>
                <a:spcPts val="625"/>
              </a:lnSpc>
              <a:spcBef>
                <a:spcPts val="125"/>
              </a:spcBef>
            </a:pPr>
            <a:r>
              <a:rPr sz="550" b="1" spc="10" dirty="0">
                <a:solidFill>
                  <a:srgbClr val="EB6918"/>
                </a:solidFill>
                <a:latin typeface="Trebuchet MS"/>
                <a:cs typeface="Trebuchet MS"/>
              </a:rPr>
              <a:t>PHASE</a:t>
            </a:r>
            <a:r>
              <a:rPr sz="550" b="1" spc="55" dirty="0">
                <a:solidFill>
                  <a:srgbClr val="EB6918"/>
                </a:solidFill>
                <a:latin typeface="Trebuchet MS"/>
                <a:cs typeface="Trebuchet MS"/>
              </a:rPr>
              <a:t> </a:t>
            </a:r>
            <a:r>
              <a:rPr sz="550" b="1" spc="-50" dirty="0">
                <a:solidFill>
                  <a:srgbClr val="EB6918"/>
                </a:solidFill>
                <a:latin typeface="Trebuchet MS"/>
                <a:cs typeface="Trebuchet MS"/>
              </a:rPr>
              <a:t>3</a:t>
            </a:r>
            <a:endParaRPr sz="550">
              <a:latin typeface="Trebuchet MS"/>
              <a:cs typeface="Trebuchet MS"/>
            </a:endParaRPr>
          </a:p>
          <a:p>
            <a:pPr marL="82550">
              <a:lnSpc>
                <a:spcPts val="685"/>
              </a:lnSpc>
            </a:pPr>
            <a:r>
              <a:rPr sz="600" b="1" spc="-10" dirty="0">
                <a:latin typeface="Trebuchet MS"/>
                <a:cs typeface="Trebuchet MS"/>
              </a:rPr>
              <a:t>Spectral</a:t>
            </a:r>
            <a:r>
              <a:rPr sz="600" b="1" spc="-55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Engine</a:t>
            </a:r>
            <a:endParaRPr sz="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600" b="1" spc="-10" dirty="0">
                <a:latin typeface="Trebuchet MS"/>
                <a:cs typeface="Trebuchet MS"/>
              </a:rPr>
              <a:t>(NDVI,</a:t>
            </a:r>
            <a:r>
              <a:rPr sz="600" b="1" spc="-35" dirty="0">
                <a:latin typeface="Trebuchet MS"/>
                <a:cs typeface="Trebuchet MS"/>
              </a:rPr>
              <a:t> </a:t>
            </a:r>
            <a:r>
              <a:rPr sz="600" b="1" dirty="0">
                <a:latin typeface="Trebuchet MS"/>
                <a:cs typeface="Trebuchet MS"/>
              </a:rPr>
              <a:t>NDWI,</a:t>
            </a:r>
            <a:r>
              <a:rPr sz="600" b="1" spc="-10" dirty="0">
                <a:latin typeface="Trebuchet MS"/>
                <a:cs typeface="Trebuchet MS"/>
              </a:rPr>
              <a:t> NDBI)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8414004" y="2580132"/>
            <a:ext cx="943610" cy="434340"/>
            <a:chOff x="8414004" y="2580132"/>
            <a:chExt cx="943610" cy="434340"/>
          </a:xfrm>
        </p:grpSpPr>
        <p:pic>
          <p:nvPicPr>
            <p:cNvPr id="111" name="object 1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14004" y="2580132"/>
              <a:ext cx="943368" cy="434339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484108" y="2642590"/>
              <a:ext cx="801611" cy="33225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8464677" y="2607691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790194" y="0"/>
                  </a:moveTo>
                  <a:lnTo>
                    <a:pt x="56515" y="0"/>
                  </a:lnTo>
                  <a:lnTo>
                    <a:pt x="34504" y="4437"/>
                  </a:lnTo>
                  <a:lnTo>
                    <a:pt x="16541" y="16541"/>
                  </a:lnTo>
                  <a:lnTo>
                    <a:pt x="4437" y="34504"/>
                  </a:lnTo>
                  <a:lnTo>
                    <a:pt x="0" y="56514"/>
                  </a:lnTo>
                  <a:lnTo>
                    <a:pt x="0" y="282194"/>
                  </a:lnTo>
                  <a:lnTo>
                    <a:pt x="4437" y="304204"/>
                  </a:lnTo>
                  <a:lnTo>
                    <a:pt x="16541" y="322167"/>
                  </a:lnTo>
                  <a:lnTo>
                    <a:pt x="34504" y="334271"/>
                  </a:lnTo>
                  <a:lnTo>
                    <a:pt x="56515" y="338709"/>
                  </a:lnTo>
                  <a:lnTo>
                    <a:pt x="790194" y="338709"/>
                  </a:lnTo>
                  <a:lnTo>
                    <a:pt x="812204" y="334271"/>
                  </a:lnTo>
                  <a:lnTo>
                    <a:pt x="830167" y="322167"/>
                  </a:lnTo>
                  <a:lnTo>
                    <a:pt x="842271" y="304204"/>
                  </a:lnTo>
                  <a:lnTo>
                    <a:pt x="846708" y="282194"/>
                  </a:lnTo>
                  <a:lnTo>
                    <a:pt x="846708" y="56514"/>
                  </a:lnTo>
                  <a:lnTo>
                    <a:pt x="842271" y="34504"/>
                  </a:lnTo>
                  <a:lnTo>
                    <a:pt x="830167" y="16541"/>
                  </a:lnTo>
                  <a:lnTo>
                    <a:pt x="812204" y="4437"/>
                  </a:lnTo>
                  <a:lnTo>
                    <a:pt x="790194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464677" y="2607691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0" y="56514"/>
                  </a:moveTo>
                  <a:lnTo>
                    <a:pt x="4437" y="34504"/>
                  </a:lnTo>
                  <a:lnTo>
                    <a:pt x="16541" y="16541"/>
                  </a:lnTo>
                  <a:lnTo>
                    <a:pt x="34504" y="4437"/>
                  </a:lnTo>
                  <a:lnTo>
                    <a:pt x="56515" y="0"/>
                  </a:lnTo>
                  <a:lnTo>
                    <a:pt x="790194" y="0"/>
                  </a:lnTo>
                  <a:lnTo>
                    <a:pt x="812204" y="4437"/>
                  </a:lnTo>
                  <a:lnTo>
                    <a:pt x="830167" y="16541"/>
                  </a:lnTo>
                  <a:lnTo>
                    <a:pt x="842271" y="34504"/>
                  </a:lnTo>
                  <a:lnTo>
                    <a:pt x="846708" y="56514"/>
                  </a:lnTo>
                  <a:lnTo>
                    <a:pt x="846708" y="282194"/>
                  </a:lnTo>
                  <a:lnTo>
                    <a:pt x="842271" y="304204"/>
                  </a:lnTo>
                  <a:lnTo>
                    <a:pt x="830167" y="322167"/>
                  </a:lnTo>
                  <a:lnTo>
                    <a:pt x="812204" y="334271"/>
                  </a:lnTo>
                  <a:lnTo>
                    <a:pt x="790194" y="338709"/>
                  </a:lnTo>
                  <a:lnTo>
                    <a:pt x="56515" y="338709"/>
                  </a:lnTo>
                  <a:lnTo>
                    <a:pt x="34504" y="334271"/>
                  </a:lnTo>
                  <a:lnTo>
                    <a:pt x="16541" y="322167"/>
                  </a:lnTo>
                  <a:lnTo>
                    <a:pt x="4437" y="304204"/>
                  </a:lnTo>
                  <a:lnTo>
                    <a:pt x="0" y="282194"/>
                  </a:lnTo>
                  <a:lnTo>
                    <a:pt x="0" y="56514"/>
                  </a:lnTo>
                  <a:close/>
                </a:path>
              </a:pathLst>
            </a:custGeom>
            <a:ln w="1524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8561323" y="2667380"/>
            <a:ext cx="654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latin typeface="Trebuchet MS"/>
                <a:cs typeface="Trebuchet MS"/>
              </a:rPr>
              <a:t>RS-</a:t>
            </a:r>
            <a:r>
              <a:rPr sz="600" b="1" spc="-10" dirty="0">
                <a:latin typeface="Trebuchet MS"/>
                <a:cs typeface="Trebuchet MS"/>
              </a:rPr>
              <a:t>VQA</a:t>
            </a:r>
            <a:r>
              <a:rPr sz="600" b="1" spc="-35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Specialist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(VRSBench</a:t>
            </a:r>
            <a:r>
              <a:rPr sz="600" b="1" spc="-35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/</a:t>
            </a:r>
            <a:r>
              <a:rPr sz="600" b="1" spc="5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CLIP)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9342119" y="2580132"/>
            <a:ext cx="942340" cy="440690"/>
            <a:chOff x="9342119" y="2580132"/>
            <a:chExt cx="942340" cy="440690"/>
          </a:xfrm>
        </p:grpSpPr>
        <p:pic>
          <p:nvPicPr>
            <p:cNvPr id="117" name="object 11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342119" y="2580132"/>
              <a:ext cx="941857" cy="434339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465563" y="2596883"/>
              <a:ext cx="694969" cy="42368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392030" y="2607691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790194" y="0"/>
                  </a:moveTo>
                  <a:lnTo>
                    <a:pt x="56515" y="0"/>
                  </a:lnTo>
                  <a:lnTo>
                    <a:pt x="34504" y="4437"/>
                  </a:lnTo>
                  <a:lnTo>
                    <a:pt x="16541" y="16541"/>
                  </a:lnTo>
                  <a:lnTo>
                    <a:pt x="4437" y="34504"/>
                  </a:lnTo>
                  <a:lnTo>
                    <a:pt x="0" y="56514"/>
                  </a:lnTo>
                  <a:lnTo>
                    <a:pt x="0" y="282194"/>
                  </a:lnTo>
                  <a:lnTo>
                    <a:pt x="4437" y="304204"/>
                  </a:lnTo>
                  <a:lnTo>
                    <a:pt x="16541" y="322167"/>
                  </a:lnTo>
                  <a:lnTo>
                    <a:pt x="34504" y="334271"/>
                  </a:lnTo>
                  <a:lnTo>
                    <a:pt x="56515" y="338709"/>
                  </a:lnTo>
                  <a:lnTo>
                    <a:pt x="790194" y="338709"/>
                  </a:lnTo>
                  <a:lnTo>
                    <a:pt x="812204" y="334271"/>
                  </a:lnTo>
                  <a:lnTo>
                    <a:pt x="830167" y="322167"/>
                  </a:lnTo>
                  <a:lnTo>
                    <a:pt x="842271" y="304204"/>
                  </a:lnTo>
                  <a:lnTo>
                    <a:pt x="846709" y="282194"/>
                  </a:lnTo>
                  <a:lnTo>
                    <a:pt x="846709" y="56514"/>
                  </a:lnTo>
                  <a:lnTo>
                    <a:pt x="842271" y="34504"/>
                  </a:lnTo>
                  <a:lnTo>
                    <a:pt x="830167" y="16541"/>
                  </a:lnTo>
                  <a:lnTo>
                    <a:pt x="812204" y="4437"/>
                  </a:lnTo>
                  <a:lnTo>
                    <a:pt x="790194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392030" y="2607691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0" y="56514"/>
                  </a:moveTo>
                  <a:lnTo>
                    <a:pt x="4437" y="34504"/>
                  </a:lnTo>
                  <a:lnTo>
                    <a:pt x="16541" y="16541"/>
                  </a:lnTo>
                  <a:lnTo>
                    <a:pt x="34504" y="4437"/>
                  </a:lnTo>
                  <a:lnTo>
                    <a:pt x="56515" y="0"/>
                  </a:lnTo>
                  <a:lnTo>
                    <a:pt x="790194" y="0"/>
                  </a:lnTo>
                  <a:lnTo>
                    <a:pt x="812204" y="4437"/>
                  </a:lnTo>
                  <a:lnTo>
                    <a:pt x="830167" y="16541"/>
                  </a:lnTo>
                  <a:lnTo>
                    <a:pt x="842271" y="34504"/>
                  </a:lnTo>
                  <a:lnTo>
                    <a:pt x="846709" y="56514"/>
                  </a:lnTo>
                  <a:lnTo>
                    <a:pt x="846709" y="282194"/>
                  </a:lnTo>
                  <a:lnTo>
                    <a:pt x="842271" y="304204"/>
                  </a:lnTo>
                  <a:lnTo>
                    <a:pt x="830167" y="322167"/>
                  </a:lnTo>
                  <a:lnTo>
                    <a:pt x="812204" y="334271"/>
                  </a:lnTo>
                  <a:lnTo>
                    <a:pt x="790194" y="338709"/>
                  </a:lnTo>
                  <a:lnTo>
                    <a:pt x="56515" y="338709"/>
                  </a:lnTo>
                  <a:lnTo>
                    <a:pt x="34504" y="334271"/>
                  </a:lnTo>
                  <a:lnTo>
                    <a:pt x="16541" y="322167"/>
                  </a:lnTo>
                  <a:lnTo>
                    <a:pt x="4437" y="304204"/>
                  </a:lnTo>
                  <a:lnTo>
                    <a:pt x="0" y="282194"/>
                  </a:lnTo>
                  <a:lnTo>
                    <a:pt x="0" y="56514"/>
                  </a:lnTo>
                  <a:close/>
                </a:path>
              </a:pathLst>
            </a:custGeom>
            <a:ln w="1524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9542144" y="2621660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marR="57785" indent="-40005">
              <a:lnSpc>
                <a:spcPct val="100000"/>
              </a:lnSpc>
              <a:spcBef>
                <a:spcPts val="100"/>
              </a:spcBef>
            </a:pPr>
            <a:r>
              <a:rPr sz="600" b="1" spc="-20" dirty="0">
                <a:latin typeface="Trebuchet MS"/>
                <a:cs typeface="Trebuchet MS"/>
              </a:rPr>
              <a:t>Bi-</a:t>
            </a:r>
            <a:r>
              <a:rPr sz="600" b="1" spc="-30" dirty="0">
                <a:latin typeface="Trebuchet MS"/>
                <a:cs typeface="Trebuchet MS"/>
              </a:rPr>
              <a:t>Temporal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LEVIR-</a:t>
            </a:r>
            <a:r>
              <a:rPr sz="600" b="1" spc="-25" dirty="0">
                <a:latin typeface="Trebuchet MS"/>
                <a:cs typeface="Trebuchet MS"/>
              </a:rPr>
              <a:t>CD</a:t>
            </a:r>
            <a:endParaRPr sz="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600" b="1" spc="-10" dirty="0">
                <a:latin typeface="Trebuchet MS"/>
                <a:cs typeface="Trebuchet MS"/>
              </a:rPr>
              <a:t>(Siamese</a:t>
            </a:r>
            <a:r>
              <a:rPr sz="600" b="1" dirty="0">
                <a:latin typeface="Trebuchet MS"/>
                <a:cs typeface="Trebuchet MS"/>
              </a:rPr>
              <a:t> </a:t>
            </a:r>
            <a:r>
              <a:rPr sz="600" b="1" spc="-20" dirty="0">
                <a:latin typeface="Trebuchet MS"/>
                <a:cs typeface="Trebuchet MS"/>
              </a:rPr>
              <a:t>CNN)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10271759" y="2580132"/>
            <a:ext cx="986155" cy="440690"/>
            <a:chOff x="10271759" y="2580132"/>
            <a:chExt cx="986155" cy="440690"/>
          </a:xfrm>
        </p:grpSpPr>
        <p:pic>
          <p:nvPicPr>
            <p:cNvPr id="123" name="object 1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271759" y="2580132"/>
              <a:ext cx="986015" cy="43433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69295" y="2596883"/>
              <a:ext cx="806208" cy="423684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0321416" y="2607691"/>
              <a:ext cx="890269" cy="339090"/>
            </a:xfrm>
            <a:custGeom>
              <a:avLst/>
              <a:gdLst/>
              <a:ahLst/>
              <a:cxnLst/>
              <a:rect l="l" t="t" r="r" b="b"/>
              <a:pathLst>
                <a:path w="890270" h="339089">
                  <a:moveTo>
                    <a:pt x="833754" y="0"/>
                  </a:moveTo>
                  <a:lnTo>
                    <a:pt x="56387" y="0"/>
                  </a:lnTo>
                  <a:lnTo>
                    <a:pt x="34450" y="4437"/>
                  </a:lnTo>
                  <a:lnTo>
                    <a:pt x="16525" y="16541"/>
                  </a:lnTo>
                  <a:lnTo>
                    <a:pt x="4435" y="34504"/>
                  </a:lnTo>
                  <a:lnTo>
                    <a:pt x="0" y="56514"/>
                  </a:lnTo>
                  <a:lnTo>
                    <a:pt x="0" y="282194"/>
                  </a:lnTo>
                  <a:lnTo>
                    <a:pt x="4435" y="304204"/>
                  </a:lnTo>
                  <a:lnTo>
                    <a:pt x="16525" y="322167"/>
                  </a:lnTo>
                  <a:lnTo>
                    <a:pt x="34450" y="334271"/>
                  </a:lnTo>
                  <a:lnTo>
                    <a:pt x="56387" y="338709"/>
                  </a:lnTo>
                  <a:lnTo>
                    <a:pt x="833754" y="338709"/>
                  </a:lnTo>
                  <a:lnTo>
                    <a:pt x="855692" y="334271"/>
                  </a:lnTo>
                  <a:lnTo>
                    <a:pt x="873617" y="322167"/>
                  </a:lnTo>
                  <a:lnTo>
                    <a:pt x="885707" y="304204"/>
                  </a:lnTo>
                  <a:lnTo>
                    <a:pt x="890142" y="282194"/>
                  </a:lnTo>
                  <a:lnTo>
                    <a:pt x="890142" y="56514"/>
                  </a:lnTo>
                  <a:lnTo>
                    <a:pt x="885707" y="34504"/>
                  </a:lnTo>
                  <a:lnTo>
                    <a:pt x="873617" y="16541"/>
                  </a:lnTo>
                  <a:lnTo>
                    <a:pt x="855692" y="4437"/>
                  </a:lnTo>
                  <a:lnTo>
                    <a:pt x="833754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321416" y="2607691"/>
              <a:ext cx="890269" cy="339090"/>
            </a:xfrm>
            <a:custGeom>
              <a:avLst/>
              <a:gdLst/>
              <a:ahLst/>
              <a:cxnLst/>
              <a:rect l="l" t="t" r="r" b="b"/>
              <a:pathLst>
                <a:path w="890270" h="339089">
                  <a:moveTo>
                    <a:pt x="0" y="56514"/>
                  </a:moveTo>
                  <a:lnTo>
                    <a:pt x="4435" y="34504"/>
                  </a:lnTo>
                  <a:lnTo>
                    <a:pt x="16525" y="16541"/>
                  </a:lnTo>
                  <a:lnTo>
                    <a:pt x="34450" y="4437"/>
                  </a:lnTo>
                  <a:lnTo>
                    <a:pt x="56387" y="0"/>
                  </a:lnTo>
                  <a:lnTo>
                    <a:pt x="833754" y="0"/>
                  </a:lnTo>
                  <a:lnTo>
                    <a:pt x="855692" y="4437"/>
                  </a:lnTo>
                  <a:lnTo>
                    <a:pt x="873617" y="16541"/>
                  </a:lnTo>
                  <a:lnTo>
                    <a:pt x="885707" y="34504"/>
                  </a:lnTo>
                  <a:lnTo>
                    <a:pt x="890142" y="56514"/>
                  </a:lnTo>
                  <a:lnTo>
                    <a:pt x="890142" y="282194"/>
                  </a:lnTo>
                  <a:lnTo>
                    <a:pt x="885707" y="304204"/>
                  </a:lnTo>
                  <a:lnTo>
                    <a:pt x="873617" y="322167"/>
                  </a:lnTo>
                  <a:lnTo>
                    <a:pt x="855692" y="334271"/>
                  </a:lnTo>
                  <a:lnTo>
                    <a:pt x="833754" y="338709"/>
                  </a:lnTo>
                  <a:lnTo>
                    <a:pt x="56387" y="338709"/>
                  </a:lnTo>
                  <a:lnTo>
                    <a:pt x="34450" y="334271"/>
                  </a:lnTo>
                  <a:lnTo>
                    <a:pt x="16525" y="322167"/>
                  </a:lnTo>
                  <a:lnTo>
                    <a:pt x="4435" y="304204"/>
                  </a:lnTo>
                  <a:lnTo>
                    <a:pt x="0" y="282194"/>
                  </a:lnTo>
                  <a:lnTo>
                    <a:pt x="0" y="56514"/>
                  </a:lnTo>
                  <a:close/>
                </a:path>
              </a:pathLst>
            </a:custGeom>
            <a:ln w="1524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10445877" y="2621660"/>
            <a:ext cx="641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latin typeface="Trebuchet MS"/>
                <a:cs typeface="Trebuchet MS"/>
              </a:rPr>
              <a:t>Region Grounding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25" dirty="0">
                <a:latin typeface="Trebuchet MS"/>
                <a:cs typeface="Trebuchet MS"/>
              </a:rPr>
              <a:t>ViT</a:t>
            </a:r>
            <a:endParaRPr sz="6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600" b="1" spc="-10" dirty="0">
                <a:latin typeface="Trebuchet MS"/>
                <a:cs typeface="Trebuchet MS"/>
              </a:rPr>
              <a:t>(Bounding</a:t>
            </a:r>
            <a:r>
              <a:rPr sz="600" b="1" spc="-50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Boxes</a:t>
            </a:r>
            <a:r>
              <a:rPr sz="600" b="1" spc="-10" dirty="0">
                <a:solidFill>
                  <a:srgbClr val="0D0D0D"/>
                </a:solidFill>
                <a:latin typeface="Trebuchet MS"/>
                <a:cs typeface="Trebuchet MS"/>
              </a:rPr>
              <a:t>)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22772" y="3198114"/>
            <a:ext cx="1667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C-</a:t>
            </a:r>
            <a:r>
              <a:rPr sz="900" b="1" spc="-10" dirty="0">
                <a:latin typeface="Trebuchet MS"/>
                <a:cs typeface="Trebuchet MS"/>
              </a:rPr>
              <a:t>Band</a:t>
            </a:r>
            <a:r>
              <a:rPr sz="900" b="1" spc="10" dirty="0">
                <a:latin typeface="Trebuchet MS"/>
                <a:cs typeface="Trebuchet MS"/>
              </a:rPr>
              <a:t> </a:t>
            </a:r>
            <a:r>
              <a:rPr sz="900" b="1" dirty="0">
                <a:latin typeface="Trebuchet MS"/>
                <a:cs typeface="Trebuchet MS"/>
              </a:rPr>
              <a:t>SAR</a:t>
            </a:r>
            <a:r>
              <a:rPr sz="900" b="1" spc="-10" dirty="0">
                <a:latin typeface="Trebuchet MS"/>
                <a:cs typeface="Trebuchet MS"/>
              </a:rPr>
              <a:t> </a:t>
            </a:r>
            <a:r>
              <a:rPr sz="900" b="1" spc="-20" dirty="0">
                <a:latin typeface="Trebuchet MS"/>
                <a:cs typeface="Trebuchet MS"/>
              </a:rPr>
              <a:t>Microwave</a:t>
            </a:r>
            <a:r>
              <a:rPr sz="900" b="1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Failover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5279135" y="3392373"/>
            <a:ext cx="1931035" cy="451484"/>
            <a:chOff x="5279135" y="3392373"/>
            <a:chExt cx="1931035" cy="451484"/>
          </a:xfrm>
        </p:grpSpPr>
        <p:pic>
          <p:nvPicPr>
            <p:cNvPr id="88" name="object 8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196583" y="3392373"/>
              <a:ext cx="94556" cy="17213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246367" y="3414775"/>
              <a:ext cx="0" cy="85090"/>
            </a:xfrm>
            <a:custGeom>
              <a:avLst/>
              <a:gdLst/>
              <a:ahLst/>
              <a:cxnLst/>
              <a:rect l="l" t="t" r="r" b="b"/>
              <a:pathLst>
                <a:path h="85089">
                  <a:moveTo>
                    <a:pt x="0" y="0"/>
                  </a:moveTo>
                  <a:lnTo>
                    <a:pt x="0" y="84582"/>
                  </a:lnTo>
                </a:path>
              </a:pathLst>
            </a:custGeom>
            <a:ln w="1397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279135" y="3479330"/>
              <a:ext cx="1930908" cy="36419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40679" y="3517353"/>
              <a:ext cx="1606296" cy="32160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329173" y="3506469"/>
              <a:ext cx="1834514" cy="268605"/>
            </a:xfrm>
            <a:custGeom>
              <a:avLst/>
              <a:gdLst/>
              <a:ahLst/>
              <a:cxnLst/>
              <a:rect l="l" t="t" r="r" b="b"/>
              <a:pathLst>
                <a:path w="1834515" h="268604">
                  <a:moveTo>
                    <a:pt x="1789683" y="0"/>
                  </a:moveTo>
                  <a:lnTo>
                    <a:pt x="44703" y="0"/>
                  </a:lnTo>
                  <a:lnTo>
                    <a:pt x="27324" y="3502"/>
                  </a:lnTo>
                  <a:lnTo>
                    <a:pt x="13112" y="13065"/>
                  </a:lnTo>
                  <a:lnTo>
                    <a:pt x="3520" y="27271"/>
                  </a:lnTo>
                  <a:lnTo>
                    <a:pt x="0" y="44703"/>
                  </a:lnTo>
                  <a:lnTo>
                    <a:pt x="0" y="223392"/>
                  </a:lnTo>
                  <a:lnTo>
                    <a:pt x="3520" y="240772"/>
                  </a:lnTo>
                  <a:lnTo>
                    <a:pt x="13112" y="254984"/>
                  </a:lnTo>
                  <a:lnTo>
                    <a:pt x="27324" y="264576"/>
                  </a:lnTo>
                  <a:lnTo>
                    <a:pt x="44703" y="268096"/>
                  </a:lnTo>
                  <a:lnTo>
                    <a:pt x="1789683" y="268096"/>
                  </a:lnTo>
                  <a:lnTo>
                    <a:pt x="1807116" y="264576"/>
                  </a:lnTo>
                  <a:lnTo>
                    <a:pt x="1821322" y="254984"/>
                  </a:lnTo>
                  <a:lnTo>
                    <a:pt x="1830885" y="240772"/>
                  </a:lnTo>
                  <a:lnTo>
                    <a:pt x="1834387" y="223392"/>
                  </a:lnTo>
                  <a:lnTo>
                    <a:pt x="1834387" y="44703"/>
                  </a:lnTo>
                  <a:lnTo>
                    <a:pt x="1830885" y="27271"/>
                  </a:lnTo>
                  <a:lnTo>
                    <a:pt x="1821322" y="13065"/>
                  </a:lnTo>
                  <a:lnTo>
                    <a:pt x="1807116" y="3502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329173" y="3506469"/>
              <a:ext cx="1834514" cy="268605"/>
            </a:xfrm>
            <a:custGeom>
              <a:avLst/>
              <a:gdLst/>
              <a:ahLst/>
              <a:cxnLst/>
              <a:rect l="l" t="t" r="r" b="b"/>
              <a:pathLst>
                <a:path w="1834515" h="268604">
                  <a:moveTo>
                    <a:pt x="0" y="44703"/>
                  </a:moveTo>
                  <a:lnTo>
                    <a:pt x="3520" y="27271"/>
                  </a:lnTo>
                  <a:lnTo>
                    <a:pt x="13112" y="13065"/>
                  </a:lnTo>
                  <a:lnTo>
                    <a:pt x="27324" y="3502"/>
                  </a:lnTo>
                  <a:lnTo>
                    <a:pt x="44703" y="0"/>
                  </a:lnTo>
                  <a:lnTo>
                    <a:pt x="1789683" y="0"/>
                  </a:lnTo>
                  <a:lnTo>
                    <a:pt x="1807116" y="3502"/>
                  </a:lnTo>
                  <a:lnTo>
                    <a:pt x="1821322" y="13065"/>
                  </a:lnTo>
                  <a:lnTo>
                    <a:pt x="1830885" y="27271"/>
                  </a:lnTo>
                  <a:lnTo>
                    <a:pt x="1834387" y="44703"/>
                  </a:lnTo>
                  <a:lnTo>
                    <a:pt x="1834387" y="223392"/>
                  </a:lnTo>
                  <a:lnTo>
                    <a:pt x="1830885" y="240772"/>
                  </a:lnTo>
                  <a:lnTo>
                    <a:pt x="1821322" y="254984"/>
                  </a:lnTo>
                  <a:lnTo>
                    <a:pt x="1807116" y="264576"/>
                  </a:lnTo>
                  <a:lnTo>
                    <a:pt x="1789683" y="268096"/>
                  </a:lnTo>
                  <a:lnTo>
                    <a:pt x="44703" y="268096"/>
                  </a:lnTo>
                  <a:lnTo>
                    <a:pt x="27324" y="264576"/>
                  </a:lnTo>
                  <a:lnTo>
                    <a:pt x="13112" y="254984"/>
                  </a:lnTo>
                  <a:lnTo>
                    <a:pt x="3520" y="240772"/>
                  </a:lnTo>
                  <a:lnTo>
                    <a:pt x="0" y="223392"/>
                  </a:lnTo>
                  <a:lnTo>
                    <a:pt x="0" y="44703"/>
                  </a:lnTo>
                  <a:close/>
                </a:path>
              </a:pathLst>
            </a:custGeom>
            <a:ln w="15240">
              <a:solidFill>
                <a:srgbClr val="954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5539866" y="3550666"/>
            <a:ext cx="14128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latin typeface="Trebuchet MS"/>
                <a:cs typeface="Trebuchet MS"/>
              </a:rPr>
              <a:t>Auditable</a:t>
            </a:r>
            <a:r>
              <a:rPr sz="900" b="1" spc="-50" dirty="0">
                <a:latin typeface="Trebuchet MS"/>
                <a:cs typeface="Trebuchet MS"/>
              </a:rPr>
              <a:t> </a:t>
            </a:r>
            <a:r>
              <a:rPr sz="900" b="1" spc="-25" dirty="0">
                <a:latin typeface="Trebuchet MS"/>
                <a:cs typeface="Trebuchet MS"/>
              </a:rPr>
              <a:t>Execution</a:t>
            </a:r>
            <a:r>
              <a:rPr sz="900" b="1" spc="-55" dirty="0">
                <a:latin typeface="Trebuchet MS"/>
                <a:cs typeface="Trebuchet MS"/>
              </a:rPr>
              <a:t> </a:t>
            </a:r>
            <a:r>
              <a:rPr sz="900" b="1" spc="-20" dirty="0">
                <a:latin typeface="Trebuchet MS"/>
                <a:cs typeface="Trebuchet MS"/>
              </a:rPr>
              <a:t>Tracer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6236842" y="2270125"/>
            <a:ext cx="4367530" cy="1743075"/>
            <a:chOff x="6236842" y="2270125"/>
            <a:chExt cx="4367530" cy="1743075"/>
          </a:xfrm>
        </p:grpSpPr>
        <p:pic>
          <p:nvPicPr>
            <p:cNvPr id="135" name="object 13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773411" y="2923044"/>
              <a:ext cx="94556" cy="17385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9822433" y="2946400"/>
              <a:ext cx="0" cy="85090"/>
            </a:xfrm>
            <a:custGeom>
              <a:avLst/>
              <a:gdLst/>
              <a:ahLst/>
              <a:cxnLst/>
              <a:rect l="l" t="t" r="r" b="b"/>
              <a:pathLst>
                <a:path h="85089">
                  <a:moveTo>
                    <a:pt x="0" y="0"/>
                  </a:moveTo>
                  <a:lnTo>
                    <a:pt x="0" y="84582"/>
                  </a:lnTo>
                </a:path>
              </a:pathLst>
            </a:custGeom>
            <a:ln w="1397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246367" y="2279650"/>
              <a:ext cx="3596004" cy="1724025"/>
            </a:xfrm>
            <a:custGeom>
              <a:avLst/>
              <a:gdLst/>
              <a:ahLst/>
              <a:cxnLst/>
              <a:rect l="l" t="t" r="r" b="b"/>
              <a:pathLst>
                <a:path w="3596004" h="1724025">
                  <a:moveTo>
                    <a:pt x="0" y="1494917"/>
                  </a:moveTo>
                  <a:lnTo>
                    <a:pt x="0" y="1723517"/>
                  </a:lnTo>
                  <a:lnTo>
                    <a:pt x="1184656" y="1723517"/>
                  </a:lnTo>
                  <a:lnTo>
                    <a:pt x="1184656" y="0"/>
                  </a:lnTo>
                  <a:lnTo>
                    <a:pt x="3595624" y="0"/>
                  </a:lnTo>
                </a:path>
              </a:pathLst>
            </a:custGeom>
            <a:ln w="19050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031223" y="3008388"/>
              <a:ext cx="1572768" cy="691883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488423" y="3063227"/>
              <a:ext cx="675106" cy="606564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082404" y="3037458"/>
              <a:ext cx="1475105" cy="592455"/>
            </a:xfrm>
            <a:custGeom>
              <a:avLst/>
              <a:gdLst/>
              <a:ahLst/>
              <a:cxnLst/>
              <a:rect l="l" t="t" r="r" b="b"/>
              <a:pathLst>
                <a:path w="1475104" h="592454">
                  <a:moveTo>
                    <a:pt x="737489" y="0"/>
                  </a:moveTo>
                  <a:lnTo>
                    <a:pt x="0" y="296163"/>
                  </a:lnTo>
                  <a:lnTo>
                    <a:pt x="737489" y="592327"/>
                  </a:lnTo>
                  <a:lnTo>
                    <a:pt x="1474977" y="296163"/>
                  </a:lnTo>
                  <a:lnTo>
                    <a:pt x="737489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082404" y="3037458"/>
              <a:ext cx="1475105" cy="592455"/>
            </a:xfrm>
            <a:custGeom>
              <a:avLst/>
              <a:gdLst/>
              <a:ahLst/>
              <a:cxnLst/>
              <a:rect l="l" t="t" r="r" b="b"/>
              <a:pathLst>
                <a:path w="1475104" h="592454">
                  <a:moveTo>
                    <a:pt x="0" y="296163"/>
                  </a:moveTo>
                  <a:lnTo>
                    <a:pt x="737489" y="0"/>
                  </a:lnTo>
                  <a:lnTo>
                    <a:pt x="1474977" y="296163"/>
                  </a:lnTo>
                  <a:lnTo>
                    <a:pt x="737489" y="592327"/>
                  </a:lnTo>
                  <a:lnTo>
                    <a:pt x="0" y="296163"/>
                  </a:lnTo>
                  <a:close/>
                </a:path>
              </a:pathLst>
            </a:custGeom>
            <a:ln w="17780">
              <a:solidFill>
                <a:srgbClr val="FFCD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11269876" y="2589180"/>
            <a:ext cx="922655" cy="416559"/>
            <a:chOff x="11269876" y="2589180"/>
            <a:chExt cx="922655" cy="416559"/>
          </a:xfrm>
        </p:grpSpPr>
        <p:pic>
          <p:nvPicPr>
            <p:cNvPr id="129" name="object 12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269876" y="2589180"/>
              <a:ext cx="922123" cy="416242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330940" y="2642590"/>
              <a:ext cx="803135" cy="332257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11311128" y="2607690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790067" y="0"/>
                  </a:moveTo>
                  <a:lnTo>
                    <a:pt x="56388" y="0"/>
                  </a:lnTo>
                  <a:lnTo>
                    <a:pt x="34450" y="4437"/>
                  </a:lnTo>
                  <a:lnTo>
                    <a:pt x="16525" y="16541"/>
                  </a:lnTo>
                  <a:lnTo>
                    <a:pt x="4435" y="34504"/>
                  </a:lnTo>
                  <a:lnTo>
                    <a:pt x="0" y="56514"/>
                  </a:lnTo>
                  <a:lnTo>
                    <a:pt x="0" y="282194"/>
                  </a:lnTo>
                  <a:lnTo>
                    <a:pt x="4435" y="304204"/>
                  </a:lnTo>
                  <a:lnTo>
                    <a:pt x="16525" y="322167"/>
                  </a:lnTo>
                  <a:lnTo>
                    <a:pt x="34450" y="334271"/>
                  </a:lnTo>
                  <a:lnTo>
                    <a:pt x="56388" y="338709"/>
                  </a:lnTo>
                  <a:lnTo>
                    <a:pt x="790067" y="338709"/>
                  </a:lnTo>
                  <a:lnTo>
                    <a:pt x="812077" y="334271"/>
                  </a:lnTo>
                  <a:lnTo>
                    <a:pt x="830040" y="322167"/>
                  </a:lnTo>
                  <a:lnTo>
                    <a:pt x="842144" y="304204"/>
                  </a:lnTo>
                  <a:lnTo>
                    <a:pt x="846581" y="282194"/>
                  </a:lnTo>
                  <a:lnTo>
                    <a:pt x="846581" y="56514"/>
                  </a:lnTo>
                  <a:lnTo>
                    <a:pt x="842144" y="34504"/>
                  </a:lnTo>
                  <a:lnTo>
                    <a:pt x="830040" y="16541"/>
                  </a:lnTo>
                  <a:lnTo>
                    <a:pt x="812077" y="4437"/>
                  </a:lnTo>
                  <a:lnTo>
                    <a:pt x="790067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1311128" y="2607690"/>
              <a:ext cx="847090" cy="339090"/>
            </a:xfrm>
            <a:custGeom>
              <a:avLst/>
              <a:gdLst/>
              <a:ahLst/>
              <a:cxnLst/>
              <a:rect l="l" t="t" r="r" b="b"/>
              <a:pathLst>
                <a:path w="847090" h="339089">
                  <a:moveTo>
                    <a:pt x="0" y="56514"/>
                  </a:moveTo>
                  <a:lnTo>
                    <a:pt x="4435" y="34504"/>
                  </a:lnTo>
                  <a:lnTo>
                    <a:pt x="16525" y="16541"/>
                  </a:lnTo>
                  <a:lnTo>
                    <a:pt x="34450" y="4437"/>
                  </a:lnTo>
                  <a:lnTo>
                    <a:pt x="56388" y="0"/>
                  </a:lnTo>
                  <a:lnTo>
                    <a:pt x="790067" y="0"/>
                  </a:lnTo>
                  <a:lnTo>
                    <a:pt x="812077" y="4437"/>
                  </a:lnTo>
                  <a:lnTo>
                    <a:pt x="830040" y="16541"/>
                  </a:lnTo>
                  <a:lnTo>
                    <a:pt x="842144" y="34504"/>
                  </a:lnTo>
                  <a:lnTo>
                    <a:pt x="846581" y="56514"/>
                  </a:lnTo>
                  <a:lnTo>
                    <a:pt x="846581" y="282194"/>
                  </a:lnTo>
                  <a:lnTo>
                    <a:pt x="842144" y="304204"/>
                  </a:lnTo>
                  <a:lnTo>
                    <a:pt x="830040" y="322167"/>
                  </a:lnTo>
                  <a:lnTo>
                    <a:pt x="812077" y="334271"/>
                  </a:lnTo>
                  <a:lnTo>
                    <a:pt x="790067" y="338709"/>
                  </a:lnTo>
                  <a:lnTo>
                    <a:pt x="56388" y="338709"/>
                  </a:lnTo>
                  <a:lnTo>
                    <a:pt x="34450" y="334271"/>
                  </a:lnTo>
                  <a:lnTo>
                    <a:pt x="16525" y="322167"/>
                  </a:lnTo>
                  <a:lnTo>
                    <a:pt x="4435" y="304204"/>
                  </a:lnTo>
                  <a:lnTo>
                    <a:pt x="0" y="282194"/>
                  </a:lnTo>
                  <a:lnTo>
                    <a:pt x="0" y="56514"/>
                  </a:lnTo>
                  <a:close/>
                </a:path>
              </a:pathLst>
            </a:custGeom>
            <a:ln w="15240">
              <a:solidFill>
                <a:srgbClr val="EB69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11408156" y="2667380"/>
            <a:ext cx="658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1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latin typeface="Trebuchet MS"/>
                <a:cs typeface="Trebuchet MS"/>
              </a:rPr>
              <a:t>BigEarthNet</a:t>
            </a:r>
            <a:r>
              <a:rPr sz="600" b="1" spc="-45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Land-Cover</a:t>
            </a:r>
            <a:r>
              <a:rPr sz="600" b="1" spc="-40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Classifier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565005" y="3086861"/>
            <a:ext cx="513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600" b="1" spc="-20" dirty="0">
                <a:latin typeface="Trebuchet MS"/>
                <a:cs typeface="Trebuchet MS"/>
              </a:rPr>
              <a:t>Adaptive</a:t>
            </a:r>
            <a:r>
              <a:rPr sz="600" b="1" spc="-15" dirty="0">
                <a:latin typeface="Trebuchet MS"/>
                <a:cs typeface="Trebuchet MS"/>
              </a:rPr>
              <a:t> </a:t>
            </a:r>
            <a:r>
              <a:rPr sz="600" b="1" spc="-20" dirty="0">
                <a:latin typeface="Trebuchet MS"/>
                <a:cs typeface="Trebuchet MS"/>
              </a:rPr>
              <a:t>Otsu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10" dirty="0">
                <a:latin typeface="Trebuchet MS"/>
                <a:cs typeface="Trebuchet MS"/>
              </a:rPr>
              <a:t>Thresholding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20" dirty="0">
                <a:latin typeface="Trebuchet MS"/>
                <a:cs typeface="Trebuchet MS"/>
              </a:rPr>
              <a:t>Gate</a:t>
            </a:r>
            <a:endParaRPr sz="600">
              <a:latin typeface="Trebuchet MS"/>
              <a:cs typeface="Trebuchet MS"/>
            </a:endParaRPr>
          </a:p>
          <a:p>
            <a:pPr marL="13970" marR="6350" algn="ctr">
              <a:lnSpc>
                <a:spcPct val="100000"/>
              </a:lnSpc>
            </a:pPr>
            <a:r>
              <a:rPr sz="600" b="1" spc="-10" dirty="0">
                <a:latin typeface="Trebuchet MS"/>
                <a:cs typeface="Trebuchet MS"/>
              </a:rPr>
              <a:t>(Confidence</a:t>
            </a:r>
            <a:r>
              <a:rPr sz="600" b="1" spc="5" dirty="0">
                <a:latin typeface="Trebuchet MS"/>
                <a:cs typeface="Trebuchet MS"/>
              </a:rPr>
              <a:t> </a:t>
            </a:r>
            <a:r>
              <a:rPr sz="600" b="1" spc="-50" dirty="0">
                <a:latin typeface="Trebuchet MS"/>
                <a:cs typeface="Trebuchet MS"/>
              </a:rPr>
              <a:t>≥</a:t>
            </a:r>
            <a:r>
              <a:rPr sz="600" b="1" spc="500" dirty="0">
                <a:latin typeface="Trebuchet MS"/>
                <a:cs typeface="Trebuchet MS"/>
              </a:rPr>
              <a:t> </a:t>
            </a:r>
            <a:r>
              <a:rPr sz="600" b="1" spc="-20" dirty="0">
                <a:latin typeface="Trebuchet MS"/>
                <a:cs typeface="Trebuchet MS"/>
              </a:rPr>
              <a:t>80%)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476" y="3950970"/>
            <a:ext cx="5902960" cy="283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895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Other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Technologies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47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alibri"/>
                <a:cs typeface="Calibri"/>
              </a:rPr>
              <a:t>Geospatial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Vector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Core</a:t>
            </a:r>
            <a:r>
              <a:rPr sz="1300" b="1" dirty="0">
                <a:latin typeface="Calibri"/>
                <a:cs typeface="Calibri"/>
              </a:rPr>
              <a:t>: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Rasterio, GDAL,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NumPy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(vectorized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multi-</a:t>
            </a:r>
            <a:r>
              <a:rPr sz="1300" dirty="0">
                <a:latin typeface="Calibri"/>
                <a:cs typeface="Calibri"/>
              </a:rPr>
              <a:t>band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array</a:t>
            </a:r>
            <a:endParaRPr sz="13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Calibri"/>
                <a:cs typeface="Calibri"/>
              </a:rPr>
              <a:t>math),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OpenCV,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PIL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(Pillow), </a:t>
            </a:r>
            <a:r>
              <a:rPr sz="1300" spc="-10" dirty="0">
                <a:latin typeface="Calibri"/>
                <a:cs typeface="Calibri"/>
              </a:rPr>
              <a:t>Scikit-</a:t>
            </a:r>
            <a:r>
              <a:rPr sz="1300" dirty="0">
                <a:latin typeface="Calibri"/>
                <a:cs typeface="Calibri"/>
              </a:rPr>
              <a:t>learn,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Shapely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Courier New"/>
              <a:buChar char="o"/>
              <a:tabLst>
                <a:tab pos="297815" algn="l"/>
              </a:tabLst>
            </a:pPr>
            <a:r>
              <a:rPr sz="1400" b="1" dirty="0">
                <a:latin typeface="Calibri"/>
                <a:cs typeface="Calibri"/>
              </a:rPr>
              <a:t>Specialist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AI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Deep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Models:</a:t>
            </a:r>
            <a:endParaRPr sz="1400">
              <a:latin typeface="Calibri"/>
              <a:cs typeface="Calibri"/>
            </a:endParaRPr>
          </a:p>
          <a:p>
            <a:pPr marL="355600" marR="125095" indent="-342900">
              <a:lnSpc>
                <a:spcPct val="100000"/>
              </a:lnSpc>
              <a:buAutoNum type="alphaLcPeriod"/>
              <a:tabLst>
                <a:tab pos="355600" algn="l"/>
              </a:tabLst>
            </a:pPr>
            <a:r>
              <a:rPr sz="1300" spc="-10" dirty="0">
                <a:latin typeface="Calibri"/>
                <a:cs typeface="Calibri"/>
              </a:rPr>
              <a:t>RS-</a:t>
            </a:r>
            <a:r>
              <a:rPr sz="1300" spc="-20" dirty="0">
                <a:latin typeface="Calibri"/>
                <a:cs typeface="Calibri"/>
              </a:rPr>
              <a:t>VQA-</a:t>
            </a:r>
            <a:r>
              <a:rPr sz="1300" dirty="0">
                <a:latin typeface="Calibri"/>
                <a:cs typeface="Calibri"/>
              </a:rPr>
              <a:t>Specialist: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Fine-</a:t>
            </a:r>
            <a:r>
              <a:rPr sz="1300" dirty="0">
                <a:latin typeface="Calibri"/>
                <a:cs typeface="Calibri"/>
              </a:rPr>
              <a:t>tuned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RSVQA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&amp;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VRSBench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natural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language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visual </a:t>
            </a:r>
            <a:r>
              <a:rPr sz="1300" dirty="0">
                <a:latin typeface="Calibri"/>
                <a:cs typeface="Calibri"/>
              </a:rPr>
              <a:t>question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answering.</a:t>
            </a:r>
            <a:endParaRPr sz="1300">
              <a:latin typeface="Calibri"/>
              <a:cs typeface="Calibri"/>
            </a:endParaRPr>
          </a:p>
          <a:p>
            <a:pPr marL="355600" marR="342265" indent="-342900">
              <a:lnSpc>
                <a:spcPct val="100000"/>
              </a:lnSpc>
              <a:buAutoNum type="alphaLcPeriod"/>
              <a:tabLst>
                <a:tab pos="355600" algn="l"/>
              </a:tabLst>
            </a:pPr>
            <a:r>
              <a:rPr sz="1300" spc="-10" dirty="0">
                <a:latin typeface="Calibri"/>
                <a:cs typeface="Calibri"/>
              </a:rPr>
              <a:t>RS-BigEarthNet-</a:t>
            </a:r>
            <a:r>
              <a:rPr sz="1300" dirty="0">
                <a:latin typeface="Calibri"/>
                <a:cs typeface="Calibri"/>
              </a:rPr>
              <a:t>Captioner: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19-</a:t>
            </a:r>
            <a:r>
              <a:rPr sz="1300" dirty="0">
                <a:latin typeface="Calibri"/>
                <a:cs typeface="Calibri"/>
              </a:rPr>
              <a:t>class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CORINE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hierarchical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land-</a:t>
            </a:r>
            <a:r>
              <a:rPr sz="1300" dirty="0">
                <a:latin typeface="Calibri"/>
                <a:cs typeface="Calibri"/>
              </a:rPr>
              <a:t>cover </a:t>
            </a:r>
            <a:r>
              <a:rPr sz="1300" spc="-10" dirty="0">
                <a:latin typeface="Calibri"/>
                <a:cs typeface="Calibri"/>
              </a:rPr>
              <a:t>taxonomy classification.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354965" algn="l"/>
              </a:tabLst>
            </a:pPr>
            <a:r>
              <a:rPr sz="1200" spc="-10" dirty="0">
                <a:latin typeface="Calibri"/>
                <a:cs typeface="Calibri"/>
              </a:rPr>
              <a:t>RS-BiTemporal-CD-Engine: </a:t>
            </a:r>
            <a:r>
              <a:rPr sz="1200" dirty="0">
                <a:latin typeface="Calibri"/>
                <a:cs typeface="Calibri"/>
              </a:rPr>
              <a:t>Siamese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10" dirty="0">
                <a:latin typeface="Calibri"/>
                <a:cs typeface="Calibri"/>
              </a:rPr>
              <a:t> differencing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(LEVIR-CD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CDVQA)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change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detection</a:t>
            </a:r>
            <a:r>
              <a:rPr sz="1050" spc="-10" dirty="0"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99085" marR="125095" lvl="1" indent="-287020">
              <a:lnSpc>
                <a:spcPct val="100000"/>
              </a:lnSpc>
              <a:buFont typeface="Courier New"/>
              <a:buChar char="o"/>
              <a:tabLst>
                <a:tab pos="299085" algn="l"/>
              </a:tabLst>
            </a:pPr>
            <a:r>
              <a:rPr sz="1200" b="1" dirty="0">
                <a:latin typeface="Calibri"/>
                <a:cs typeface="Calibri"/>
              </a:rPr>
              <a:t>Satellite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Feeds &amp;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APIs: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Copernicus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Sentinel-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L2A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(10m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Optical),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Sentinel-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GRD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(C-</a:t>
            </a:r>
            <a:r>
              <a:rPr sz="1200" spc="-20" dirty="0">
                <a:latin typeface="Calibri"/>
                <a:cs typeface="Calibri"/>
              </a:rPr>
              <a:t>band </a:t>
            </a:r>
            <a:r>
              <a:rPr sz="1200" dirty="0">
                <a:latin typeface="Calibri"/>
                <a:cs typeface="Calibri"/>
              </a:rPr>
              <a:t>SAR),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USGS</a:t>
            </a:r>
            <a:r>
              <a:rPr sz="1200" spc="-10" dirty="0">
                <a:latin typeface="Calibri"/>
                <a:cs typeface="Calibri"/>
              </a:rPr>
              <a:t> Landsat-</a:t>
            </a:r>
            <a:r>
              <a:rPr sz="1200" dirty="0">
                <a:latin typeface="Calibri"/>
                <a:cs typeface="Calibri"/>
              </a:rPr>
              <a:t>8/9,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ISRO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Bhuvan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archives,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OpenStreetMap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Nominatim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99085" marR="174625" lvl="1" indent="-287020">
              <a:lnSpc>
                <a:spcPct val="100000"/>
              </a:lnSpc>
              <a:buFont typeface="Courier New"/>
              <a:buChar char="o"/>
              <a:tabLst>
                <a:tab pos="299085" algn="l"/>
              </a:tabLst>
            </a:pPr>
            <a:r>
              <a:rPr sz="1200" b="1" dirty="0">
                <a:latin typeface="Calibri"/>
                <a:cs typeface="Calibri"/>
              </a:rPr>
              <a:t>Cloud </a:t>
            </a:r>
            <a:r>
              <a:rPr sz="1200" b="1" spc="-10" dirty="0">
                <a:latin typeface="Calibri"/>
                <a:cs typeface="Calibri"/>
              </a:rPr>
              <a:t>Infrastructure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&amp; DevOps: </a:t>
            </a:r>
            <a:r>
              <a:rPr sz="1200" dirty="0">
                <a:latin typeface="Calibri"/>
                <a:cs typeface="Calibri"/>
              </a:rPr>
              <a:t>Vercel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Global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Supabase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Cloud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Auth/DB, </a:t>
            </a:r>
            <a:r>
              <a:rPr sz="1200" dirty="0">
                <a:latin typeface="Calibri"/>
                <a:cs typeface="Calibri"/>
              </a:rPr>
              <a:t>Docker,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GitHub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CI/CD.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40195" y="3904411"/>
            <a:ext cx="374218" cy="374218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6091237" y="4117910"/>
            <a:ext cx="6092190" cy="2745105"/>
            <a:chOff x="6091237" y="4117910"/>
            <a:chExt cx="6092190" cy="2745105"/>
          </a:xfrm>
        </p:grpSpPr>
        <p:pic>
          <p:nvPicPr>
            <p:cNvPr id="3" name="object 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075659" y="5198338"/>
              <a:ext cx="4107213" cy="16596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14029" y="5213710"/>
              <a:ext cx="4038600" cy="1605280"/>
            </a:xfrm>
            <a:custGeom>
              <a:avLst/>
              <a:gdLst/>
              <a:ahLst/>
              <a:cxnLst/>
              <a:rect l="l" t="t" r="r" b="b"/>
              <a:pathLst>
                <a:path w="4038600" h="1605279">
                  <a:moveTo>
                    <a:pt x="4038219" y="0"/>
                  </a:moveTo>
                  <a:lnTo>
                    <a:pt x="0" y="0"/>
                  </a:lnTo>
                  <a:lnTo>
                    <a:pt x="0" y="1605152"/>
                  </a:lnTo>
                  <a:lnTo>
                    <a:pt x="4038219" y="1605152"/>
                  </a:lnTo>
                  <a:lnTo>
                    <a:pt x="4038219" y="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14029" y="5213710"/>
              <a:ext cx="4038600" cy="1605280"/>
            </a:xfrm>
            <a:custGeom>
              <a:avLst/>
              <a:gdLst/>
              <a:ahLst/>
              <a:cxnLst/>
              <a:rect l="l" t="t" r="r" b="b"/>
              <a:pathLst>
                <a:path w="4038600" h="1605279">
                  <a:moveTo>
                    <a:pt x="0" y="1605152"/>
                  </a:moveTo>
                  <a:lnTo>
                    <a:pt x="4038219" y="1605152"/>
                  </a:lnTo>
                  <a:lnTo>
                    <a:pt x="4038219" y="0"/>
                  </a:lnTo>
                  <a:lnTo>
                    <a:pt x="0" y="0"/>
                  </a:lnTo>
                  <a:lnTo>
                    <a:pt x="0" y="1605152"/>
                  </a:lnTo>
                  <a:close/>
                </a:path>
              </a:pathLst>
            </a:custGeom>
            <a:ln w="9525">
              <a:solidFill>
                <a:srgbClr val="CCC1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0" y="4122673"/>
              <a:ext cx="2023745" cy="2735580"/>
            </a:xfrm>
            <a:custGeom>
              <a:avLst/>
              <a:gdLst/>
              <a:ahLst/>
              <a:cxnLst/>
              <a:rect l="l" t="t" r="r" b="b"/>
              <a:pathLst>
                <a:path w="2023745" h="2735579">
                  <a:moveTo>
                    <a:pt x="2023491" y="0"/>
                  </a:moveTo>
                  <a:lnTo>
                    <a:pt x="0" y="0"/>
                  </a:lnTo>
                  <a:lnTo>
                    <a:pt x="0" y="2735326"/>
                  </a:lnTo>
                  <a:lnTo>
                    <a:pt x="2023491" y="2735326"/>
                  </a:lnTo>
                  <a:lnTo>
                    <a:pt x="2023491" y="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0" y="4122673"/>
              <a:ext cx="2023745" cy="2735580"/>
            </a:xfrm>
            <a:custGeom>
              <a:avLst/>
              <a:gdLst/>
              <a:ahLst/>
              <a:cxnLst/>
              <a:rect l="l" t="t" r="r" b="b"/>
              <a:pathLst>
                <a:path w="2023745" h="2735579">
                  <a:moveTo>
                    <a:pt x="0" y="2735326"/>
                  </a:moveTo>
                  <a:lnTo>
                    <a:pt x="2023491" y="2735326"/>
                  </a:lnTo>
                  <a:lnTo>
                    <a:pt x="2023491" y="0"/>
                  </a:lnTo>
                  <a:lnTo>
                    <a:pt x="0" y="0"/>
                  </a:lnTo>
                  <a:lnTo>
                    <a:pt x="0" y="2735326"/>
                  </a:lnTo>
                  <a:close/>
                </a:path>
              </a:pathLst>
            </a:custGeom>
            <a:ln w="9525">
              <a:solidFill>
                <a:srgbClr val="B3A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" name="object 143"/>
          <p:cNvGrpSpPr/>
          <p:nvPr/>
        </p:nvGrpSpPr>
        <p:grpSpPr>
          <a:xfrm>
            <a:off x="8193023" y="3617912"/>
            <a:ext cx="3243580" cy="512445"/>
            <a:chOff x="8193023" y="3617912"/>
            <a:chExt cx="3243580" cy="512445"/>
          </a:xfrm>
        </p:grpSpPr>
        <p:pic>
          <p:nvPicPr>
            <p:cNvPr id="144" name="object 14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767315" y="3617912"/>
              <a:ext cx="94556" cy="208724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9817099" y="3640963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20014"/>
                  </a:lnTo>
                </a:path>
              </a:pathLst>
            </a:custGeom>
            <a:ln w="1397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193023" y="3747503"/>
              <a:ext cx="3243072" cy="377964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770619" y="3782504"/>
              <a:ext cx="2089403" cy="347535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8243823" y="3775075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3099561" y="0"/>
                  </a:moveTo>
                  <a:lnTo>
                    <a:pt x="46990" y="0"/>
                  </a:lnTo>
                  <a:lnTo>
                    <a:pt x="28717" y="3698"/>
                  </a:lnTo>
                  <a:lnTo>
                    <a:pt x="13779" y="13779"/>
                  </a:lnTo>
                  <a:lnTo>
                    <a:pt x="3698" y="28717"/>
                  </a:lnTo>
                  <a:lnTo>
                    <a:pt x="0" y="46989"/>
                  </a:lnTo>
                  <a:lnTo>
                    <a:pt x="0" y="235076"/>
                  </a:lnTo>
                  <a:lnTo>
                    <a:pt x="3698" y="253422"/>
                  </a:lnTo>
                  <a:lnTo>
                    <a:pt x="13779" y="268398"/>
                  </a:lnTo>
                  <a:lnTo>
                    <a:pt x="28717" y="278493"/>
                  </a:lnTo>
                  <a:lnTo>
                    <a:pt x="46990" y="282194"/>
                  </a:lnTo>
                  <a:lnTo>
                    <a:pt x="3099561" y="282194"/>
                  </a:lnTo>
                  <a:lnTo>
                    <a:pt x="3117834" y="278493"/>
                  </a:lnTo>
                  <a:lnTo>
                    <a:pt x="3132772" y="268398"/>
                  </a:lnTo>
                  <a:lnTo>
                    <a:pt x="3142853" y="253422"/>
                  </a:lnTo>
                  <a:lnTo>
                    <a:pt x="3146552" y="235076"/>
                  </a:lnTo>
                  <a:lnTo>
                    <a:pt x="3146552" y="46989"/>
                  </a:lnTo>
                  <a:lnTo>
                    <a:pt x="3142853" y="28717"/>
                  </a:lnTo>
                  <a:lnTo>
                    <a:pt x="3132772" y="13779"/>
                  </a:lnTo>
                  <a:lnTo>
                    <a:pt x="3117834" y="3698"/>
                  </a:lnTo>
                  <a:lnTo>
                    <a:pt x="3099561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243823" y="3775075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0" y="46989"/>
                  </a:moveTo>
                  <a:lnTo>
                    <a:pt x="3698" y="28717"/>
                  </a:lnTo>
                  <a:lnTo>
                    <a:pt x="13779" y="13779"/>
                  </a:lnTo>
                  <a:lnTo>
                    <a:pt x="28717" y="3698"/>
                  </a:lnTo>
                  <a:lnTo>
                    <a:pt x="46990" y="0"/>
                  </a:lnTo>
                  <a:lnTo>
                    <a:pt x="3099561" y="0"/>
                  </a:lnTo>
                  <a:lnTo>
                    <a:pt x="3117834" y="3698"/>
                  </a:lnTo>
                  <a:lnTo>
                    <a:pt x="3132772" y="13779"/>
                  </a:lnTo>
                  <a:lnTo>
                    <a:pt x="3142853" y="28717"/>
                  </a:lnTo>
                  <a:lnTo>
                    <a:pt x="3146552" y="46989"/>
                  </a:lnTo>
                  <a:lnTo>
                    <a:pt x="3146552" y="235076"/>
                  </a:lnTo>
                  <a:lnTo>
                    <a:pt x="3142853" y="253422"/>
                  </a:lnTo>
                  <a:lnTo>
                    <a:pt x="3132772" y="268398"/>
                  </a:lnTo>
                  <a:lnTo>
                    <a:pt x="3117834" y="278493"/>
                  </a:lnTo>
                  <a:lnTo>
                    <a:pt x="3099561" y="282194"/>
                  </a:lnTo>
                  <a:lnTo>
                    <a:pt x="46990" y="282194"/>
                  </a:lnTo>
                  <a:lnTo>
                    <a:pt x="28717" y="278493"/>
                  </a:lnTo>
                  <a:lnTo>
                    <a:pt x="13779" y="268398"/>
                  </a:lnTo>
                  <a:lnTo>
                    <a:pt x="3698" y="253422"/>
                  </a:lnTo>
                  <a:lnTo>
                    <a:pt x="0" y="235076"/>
                  </a:lnTo>
                  <a:lnTo>
                    <a:pt x="0" y="46989"/>
                  </a:lnTo>
                  <a:close/>
                </a:path>
              </a:pathLst>
            </a:custGeom>
            <a:ln w="1524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8877427" y="3818890"/>
            <a:ext cx="1880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EBEBEB"/>
                </a:solidFill>
                <a:latin typeface="Trebuchet MS"/>
                <a:cs typeface="Trebuchet MS"/>
              </a:rPr>
              <a:t>Scientific</a:t>
            </a:r>
            <a:r>
              <a:rPr sz="1000" b="1" spc="-6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EBEBEB"/>
                </a:solidFill>
                <a:latin typeface="Trebuchet MS"/>
                <a:cs typeface="Trebuchet MS"/>
              </a:rPr>
              <a:t>Grounded</a:t>
            </a:r>
            <a:r>
              <a:rPr sz="1000" b="1" spc="-3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90" dirty="0">
                <a:solidFill>
                  <a:srgbClr val="EBEBEB"/>
                </a:solidFill>
                <a:latin typeface="Trebuchet MS"/>
                <a:cs typeface="Trebuchet MS"/>
              </a:rPr>
              <a:t>Text</a:t>
            </a:r>
            <a:r>
              <a:rPr sz="1000" b="1" spc="-6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Answer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8193023" y="4034091"/>
            <a:ext cx="3243580" cy="483234"/>
            <a:chOff x="8193023" y="4034091"/>
            <a:chExt cx="3243580" cy="483234"/>
          </a:xfrm>
        </p:grpSpPr>
        <p:pic>
          <p:nvPicPr>
            <p:cNvPr id="152" name="object 15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767315" y="4034091"/>
              <a:ext cx="94556" cy="193611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9817099" y="4057268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h="106045">
                  <a:moveTo>
                    <a:pt x="0" y="0"/>
                  </a:moveTo>
                  <a:lnTo>
                    <a:pt x="0" y="105790"/>
                  </a:lnTo>
                </a:path>
              </a:pathLst>
            </a:custGeom>
            <a:ln w="1397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193023" y="4136123"/>
              <a:ext cx="3243072" cy="377964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656319" y="4169600"/>
              <a:ext cx="2316479" cy="347535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8243823" y="4163059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3099561" y="0"/>
                  </a:moveTo>
                  <a:lnTo>
                    <a:pt x="46990" y="0"/>
                  </a:lnTo>
                  <a:lnTo>
                    <a:pt x="28717" y="3698"/>
                  </a:lnTo>
                  <a:lnTo>
                    <a:pt x="13779" y="13779"/>
                  </a:lnTo>
                  <a:lnTo>
                    <a:pt x="3698" y="28717"/>
                  </a:lnTo>
                  <a:lnTo>
                    <a:pt x="0" y="46989"/>
                  </a:lnTo>
                  <a:lnTo>
                    <a:pt x="0" y="235203"/>
                  </a:lnTo>
                  <a:lnTo>
                    <a:pt x="3698" y="253476"/>
                  </a:lnTo>
                  <a:lnTo>
                    <a:pt x="13779" y="268414"/>
                  </a:lnTo>
                  <a:lnTo>
                    <a:pt x="28717" y="278495"/>
                  </a:lnTo>
                  <a:lnTo>
                    <a:pt x="46990" y="282194"/>
                  </a:lnTo>
                  <a:lnTo>
                    <a:pt x="3099561" y="282194"/>
                  </a:lnTo>
                  <a:lnTo>
                    <a:pt x="3117834" y="278495"/>
                  </a:lnTo>
                  <a:lnTo>
                    <a:pt x="3132772" y="268414"/>
                  </a:lnTo>
                  <a:lnTo>
                    <a:pt x="3142853" y="253476"/>
                  </a:lnTo>
                  <a:lnTo>
                    <a:pt x="3146552" y="235203"/>
                  </a:lnTo>
                  <a:lnTo>
                    <a:pt x="3146552" y="46989"/>
                  </a:lnTo>
                  <a:lnTo>
                    <a:pt x="3142853" y="28717"/>
                  </a:lnTo>
                  <a:lnTo>
                    <a:pt x="3132772" y="13779"/>
                  </a:lnTo>
                  <a:lnTo>
                    <a:pt x="3117834" y="3698"/>
                  </a:lnTo>
                  <a:lnTo>
                    <a:pt x="3099561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243823" y="4163059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0" y="46989"/>
                  </a:moveTo>
                  <a:lnTo>
                    <a:pt x="3698" y="28717"/>
                  </a:lnTo>
                  <a:lnTo>
                    <a:pt x="13779" y="13779"/>
                  </a:lnTo>
                  <a:lnTo>
                    <a:pt x="28717" y="3698"/>
                  </a:lnTo>
                  <a:lnTo>
                    <a:pt x="46990" y="0"/>
                  </a:lnTo>
                  <a:lnTo>
                    <a:pt x="3099561" y="0"/>
                  </a:lnTo>
                  <a:lnTo>
                    <a:pt x="3117834" y="3698"/>
                  </a:lnTo>
                  <a:lnTo>
                    <a:pt x="3132772" y="13779"/>
                  </a:lnTo>
                  <a:lnTo>
                    <a:pt x="3142853" y="28717"/>
                  </a:lnTo>
                  <a:lnTo>
                    <a:pt x="3146552" y="46989"/>
                  </a:lnTo>
                  <a:lnTo>
                    <a:pt x="3146552" y="235203"/>
                  </a:lnTo>
                  <a:lnTo>
                    <a:pt x="3142853" y="253476"/>
                  </a:lnTo>
                  <a:lnTo>
                    <a:pt x="3132772" y="268414"/>
                  </a:lnTo>
                  <a:lnTo>
                    <a:pt x="3117834" y="278495"/>
                  </a:lnTo>
                  <a:lnTo>
                    <a:pt x="3099561" y="282194"/>
                  </a:lnTo>
                  <a:lnTo>
                    <a:pt x="46990" y="282194"/>
                  </a:lnTo>
                  <a:lnTo>
                    <a:pt x="28717" y="278495"/>
                  </a:lnTo>
                  <a:lnTo>
                    <a:pt x="13779" y="268414"/>
                  </a:lnTo>
                  <a:lnTo>
                    <a:pt x="3698" y="253476"/>
                  </a:lnTo>
                  <a:lnTo>
                    <a:pt x="0" y="235203"/>
                  </a:lnTo>
                  <a:lnTo>
                    <a:pt x="0" y="46989"/>
                  </a:lnTo>
                  <a:close/>
                </a:path>
              </a:pathLst>
            </a:custGeom>
            <a:ln w="1524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8763127" y="4207002"/>
            <a:ext cx="2106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solidFill>
                  <a:srgbClr val="EBEBEB"/>
                </a:solidFill>
                <a:latin typeface="Trebuchet MS"/>
                <a:cs typeface="Trebuchet MS"/>
              </a:rPr>
              <a:t>Pixel-</a:t>
            </a:r>
            <a:r>
              <a:rPr sz="1000" b="1" spc="-25" dirty="0">
                <a:solidFill>
                  <a:srgbClr val="EBEBEB"/>
                </a:solidFill>
                <a:latin typeface="Trebuchet MS"/>
                <a:cs typeface="Trebuchet MS"/>
              </a:rPr>
              <a:t>Aligned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Heatmap</a:t>
            </a:r>
            <a:r>
              <a:rPr sz="1000" b="1" spc="-6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35" dirty="0">
                <a:solidFill>
                  <a:srgbClr val="EBEBEB"/>
                </a:solidFill>
                <a:latin typeface="Trebuchet MS"/>
                <a:cs typeface="Trebuchet MS"/>
              </a:rPr>
              <a:t>&amp;</a:t>
            </a:r>
            <a:r>
              <a:rPr sz="1000" b="1" spc="-5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Split</a:t>
            </a:r>
            <a:r>
              <a:rPr sz="1000" b="1" spc="-5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Slider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8193023" y="4422711"/>
            <a:ext cx="3243580" cy="483234"/>
            <a:chOff x="8193023" y="4422711"/>
            <a:chExt cx="3243580" cy="483234"/>
          </a:xfrm>
        </p:grpSpPr>
        <p:pic>
          <p:nvPicPr>
            <p:cNvPr id="160" name="object 16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767315" y="4422711"/>
              <a:ext cx="94556" cy="19361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9817099" y="4445253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h="106045">
                  <a:moveTo>
                    <a:pt x="0" y="0"/>
                  </a:moveTo>
                  <a:lnTo>
                    <a:pt x="0" y="105918"/>
                  </a:lnTo>
                </a:path>
              </a:pathLst>
            </a:custGeom>
            <a:ln w="1397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193023" y="4523231"/>
              <a:ext cx="3243072" cy="37947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362187" y="4558220"/>
              <a:ext cx="2904744" cy="347535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8243823" y="4551171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3099561" y="0"/>
                  </a:moveTo>
                  <a:lnTo>
                    <a:pt x="46990" y="0"/>
                  </a:lnTo>
                  <a:lnTo>
                    <a:pt x="28717" y="3681"/>
                  </a:lnTo>
                  <a:lnTo>
                    <a:pt x="13779" y="13731"/>
                  </a:lnTo>
                  <a:lnTo>
                    <a:pt x="3698" y="28664"/>
                  </a:lnTo>
                  <a:lnTo>
                    <a:pt x="0" y="46989"/>
                  </a:lnTo>
                  <a:lnTo>
                    <a:pt x="0" y="235076"/>
                  </a:lnTo>
                  <a:lnTo>
                    <a:pt x="3698" y="253422"/>
                  </a:lnTo>
                  <a:lnTo>
                    <a:pt x="13779" y="268398"/>
                  </a:lnTo>
                  <a:lnTo>
                    <a:pt x="28717" y="278493"/>
                  </a:lnTo>
                  <a:lnTo>
                    <a:pt x="46990" y="282194"/>
                  </a:lnTo>
                  <a:lnTo>
                    <a:pt x="3099561" y="282194"/>
                  </a:lnTo>
                  <a:lnTo>
                    <a:pt x="3117834" y="278493"/>
                  </a:lnTo>
                  <a:lnTo>
                    <a:pt x="3132772" y="268398"/>
                  </a:lnTo>
                  <a:lnTo>
                    <a:pt x="3142853" y="253422"/>
                  </a:lnTo>
                  <a:lnTo>
                    <a:pt x="3146552" y="235076"/>
                  </a:lnTo>
                  <a:lnTo>
                    <a:pt x="3146552" y="46989"/>
                  </a:lnTo>
                  <a:lnTo>
                    <a:pt x="3142853" y="28664"/>
                  </a:lnTo>
                  <a:lnTo>
                    <a:pt x="3132772" y="13731"/>
                  </a:lnTo>
                  <a:lnTo>
                    <a:pt x="3117834" y="3681"/>
                  </a:lnTo>
                  <a:lnTo>
                    <a:pt x="3099561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243823" y="4551171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0" y="46989"/>
                  </a:moveTo>
                  <a:lnTo>
                    <a:pt x="3698" y="28664"/>
                  </a:lnTo>
                  <a:lnTo>
                    <a:pt x="13779" y="13731"/>
                  </a:lnTo>
                  <a:lnTo>
                    <a:pt x="28717" y="3681"/>
                  </a:lnTo>
                  <a:lnTo>
                    <a:pt x="46990" y="0"/>
                  </a:lnTo>
                  <a:lnTo>
                    <a:pt x="3099561" y="0"/>
                  </a:lnTo>
                  <a:lnTo>
                    <a:pt x="3117834" y="3681"/>
                  </a:lnTo>
                  <a:lnTo>
                    <a:pt x="3132772" y="13731"/>
                  </a:lnTo>
                  <a:lnTo>
                    <a:pt x="3142853" y="28664"/>
                  </a:lnTo>
                  <a:lnTo>
                    <a:pt x="3146552" y="46989"/>
                  </a:lnTo>
                  <a:lnTo>
                    <a:pt x="3146552" y="235076"/>
                  </a:lnTo>
                  <a:lnTo>
                    <a:pt x="3142853" y="253422"/>
                  </a:lnTo>
                  <a:lnTo>
                    <a:pt x="3132772" y="268398"/>
                  </a:lnTo>
                  <a:lnTo>
                    <a:pt x="3117834" y="278493"/>
                  </a:lnTo>
                  <a:lnTo>
                    <a:pt x="3099561" y="282194"/>
                  </a:lnTo>
                  <a:lnTo>
                    <a:pt x="46990" y="282194"/>
                  </a:lnTo>
                  <a:lnTo>
                    <a:pt x="28717" y="278493"/>
                  </a:lnTo>
                  <a:lnTo>
                    <a:pt x="13779" y="268398"/>
                  </a:lnTo>
                  <a:lnTo>
                    <a:pt x="3698" y="253422"/>
                  </a:lnTo>
                  <a:lnTo>
                    <a:pt x="0" y="235076"/>
                  </a:lnTo>
                  <a:lnTo>
                    <a:pt x="0" y="46989"/>
                  </a:lnTo>
                  <a:close/>
                </a:path>
              </a:pathLst>
            </a:custGeom>
            <a:ln w="1524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8468994" y="4594682"/>
            <a:ext cx="2696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EBEBEB"/>
                </a:solidFill>
                <a:latin typeface="Trebuchet MS"/>
                <a:cs typeface="Trebuchet MS"/>
              </a:rPr>
              <a:t>Auditable</a:t>
            </a:r>
            <a:r>
              <a:rPr sz="1000" b="1" spc="-3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55" dirty="0">
                <a:solidFill>
                  <a:srgbClr val="EBEBEB"/>
                </a:solidFill>
                <a:latin typeface="Trebuchet MS"/>
                <a:cs typeface="Trebuchet MS"/>
              </a:rPr>
              <a:t>Trace</a:t>
            </a:r>
            <a:r>
              <a:rPr sz="1000" b="1" spc="-6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EBEBEB"/>
                </a:solidFill>
                <a:latin typeface="Trebuchet MS"/>
                <a:cs typeface="Trebuchet MS"/>
              </a:rPr>
              <a:t>Card</a:t>
            </a:r>
            <a:r>
              <a:rPr sz="1000" b="1" spc="-4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EBEBEB"/>
                </a:solidFill>
                <a:latin typeface="Trebuchet MS"/>
                <a:cs typeface="Trebuchet MS"/>
              </a:rPr>
              <a:t>(Latency,</a:t>
            </a:r>
            <a:r>
              <a:rPr sz="1000" b="1" spc="-3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Model,</a:t>
            </a:r>
            <a:r>
              <a:rPr sz="1000" b="1" spc="-4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Bounds)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8193023" y="4811331"/>
            <a:ext cx="3243580" cy="483234"/>
            <a:chOff x="8193023" y="4811331"/>
            <a:chExt cx="3243580" cy="483234"/>
          </a:xfrm>
        </p:grpSpPr>
        <p:pic>
          <p:nvPicPr>
            <p:cNvPr id="168" name="object 1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767315" y="4811331"/>
              <a:ext cx="94556" cy="193611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9817099" y="4833366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h="106045">
                  <a:moveTo>
                    <a:pt x="0" y="0"/>
                  </a:moveTo>
                  <a:lnTo>
                    <a:pt x="0" y="105790"/>
                  </a:lnTo>
                </a:path>
              </a:pathLst>
            </a:custGeom>
            <a:ln w="1397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193023" y="4911839"/>
              <a:ext cx="3243072" cy="377964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575547" y="4946840"/>
              <a:ext cx="2478024" cy="347535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8243823" y="4939157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3099561" y="0"/>
                  </a:moveTo>
                  <a:lnTo>
                    <a:pt x="46990" y="0"/>
                  </a:lnTo>
                  <a:lnTo>
                    <a:pt x="28717" y="3698"/>
                  </a:lnTo>
                  <a:lnTo>
                    <a:pt x="13779" y="13779"/>
                  </a:lnTo>
                  <a:lnTo>
                    <a:pt x="3698" y="28717"/>
                  </a:lnTo>
                  <a:lnTo>
                    <a:pt x="0" y="46990"/>
                  </a:lnTo>
                  <a:lnTo>
                    <a:pt x="0" y="235204"/>
                  </a:lnTo>
                  <a:lnTo>
                    <a:pt x="3698" y="253476"/>
                  </a:lnTo>
                  <a:lnTo>
                    <a:pt x="13779" y="268414"/>
                  </a:lnTo>
                  <a:lnTo>
                    <a:pt x="28717" y="278495"/>
                  </a:lnTo>
                  <a:lnTo>
                    <a:pt x="46990" y="282194"/>
                  </a:lnTo>
                  <a:lnTo>
                    <a:pt x="3099561" y="282194"/>
                  </a:lnTo>
                  <a:lnTo>
                    <a:pt x="3117834" y="278495"/>
                  </a:lnTo>
                  <a:lnTo>
                    <a:pt x="3132772" y="268414"/>
                  </a:lnTo>
                  <a:lnTo>
                    <a:pt x="3142853" y="253476"/>
                  </a:lnTo>
                  <a:lnTo>
                    <a:pt x="3146552" y="235204"/>
                  </a:lnTo>
                  <a:lnTo>
                    <a:pt x="3146552" y="46990"/>
                  </a:lnTo>
                  <a:lnTo>
                    <a:pt x="3142853" y="28717"/>
                  </a:lnTo>
                  <a:lnTo>
                    <a:pt x="3132772" y="13779"/>
                  </a:lnTo>
                  <a:lnTo>
                    <a:pt x="3117834" y="3698"/>
                  </a:lnTo>
                  <a:lnTo>
                    <a:pt x="3099561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8243823" y="4939157"/>
              <a:ext cx="3147060" cy="282575"/>
            </a:xfrm>
            <a:custGeom>
              <a:avLst/>
              <a:gdLst/>
              <a:ahLst/>
              <a:cxnLst/>
              <a:rect l="l" t="t" r="r" b="b"/>
              <a:pathLst>
                <a:path w="3147059" h="282575">
                  <a:moveTo>
                    <a:pt x="0" y="46990"/>
                  </a:moveTo>
                  <a:lnTo>
                    <a:pt x="3698" y="28717"/>
                  </a:lnTo>
                  <a:lnTo>
                    <a:pt x="13779" y="13779"/>
                  </a:lnTo>
                  <a:lnTo>
                    <a:pt x="28717" y="3698"/>
                  </a:lnTo>
                  <a:lnTo>
                    <a:pt x="46990" y="0"/>
                  </a:lnTo>
                  <a:lnTo>
                    <a:pt x="3099561" y="0"/>
                  </a:lnTo>
                  <a:lnTo>
                    <a:pt x="3117834" y="3698"/>
                  </a:lnTo>
                  <a:lnTo>
                    <a:pt x="3132772" y="13779"/>
                  </a:lnTo>
                  <a:lnTo>
                    <a:pt x="3142853" y="28717"/>
                  </a:lnTo>
                  <a:lnTo>
                    <a:pt x="3146552" y="46990"/>
                  </a:lnTo>
                  <a:lnTo>
                    <a:pt x="3146552" y="235204"/>
                  </a:lnTo>
                  <a:lnTo>
                    <a:pt x="3142853" y="253476"/>
                  </a:lnTo>
                  <a:lnTo>
                    <a:pt x="3132772" y="268414"/>
                  </a:lnTo>
                  <a:lnTo>
                    <a:pt x="3117834" y="278495"/>
                  </a:lnTo>
                  <a:lnTo>
                    <a:pt x="3099561" y="282194"/>
                  </a:lnTo>
                  <a:lnTo>
                    <a:pt x="46990" y="282194"/>
                  </a:lnTo>
                  <a:lnTo>
                    <a:pt x="28717" y="278495"/>
                  </a:lnTo>
                  <a:lnTo>
                    <a:pt x="13779" y="268414"/>
                  </a:lnTo>
                  <a:lnTo>
                    <a:pt x="3698" y="253476"/>
                  </a:lnTo>
                  <a:lnTo>
                    <a:pt x="0" y="235204"/>
                  </a:lnTo>
                  <a:lnTo>
                    <a:pt x="0" y="46990"/>
                  </a:lnTo>
                  <a:close/>
                </a:path>
              </a:pathLst>
            </a:custGeom>
            <a:ln w="15240">
              <a:solidFill>
                <a:srgbClr val="22CD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8243823" y="4939157"/>
            <a:ext cx="3147060" cy="2825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440"/>
              </a:spcBef>
            </a:pPr>
            <a:r>
              <a:rPr sz="1000" b="1" spc="-30" dirty="0">
                <a:solidFill>
                  <a:srgbClr val="EBEBEB"/>
                </a:solidFill>
                <a:latin typeface="Trebuchet MS"/>
                <a:cs typeface="Trebuchet MS"/>
              </a:rPr>
              <a:t>Certified</a:t>
            </a:r>
            <a:r>
              <a:rPr sz="1000" b="1" spc="-4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EBEBEB"/>
                </a:solidFill>
                <a:latin typeface="Trebuchet MS"/>
                <a:cs typeface="Trebuchet MS"/>
              </a:rPr>
              <a:t>PDF/JSON</a:t>
            </a:r>
            <a:r>
              <a:rPr sz="1000" b="1" spc="-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EBEBEB"/>
                </a:solidFill>
                <a:latin typeface="Trebuchet MS"/>
                <a:cs typeface="Trebuchet MS"/>
              </a:rPr>
              <a:t>Compliance</a:t>
            </a:r>
            <a:r>
              <a:rPr sz="1000" b="1" spc="-4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EBEBEB"/>
                </a:solidFill>
                <a:latin typeface="Trebuchet MS"/>
                <a:cs typeface="Trebuchet MS"/>
              </a:rPr>
              <a:t>Export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6091237" y="2215579"/>
            <a:ext cx="3784600" cy="3206750"/>
            <a:chOff x="6091237" y="2215579"/>
            <a:chExt cx="3784600" cy="3206750"/>
          </a:xfrm>
        </p:grpSpPr>
        <p:sp>
          <p:nvSpPr>
            <p:cNvPr id="177" name="object 177"/>
            <p:cNvSpPr/>
            <p:nvPr/>
          </p:nvSpPr>
          <p:spPr>
            <a:xfrm>
              <a:off x="9773792" y="2220342"/>
              <a:ext cx="97155" cy="45720"/>
            </a:xfrm>
            <a:custGeom>
              <a:avLst/>
              <a:gdLst/>
              <a:ahLst/>
              <a:cxnLst/>
              <a:rect l="l" t="t" r="r" b="b"/>
              <a:pathLst>
                <a:path w="97154" h="45719">
                  <a:moveTo>
                    <a:pt x="97153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97153" y="45718"/>
                  </a:lnTo>
                  <a:lnTo>
                    <a:pt x="97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9773792" y="2220342"/>
              <a:ext cx="97155" cy="45720"/>
            </a:xfrm>
            <a:custGeom>
              <a:avLst/>
              <a:gdLst/>
              <a:ahLst/>
              <a:cxnLst/>
              <a:rect l="l" t="t" r="r" b="b"/>
              <a:pathLst>
                <a:path w="97154" h="45719">
                  <a:moveTo>
                    <a:pt x="0" y="45718"/>
                  </a:moveTo>
                  <a:lnTo>
                    <a:pt x="97153" y="45718"/>
                  </a:lnTo>
                  <a:lnTo>
                    <a:pt x="97153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096000" y="4216984"/>
              <a:ext cx="2023745" cy="1200785"/>
            </a:xfrm>
            <a:custGeom>
              <a:avLst/>
              <a:gdLst/>
              <a:ahLst/>
              <a:cxnLst/>
              <a:rect l="l" t="t" r="r" b="b"/>
              <a:pathLst>
                <a:path w="2023745" h="1200785">
                  <a:moveTo>
                    <a:pt x="0" y="1200327"/>
                  </a:moveTo>
                  <a:lnTo>
                    <a:pt x="2023491" y="1200327"/>
                  </a:lnTo>
                  <a:lnTo>
                    <a:pt x="2023491" y="0"/>
                  </a:lnTo>
                  <a:lnTo>
                    <a:pt x="0" y="0"/>
                  </a:lnTo>
                  <a:lnTo>
                    <a:pt x="0" y="1200327"/>
                  </a:lnTo>
                  <a:close/>
                </a:path>
              </a:pathLst>
            </a:custGeom>
            <a:ln w="9525">
              <a:solidFill>
                <a:srgbClr val="CCC1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6175628" y="4235577"/>
            <a:ext cx="17259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Project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Links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&amp; 	</a:t>
            </a:r>
            <a:r>
              <a:rPr sz="1800" b="1" spc="-10" dirty="0">
                <a:latin typeface="Calibri"/>
                <a:cs typeface="Calibri"/>
              </a:rPr>
              <a:t>Open-Source 	Codebase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1" name="object 18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103620" y="5160264"/>
            <a:ext cx="456437" cy="374142"/>
          </a:xfrm>
          <a:prstGeom prst="rect">
            <a:avLst/>
          </a:prstGeom>
        </p:spPr>
      </p:pic>
      <p:pic>
        <p:nvPicPr>
          <p:cNvPr id="188" name="object 188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229477" y="5221338"/>
            <a:ext cx="209435" cy="209435"/>
          </a:xfrm>
          <a:prstGeom prst="rect">
            <a:avLst/>
          </a:prstGeom>
        </p:spPr>
      </p:pic>
      <p:sp>
        <p:nvSpPr>
          <p:cNvPr id="182" name="object 182"/>
          <p:cNvSpPr/>
          <p:nvPr/>
        </p:nvSpPr>
        <p:spPr>
          <a:xfrm>
            <a:off x="7023989" y="5605043"/>
            <a:ext cx="3249295" cy="7620"/>
          </a:xfrm>
          <a:custGeom>
            <a:avLst/>
            <a:gdLst/>
            <a:ahLst/>
            <a:cxnLst/>
            <a:rect l="l" t="t" r="r" b="b"/>
            <a:pathLst>
              <a:path w="3249295" h="7620">
                <a:moveTo>
                  <a:pt x="3249167" y="0"/>
                </a:moveTo>
                <a:lnTo>
                  <a:pt x="0" y="0"/>
                </a:lnTo>
                <a:lnTo>
                  <a:pt x="0" y="7620"/>
                </a:lnTo>
                <a:lnTo>
                  <a:pt x="3249167" y="7620"/>
                </a:lnTo>
                <a:lnTo>
                  <a:pt x="324916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 txBox="1"/>
          <p:nvPr/>
        </p:nvSpPr>
        <p:spPr>
          <a:xfrm>
            <a:off x="6478651" y="5198745"/>
            <a:ext cx="38080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Official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GitHub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Source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Code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Repository:</a:t>
            </a:r>
            <a:endParaRPr sz="1400">
              <a:latin typeface="Calibri"/>
              <a:cs typeface="Calibri"/>
            </a:endParaRPr>
          </a:p>
          <a:p>
            <a:pPr marL="190500">
              <a:lnSpc>
                <a:spcPts val="1555"/>
              </a:lnSpc>
            </a:pPr>
            <a:r>
              <a:rPr sz="1300" b="1" dirty="0">
                <a:latin typeface="Calibri"/>
                <a:cs typeface="Calibri"/>
              </a:rPr>
              <a:t>URL:</a:t>
            </a:r>
            <a:r>
              <a:rPr sz="1300" b="1" spc="170" dirty="0"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Calibri"/>
                <a:cs typeface="Calibri"/>
                <a:hlinkClick r:id="rId60"/>
              </a:rPr>
              <a:t>https://github.com/sourabh160705/Satquery-</a:t>
            </a:r>
            <a:r>
              <a:rPr sz="1300" spc="-25" dirty="0">
                <a:solidFill>
                  <a:srgbClr val="0000FF"/>
                </a:solidFill>
                <a:latin typeface="Calibri"/>
                <a:cs typeface="Calibri"/>
                <a:hlinkClick r:id="rId60"/>
              </a:rPr>
              <a:t>AI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6947789" y="6412763"/>
            <a:ext cx="2319655" cy="7620"/>
          </a:xfrm>
          <a:custGeom>
            <a:avLst/>
            <a:gdLst/>
            <a:ahLst/>
            <a:cxnLst/>
            <a:rect l="l" t="t" r="r" b="b"/>
            <a:pathLst>
              <a:path w="2319654" h="7620">
                <a:moveTo>
                  <a:pt x="2319528" y="0"/>
                </a:moveTo>
                <a:lnTo>
                  <a:pt x="0" y="0"/>
                </a:lnTo>
                <a:lnTo>
                  <a:pt x="0" y="7619"/>
                </a:lnTo>
                <a:lnTo>
                  <a:pt x="2319528" y="7619"/>
                </a:lnTo>
                <a:lnTo>
                  <a:pt x="231952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6199759" y="5610250"/>
            <a:ext cx="5784850" cy="833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Calibri"/>
                <a:cs typeface="Calibri"/>
              </a:rPr>
              <a:t>Features:</a:t>
            </a:r>
            <a:r>
              <a:rPr sz="1300" i="1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FastAPI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backend,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React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18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+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Vite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frontend,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agentic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orchestrator,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automated </a:t>
            </a:r>
            <a:r>
              <a:rPr sz="1300" dirty="0">
                <a:latin typeface="Calibri"/>
                <a:cs typeface="Calibri"/>
              </a:rPr>
              <a:t>OpenAPI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documentation (/docs),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full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unit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tests.</a:t>
            </a:r>
            <a:endParaRPr sz="1300">
              <a:latin typeface="Calibri"/>
              <a:cs typeface="Calibri"/>
            </a:endParaRPr>
          </a:p>
          <a:p>
            <a:pPr marL="280670">
              <a:lnSpc>
                <a:spcPts val="1675"/>
              </a:lnSpc>
            </a:pPr>
            <a:r>
              <a:rPr sz="1400" b="1" dirty="0">
                <a:latin typeface="Calibri"/>
                <a:cs typeface="Calibri"/>
              </a:rPr>
              <a:t>Live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Working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Prototype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WebGIS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Application:</a:t>
            </a:r>
            <a:endParaRPr sz="14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Calibri"/>
                <a:cs typeface="Calibri"/>
              </a:rPr>
              <a:t>URL:</a:t>
            </a:r>
            <a:r>
              <a:rPr sz="1300" b="1" spc="35" dirty="0"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Calibri"/>
                <a:cs typeface="Calibri"/>
                <a:hlinkClick r:id="rId61"/>
              </a:rPr>
              <a:t>https://satquery-ai-psi.vercel.app/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229222" y="6037186"/>
            <a:ext cx="209651" cy="192925"/>
          </a:xfrm>
          <a:prstGeom prst="rect">
            <a:avLst/>
          </a:prstGeom>
        </p:spPr>
      </p:pic>
      <p:sp>
        <p:nvSpPr>
          <p:cNvPr id="186" name="object 186"/>
          <p:cNvSpPr txBox="1"/>
          <p:nvPr/>
        </p:nvSpPr>
        <p:spPr>
          <a:xfrm>
            <a:off x="6199759" y="6418275"/>
            <a:ext cx="582676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Calibri"/>
                <a:cs typeface="Calibri"/>
              </a:rPr>
              <a:t>Features: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Multi-</a:t>
            </a:r>
            <a:r>
              <a:rPr sz="1300" dirty="0">
                <a:latin typeface="Calibri"/>
                <a:cs typeface="Calibri"/>
              </a:rPr>
              <a:t>slot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GeoTIFF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uploader,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10-</a:t>
            </a:r>
            <a:r>
              <a:rPr sz="1300" dirty="0">
                <a:latin typeface="Calibri"/>
                <a:cs typeface="Calibri"/>
              </a:rPr>
              <a:t>year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historical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satellite </a:t>
            </a:r>
            <a:r>
              <a:rPr sz="1300" spc="-10" dirty="0">
                <a:latin typeface="Calibri"/>
                <a:cs typeface="Calibri"/>
              </a:rPr>
              <a:t>scrubber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(2016–</a:t>
            </a:r>
            <a:r>
              <a:rPr sz="1300" dirty="0">
                <a:latin typeface="Calibri"/>
                <a:cs typeface="Calibri"/>
              </a:rPr>
              <a:t>2026),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interactive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Leaflet </a:t>
            </a:r>
            <a:r>
              <a:rPr sz="1300" spc="-10" dirty="0">
                <a:latin typeface="Calibri"/>
                <a:cs typeface="Calibri"/>
              </a:rPr>
              <a:t>split-</a:t>
            </a:r>
            <a:r>
              <a:rPr sz="1300" dirty="0">
                <a:latin typeface="Calibri"/>
                <a:cs typeface="Calibri"/>
              </a:rPr>
              <a:t>screen swipe,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0" dirty="0">
                <a:latin typeface="Calibri"/>
                <a:cs typeface="Calibri"/>
              </a:rPr>
              <a:t> real-</a:t>
            </a:r>
            <a:r>
              <a:rPr sz="1300" dirty="0">
                <a:latin typeface="Calibri"/>
                <a:cs typeface="Calibri"/>
              </a:rPr>
              <a:t>time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execution trace</a:t>
            </a:r>
            <a:r>
              <a:rPr sz="1300" spc="-20" dirty="0">
                <a:latin typeface="Calibri"/>
                <a:cs typeface="Calibri"/>
              </a:rPr>
              <a:t> card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15217" y="239522"/>
            <a:ext cx="3694429" cy="6530340"/>
            <a:chOff x="15217" y="239522"/>
            <a:chExt cx="3694429" cy="65303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17" y="1328916"/>
              <a:ext cx="3694220" cy="54407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624" y="1343405"/>
              <a:ext cx="3622040" cy="5370195"/>
            </a:xfrm>
            <a:custGeom>
              <a:avLst/>
              <a:gdLst/>
              <a:ahLst/>
              <a:cxnLst/>
              <a:rect l="l" t="t" r="r" b="b"/>
              <a:pathLst>
                <a:path w="3622040" h="5370195">
                  <a:moveTo>
                    <a:pt x="3075782" y="0"/>
                  </a:moveTo>
                  <a:lnTo>
                    <a:pt x="545726" y="0"/>
                  </a:lnTo>
                  <a:lnTo>
                    <a:pt x="498639" y="2003"/>
                  </a:lnTo>
                  <a:lnTo>
                    <a:pt x="452664" y="7903"/>
                  </a:lnTo>
                  <a:lnTo>
                    <a:pt x="407965" y="17537"/>
                  </a:lnTo>
                  <a:lnTo>
                    <a:pt x="364706" y="30741"/>
                  </a:lnTo>
                  <a:lnTo>
                    <a:pt x="323050" y="47350"/>
                  </a:lnTo>
                  <a:lnTo>
                    <a:pt x="283162" y="67202"/>
                  </a:lnTo>
                  <a:lnTo>
                    <a:pt x="245206" y="90131"/>
                  </a:lnTo>
                  <a:lnTo>
                    <a:pt x="209344" y="115974"/>
                  </a:lnTo>
                  <a:lnTo>
                    <a:pt x="175742" y="144568"/>
                  </a:lnTo>
                  <a:lnTo>
                    <a:pt x="144562" y="175748"/>
                  </a:lnTo>
                  <a:lnTo>
                    <a:pt x="115969" y="209351"/>
                  </a:lnTo>
                  <a:lnTo>
                    <a:pt x="90127" y="245212"/>
                  </a:lnTo>
                  <a:lnTo>
                    <a:pt x="67198" y="283168"/>
                  </a:lnTo>
                  <a:lnTo>
                    <a:pt x="47348" y="323055"/>
                  </a:lnTo>
                  <a:lnTo>
                    <a:pt x="30739" y="364709"/>
                  </a:lnTo>
                  <a:lnTo>
                    <a:pt x="17536" y="407966"/>
                  </a:lnTo>
                  <a:lnTo>
                    <a:pt x="7903" y="452663"/>
                  </a:lnTo>
                  <a:lnTo>
                    <a:pt x="2003" y="498635"/>
                  </a:lnTo>
                  <a:lnTo>
                    <a:pt x="0" y="545719"/>
                  </a:lnTo>
                  <a:lnTo>
                    <a:pt x="0" y="4823955"/>
                  </a:lnTo>
                  <a:lnTo>
                    <a:pt x="2003" y="4871042"/>
                  </a:lnTo>
                  <a:lnTo>
                    <a:pt x="7903" y="4917017"/>
                  </a:lnTo>
                  <a:lnTo>
                    <a:pt x="17536" y="4961716"/>
                  </a:lnTo>
                  <a:lnTo>
                    <a:pt x="30739" y="5004974"/>
                  </a:lnTo>
                  <a:lnTo>
                    <a:pt x="47348" y="5046629"/>
                  </a:lnTo>
                  <a:lnTo>
                    <a:pt x="67198" y="5086517"/>
                  </a:lnTo>
                  <a:lnTo>
                    <a:pt x="90127" y="5124473"/>
                  </a:lnTo>
                  <a:lnTo>
                    <a:pt x="115969" y="5160334"/>
                  </a:lnTo>
                  <a:lnTo>
                    <a:pt x="144562" y="5193935"/>
                  </a:lnTo>
                  <a:lnTo>
                    <a:pt x="175742" y="5225114"/>
                  </a:lnTo>
                  <a:lnTo>
                    <a:pt x="209344" y="5253707"/>
                  </a:lnTo>
                  <a:lnTo>
                    <a:pt x="245206" y="5279549"/>
                  </a:lnTo>
                  <a:lnTo>
                    <a:pt x="283162" y="5302477"/>
                  </a:lnTo>
                  <a:lnTo>
                    <a:pt x="323050" y="5322327"/>
                  </a:lnTo>
                  <a:lnTo>
                    <a:pt x="364706" y="5338935"/>
                  </a:lnTo>
                  <a:lnTo>
                    <a:pt x="407965" y="5352137"/>
                  </a:lnTo>
                  <a:lnTo>
                    <a:pt x="452664" y="5361771"/>
                  </a:lnTo>
                  <a:lnTo>
                    <a:pt x="498639" y="5367671"/>
                  </a:lnTo>
                  <a:lnTo>
                    <a:pt x="545726" y="5369674"/>
                  </a:lnTo>
                  <a:lnTo>
                    <a:pt x="3075782" y="5369674"/>
                  </a:lnTo>
                  <a:lnTo>
                    <a:pt x="3122866" y="5367671"/>
                  </a:lnTo>
                  <a:lnTo>
                    <a:pt x="3168838" y="5361771"/>
                  </a:lnTo>
                  <a:lnTo>
                    <a:pt x="3213534" y="5352137"/>
                  </a:lnTo>
                  <a:lnTo>
                    <a:pt x="3256792" y="5338935"/>
                  </a:lnTo>
                  <a:lnTo>
                    <a:pt x="3298446" y="5322327"/>
                  </a:lnTo>
                  <a:lnTo>
                    <a:pt x="3338333" y="5302477"/>
                  </a:lnTo>
                  <a:lnTo>
                    <a:pt x="3376289" y="5279549"/>
                  </a:lnTo>
                  <a:lnTo>
                    <a:pt x="3412150" y="5253707"/>
                  </a:lnTo>
                  <a:lnTo>
                    <a:pt x="3445753" y="5225114"/>
                  </a:lnTo>
                  <a:lnTo>
                    <a:pt x="3476933" y="5193935"/>
                  </a:lnTo>
                  <a:lnTo>
                    <a:pt x="3505526" y="5160334"/>
                  </a:lnTo>
                  <a:lnTo>
                    <a:pt x="3531370" y="5124473"/>
                  </a:lnTo>
                  <a:lnTo>
                    <a:pt x="3554299" y="5086517"/>
                  </a:lnTo>
                  <a:lnTo>
                    <a:pt x="3574150" y="5046629"/>
                  </a:lnTo>
                  <a:lnTo>
                    <a:pt x="3590759" y="5004974"/>
                  </a:lnTo>
                  <a:lnTo>
                    <a:pt x="3603963" y="4961716"/>
                  </a:lnTo>
                  <a:lnTo>
                    <a:pt x="3613597" y="4917017"/>
                  </a:lnTo>
                  <a:lnTo>
                    <a:pt x="3619498" y="4871042"/>
                  </a:lnTo>
                  <a:lnTo>
                    <a:pt x="3621501" y="4823955"/>
                  </a:lnTo>
                  <a:lnTo>
                    <a:pt x="3621501" y="545719"/>
                  </a:lnTo>
                  <a:lnTo>
                    <a:pt x="3619498" y="498635"/>
                  </a:lnTo>
                  <a:lnTo>
                    <a:pt x="3613597" y="452663"/>
                  </a:lnTo>
                  <a:lnTo>
                    <a:pt x="3603963" y="407966"/>
                  </a:lnTo>
                  <a:lnTo>
                    <a:pt x="3590759" y="364709"/>
                  </a:lnTo>
                  <a:lnTo>
                    <a:pt x="3574150" y="323055"/>
                  </a:lnTo>
                  <a:lnTo>
                    <a:pt x="3554299" y="283168"/>
                  </a:lnTo>
                  <a:lnTo>
                    <a:pt x="3531370" y="245212"/>
                  </a:lnTo>
                  <a:lnTo>
                    <a:pt x="3505526" y="209351"/>
                  </a:lnTo>
                  <a:lnTo>
                    <a:pt x="3476933" y="175748"/>
                  </a:lnTo>
                  <a:lnTo>
                    <a:pt x="3445753" y="144568"/>
                  </a:lnTo>
                  <a:lnTo>
                    <a:pt x="3412150" y="115974"/>
                  </a:lnTo>
                  <a:lnTo>
                    <a:pt x="3376289" y="90131"/>
                  </a:lnTo>
                  <a:lnTo>
                    <a:pt x="3338333" y="67202"/>
                  </a:lnTo>
                  <a:lnTo>
                    <a:pt x="3298446" y="47350"/>
                  </a:lnTo>
                  <a:lnTo>
                    <a:pt x="3256792" y="30741"/>
                  </a:lnTo>
                  <a:lnTo>
                    <a:pt x="3213534" y="17537"/>
                  </a:lnTo>
                  <a:lnTo>
                    <a:pt x="3168838" y="7903"/>
                  </a:lnTo>
                  <a:lnTo>
                    <a:pt x="3122866" y="2003"/>
                  </a:lnTo>
                  <a:lnTo>
                    <a:pt x="3075782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24" y="1343405"/>
              <a:ext cx="3622040" cy="5370195"/>
            </a:xfrm>
            <a:custGeom>
              <a:avLst/>
              <a:gdLst/>
              <a:ahLst/>
              <a:cxnLst/>
              <a:rect l="l" t="t" r="r" b="b"/>
              <a:pathLst>
                <a:path w="3622040" h="5370195">
                  <a:moveTo>
                    <a:pt x="0" y="545719"/>
                  </a:moveTo>
                  <a:lnTo>
                    <a:pt x="2003" y="498635"/>
                  </a:lnTo>
                  <a:lnTo>
                    <a:pt x="7903" y="452663"/>
                  </a:lnTo>
                  <a:lnTo>
                    <a:pt x="17536" y="407966"/>
                  </a:lnTo>
                  <a:lnTo>
                    <a:pt x="30739" y="364709"/>
                  </a:lnTo>
                  <a:lnTo>
                    <a:pt x="47348" y="323055"/>
                  </a:lnTo>
                  <a:lnTo>
                    <a:pt x="67198" y="283168"/>
                  </a:lnTo>
                  <a:lnTo>
                    <a:pt x="90127" y="245212"/>
                  </a:lnTo>
                  <a:lnTo>
                    <a:pt x="115969" y="209351"/>
                  </a:lnTo>
                  <a:lnTo>
                    <a:pt x="144562" y="175748"/>
                  </a:lnTo>
                  <a:lnTo>
                    <a:pt x="175742" y="144568"/>
                  </a:lnTo>
                  <a:lnTo>
                    <a:pt x="209344" y="115974"/>
                  </a:lnTo>
                  <a:lnTo>
                    <a:pt x="245206" y="90131"/>
                  </a:lnTo>
                  <a:lnTo>
                    <a:pt x="283162" y="67202"/>
                  </a:lnTo>
                  <a:lnTo>
                    <a:pt x="323050" y="47350"/>
                  </a:lnTo>
                  <a:lnTo>
                    <a:pt x="364706" y="30741"/>
                  </a:lnTo>
                  <a:lnTo>
                    <a:pt x="407965" y="17537"/>
                  </a:lnTo>
                  <a:lnTo>
                    <a:pt x="452664" y="7903"/>
                  </a:lnTo>
                  <a:lnTo>
                    <a:pt x="498639" y="2003"/>
                  </a:lnTo>
                  <a:lnTo>
                    <a:pt x="545726" y="0"/>
                  </a:lnTo>
                  <a:lnTo>
                    <a:pt x="3075782" y="0"/>
                  </a:lnTo>
                  <a:lnTo>
                    <a:pt x="3122866" y="2003"/>
                  </a:lnTo>
                  <a:lnTo>
                    <a:pt x="3168838" y="7903"/>
                  </a:lnTo>
                  <a:lnTo>
                    <a:pt x="3213534" y="17537"/>
                  </a:lnTo>
                  <a:lnTo>
                    <a:pt x="3256792" y="30741"/>
                  </a:lnTo>
                  <a:lnTo>
                    <a:pt x="3298446" y="47350"/>
                  </a:lnTo>
                  <a:lnTo>
                    <a:pt x="3338333" y="67202"/>
                  </a:lnTo>
                  <a:lnTo>
                    <a:pt x="3376289" y="90131"/>
                  </a:lnTo>
                  <a:lnTo>
                    <a:pt x="3412150" y="115974"/>
                  </a:lnTo>
                  <a:lnTo>
                    <a:pt x="3445753" y="144568"/>
                  </a:lnTo>
                  <a:lnTo>
                    <a:pt x="3476933" y="175748"/>
                  </a:lnTo>
                  <a:lnTo>
                    <a:pt x="3505526" y="209351"/>
                  </a:lnTo>
                  <a:lnTo>
                    <a:pt x="3531370" y="245212"/>
                  </a:lnTo>
                  <a:lnTo>
                    <a:pt x="3554299" y="283168"/>
                  </a:lnTo>
                  <a:lnTo>
                    <a:pt x="3574150" y="323055"/>
                  </a:lnTo>
                  <a:lnTo>
                    <a:pt x="3590759" y="364709"/>
                  </a:lnTo>
                  <a:lnTo>
                    <a:pt x="3603963" y="407966"/>
                  </a:lnTo>
                  <a:lnTo>
                    <a:pt x="3613597" y="452663"/>
                  </a:lnTo>
                  <a:lnTo>
                    <a:pt x="3619498" y="498635"/>
                  </a:lnTo>
                  <a:lnTo>
                    <a:pt x="3621501" y="545719"/>
                  </a:lnTo>
                  <a:lnTo>
                    <a:pt x="3621501" y="4823955"/>
                  </a:lnTo>
                  <a:lnTo>
                    <a:pt x="3619498" y="4871042"/>
                  </a:lnTo>
                  <a:lnTo>
                    <a:pt x="3613597" y="4917017"/>
                  </a:lnTo>
                  <a:lnTo>
                    <a:pt x="3603963" y="4961716"/>
                  </a:lnTo>
                  <a:lnTo>
                    <a:pt x="3590759" y="5004974"/>
                  </a:lnTo>
                  <a:lnTo>
                    <a:pt x="3574150" y="5046629"/>
                  </a:lnTo>
                  <a:lnTo>
                    <a:pt x="3554299" y="5086517"/>
                  </a:lnTo>
                  <a:lnTo>
                    <a:pt x="3531370" y="5124473"/>
                  </a:lnTo>
                  <a:lnTo>
                    <a:pt x="3505526" y="5160334"/>
                  </a:lnTo>
                  <a:lnTo>
                    <a:pt x="3476933" y="5193935"/>
                  </a:lnTo>
                  <a:lnTo>
                    <a:pt x="3445753" y="5225114"/>
                  </a:lnTo>
                  <a:lnTo>
                    <a:pt x="3412150" y="5253707"/>
                  </a:lnTo>
                  <a:lnTo>
                    <a:pt x="3376289" y="5279549"/>
                  </a:lnTo>
                  <a:lnTo>
                    <a:pt x="3338333" y="5302477"/>
                  </a:lnTo>
                  <a:lnTo>
                    <a:pt x="3298446" y="5322327"/>
                  </a:lnTo>
                  <a:lnTo>
                    <a:pt x="3256792" y="5338935"/>
                  </a:lnTo>
                  <a:lnTo>
                    <a:pt x="3213534" y="5352137"/>
                  </a:lnTo>
                  <a:lnTo>
                    <a:pt x="3168838" y="5361771"/>
                  </a:lnTo>
                  <a:lnTo>
                    <a:pt x="3122866" y="5367671"/>
                  </a:lnTo>
                  <a:lnTo>
                    <a:pt x="3075782" y="5369674"/>
                  </a:lnTo>
                  <a:lnTo>
                    <a:pt x="545726" y="5369674"/>
                  </a:lnTo>
                  <a:lnTo>
                    <a:pt x="498639" y="5367671"/>
                  </a:lnTo>
                  <a:lnTo>
                    <a:pt x="452664" y="5361771"/>
                  </a:lnTo>
                  <a:lnTo>
                    <a:pt x="407965" y="5352137"/>
                  </a:lnTo>
                  <a:lnTo>
                    <a:pt x="364706" y="5338935"/>
                  </a:lnTo>
                  <a:lnTo>
                    <a:pt x="323050" y="5322327"/>
                  </a:lnTo>
                  <a:lnTo>
                    <a:pt x="283162" y="5302477"/>
                  </a:lnTo>
                  <a:lnTo>
                    <a:pt x="245206" y="5279549"/>
                  </a:lnTo>
                  <a:lnTo>
                    <a:pt x="209344" y="5253707"/>
                  </a:lnTo>
                  <a:lnTo>
                    <a:pt x="175742" y="5225114"/>
                  </a:lnTo>
                  <a:lnTo>
                    <a:pt x="144562" y="5193935"/>
                  </a:lnTo>
                  <a:lnTo>
                    <a:pt x="115969" y="5160334"/>
                  </a:lnTo>
                  <a:lnTo>
                    <a:pt x="90127" y="5124473"/>
                  </a:lnTo>
                  <a:lnTo>
                    <a:pt x="67198" y="5086517"/>
                  </a:lnTo>
                  <a:lnTo>
                    <a:pt x="47348" y="5046629"/>
                  </a:lnTo>
                  <a:lnTo>
                    <a:pt x="30739" y="5004974"/>
                  </a:lnTo>
                  <a:lnTo>
                    <a:pt x="17536" y="4961716"/>
                  </a:lnTo>
                  <a:lnTo>
                    <a:pt x="7903" y="4917017"/>
                  </a:lnTo>
                  <a:lnTo>
                    <a:pt x="2003" y="4871042"/>
                  </a:lnTo>
                  <a:lnTo>
                    <a:pt x="0" y="4823955"/>
                  </a:lnTo>
                  <a:lnTo>
                    <a:pt x="0" y="545719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9768" y="252222"/>
              <a:ext cx="1252220" cy="807720"/>
            </a:xfrm>
            <a:custGeom>
              <a:avLst/>
              <a:gdLst/>
              <a:ahLst/>
              <a:cxnLst/>
              <a:rect l="l" t="t" r="r" b="b"/>
              <a:pathLst>
                <a:path w="1252220" h="807719">
                  <a:moveTo>
                    <a:pt x="0" y="403732"/>
                  </a:moveTo>
                  <a:lnTo>
                    <a:pt x="10084" y="331151"/>
                  </a:lnTo>
                  <a:lnTo>
                    <a:pt x="39159" y="262842"/>
                  </a:lnTo>
                  <a:lnTo>
                    <a:pt x="60266" y="230646"/>
                  </a:lnTo>
                  <a:lnTo>
                    <a:pt x="85457" y="199945"/>
                  </a:lnTo>
                  <a:lnTo>
                    <a:pt x="114513" y="170881"/>
                  </a:lnTo>
                  <a:lnTo>
                    <a:pt x="147211" y="143597"/>
                  </a:lnTo>
                  <a:lnTo>
                    <a:pt x="183330" y="118237"/>
                  </a:lnTo>
                  <a:lnTo>
                    <a:pt x="222651" y="94940"/>
                  </a:lnTo>
                  <a:lnTo>
                    <a:pt x="264952" y="73852"/>
                  </a:lnTo>
                  <a:lnTo>
                    <a:pt x="310011" y="55113"/>
                  </a:lnTo>
                  <a:lnTo>
                    <a:pt x="357609" y="38866"/>
                  </a:lnTo>
                  <a:lnTo>
                    <a:pt x="407523" y="25254"/>
                  </a:lnTo>
                  <a:lnTo>
                    <a:pt x="459534" y="14419"/>
                  </a:lnTo>
                  <a:lnTo>
                    <a:pt x="513419" y="6503"/>
                  </a:lnTo>
                  <a:lnTo>
                    <a:pt x="568959" y="1649"/>
                  </a:lnTo>
                  <a:lnTo>
                    <a:pt x="625932" y="0"/>
                  </a:lnTo>
                  <a:lnTo>
                    <a:pt x="682901" y="1649"/>
                  </a:lnTo>
                  <a:lnTo>
                    <a:pt x="738438" y="6503"/>
                  </a:lnTo>
                  <a:lnTo>
                    <a:pt x="792323" y="14419"/>
                  </a:lnTo>
                  <a:lnTo>
                    <a:pt x="844333" y="25254"/>
                  </a:lnTo>
                  <a:lnTo>
                    <a:pt x="894248" y="38866"/>
                  </a:lnTo>
                  <a:lnTo>
                    <a:pt x="941847" y="55113"/>
                  </a:lnTo>
                  <a:lnTo>
                    <a:pt x="986909" y="73852"/>
                  </a:lnTo>
                  <a:lnTo>
                    <a:pt x="1029212" y="94940"/>
                  </a:lnTo>
                  <a:lnTo>
                    <a:pt x="1068536" y="118236"/>
                  </a:lnTo>
                  <a:lnTo>
                    <a:pt x="1104659" y="143597"/>
                  </a:lnTo>
                  <a:lnTo>
                    <a:pt x="1137361" y="170881"/>
                  </a:lnTo>
                  <a:lnTo>
                    <a:pt x="1166419" y="199945"/>
                  </a:lnTo>
                  <a:lnTo>
                    <a:pt x="1191614" y="230646"/>
                  </a:lnTo>
                  <a:lnTo>
                    <a:pt x="1212723" y="262842"/>
                  </a:lnTo>
                  <a:lnTo>
                    <a:pt x="1241803" y="331151"/>
                  </a:lnTo>
                  <a:lnTo>
                    <a:pt x="1251889" y="403732"/>
                  </a:lnTo>
                  <a:lnTo>
                    <a:pt x="1249331" y="440466"/>
                  </a:lnTo>
                  <a:lnTo>
                    <a:pt x="1229527" y="511020"/>
                  </a:lnTo>
                  <a:lnTo>
                    <a:pt x="1191614" y="576740"/>
                  </a:lnTo>
                  <a:lnTo>
                    <a:pt x="1166419" y="607431"/>
                  </a:lnTo>
                  <a:lnTo>
                    <a:pt x="1137361" y="636486"/>
                  </a:lnTo>
                  <a:lnTo>
                    <a:pt x="1104659" y="663762"/>
                  </a:lnTo>
                  <a:lnTo>
                    <a:pt x="1068536" y="689117"/>
                  </a:lnTo>
                  <a:lnTo>
                    <a:pt x="1029212" y="712409"/>
                  </a:lnTo>
                  <a:lnTo>
                    <a:pt x="986909" y="733494"/>
                  </a:lnTo>
                  <a:lnTo>
                    <a:pt x="941847" y="752230"/>
                  </a:lnTo>
                  <a:lnTo>
                    <a:pt x="894248" y="768475"/>
                  </a:lnTo>
                  <a:lnTo>
                    <a:pt x="844333" y="782086"/>
                  </a:lnTo>
                  <a:lnTo>
                    <a:pt x="792323" y="792920"/>
                  </a:lnTo>
                  <a:lnTo>
                    <a:pt x="738438" y="800835"/>
                  </a:lnTo>
                  <a:lnTo>
                    <a:pt x="682901" y="805689"/>
                  </a:lnTo>
                  <a:lnTo>
                    <a:pt x="625932" y="807338"/>
                  </a:lnTo>
                  <a:lnTo>
                    <a:pt x="568959" y="805689"/>
                  </a:lnTo>
                  <a:lnTo>
                    <a:pt x="513419" y="800835"/>
                  </a:lnTo>
                  <a:lnTo>
                    <a:pt x="459534" y="792920"/>
                  </a:lnTo>
                  <a:lnTo>
                    <a:pt x="407523" y="782086"/>
                  </a:lnTo>
                  <a:lnTo>
                    <a:pt x="357609" y="768475"/>
                  </a:lnTo>
                  <a:lnTo>
                    <a:pt x="310011" y="752230"/>
                  </a:lnTo>
                  <a:lnTo>
                    <a:pt x="264952" y="733494"/>
                  </a:lnTo>
                  <a:lnTo>
                    <a:pt x="222651" y="712409"/>
                  </a:lnTo>
                  <a:lnTo>
                    <a:pt x="183330" y="689117"/>
                  </a:lnTo>
                  <a:lnTo>
                    <a:pt x="147211" y="663762"/>
                  </a:lnTo>
                  <a:lnTo>
                    <a:pt x="114513" y="636486"/>
                  </a:lnTo>
                  <a:lnTo>
                    <a:pt x="85457" y="607431"/>
                  </a:lnTo>
                  <a:lnTo>
                    <a:pt x="60266" y="576740"/>
                  </a:lnTo>
                  <a:lnTo>
                    <a:pt x="39159" y="544555"/>
                  </a:lnTo>
                  <a:lnTo>
                    <a:pt x="10084" y="476276"/>
                  </a:lnTo>
                  <a:lnTo>
                    <a:pt x="0" y="403732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6440" y="21653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3768" y="490550"/>
            <a:ext cx="543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780157" y="99821"/>
            <a:ext cx="662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38425" y="653034"/>
            <a:ext cx="6920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Multi-</a:t>
            </a:r>
            <a:r>
              <a:rPr sz="1600" spc="-10" dirty="0">
                <a:solidFill>
                  <a:srgbClr val="E36C09"/>
                </a:solidFill>
                <a:latin typeface="Calibri"/>
                <a:cs typeface="Calibri"/>
              </a:rPr>
              <a:t>Dimensional</a:t>
            </a:r>
            <a:r>
              <a:rPr sz="1600" spc="-6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Feasibility</a:t>
            </a:r>
            <a:r>
              <a:rPr sz="1600" spc="-4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Analysis,</a:t>
            </a:r>
            <a:r>
              <a:rPr sz="1600" spc="-2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Risk</a:t>
            </a:r>
            <a:r>
              <a:rPr sz="1600" spc="-1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Matrix</a:t>
            </a:r>
            <a:r>
              <a:rPr sz="1600" spc="-3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&amp;</a:t>
            </a:r>
            <a:r>
              <a:rPr sz="1600" spc="-1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Technical</a:t>
            </a:r>
            <a:r>
              <a:rPr sz="1600" spc="-2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E36C09"/>
                </a:solidFill>
                <a:latin typeface="Calibri"/>
                <a:cs typeface="Calibri"/>
              </a:rPr>
              <a:t>Mitigation</a:t>
            </a:r>
            <a:r>
              <a:rPr sz="1600" spc="-4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E36C09"/>
                </a:solidFill>
                <a:latin typeface="Calibri"/>
                <a:cs typeface="Calibri"/>
              </a:rPr>
              <a:t>Strategies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5480" y="765428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8237" y="239522"/>
            <a:ext cx="1504315" cy="833119"/>
            <a:chOff x="118237" y="239522"/>
            <a:chExt cx="1504315" cy="833119"/>
          </a:xfrm>
        </p:grpSpPr>
        <p:sp>
          <p:nvSpPr>
            <p:cNvPr id="20" name="object 20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739355" y="0"/>
                  </a:moveTo>
                  <a:lnTo>
                    <a:pt x="678717" y="1338"/>
                  </a:lnTo>
                  <a:lnTo>
                    <a:pt x="619429" y="5283"/>
                  </a:lnTo>
                  <a:lnTo>
                    <a:pt x="561681" y="11731"/>
                  </a:lnTo>
                  <a:lnTo>
                    <a:pt x="505664" y="20579"/>
                  </a:lnTo>
                  <a:lnTo>
                    <a:pt x="451567" y="31722"/>
                  </a:lnTo>
                  <a:lnTo>
                    <a:pt x="399581" y="45057"/>
                  </a:lnTo>
                  <a:lnTo>
                    <a:pt x="349896" y="60479"/>
                  </a:lnTo>
                  <a:lnTo>
                    <a:pt x="302703" y="77886"/>
                  </a:lnTo>
                  <a:lnTo>
                    <a:pt x="258192" y="97173"/>
                  </a:lnTo>
                  <a:lnTo>
                    <a:pt x="216554" y="118237"/>
                  </a:lnTo>
                  <a:lnTo>
                    <a:pt x="177977" y="140973"/>
                  </a:lnTo>
                  <a:lnTo>
                    <a:pt x="142654" y="165277"/>
                  </a:lnTo>
                  <a:lnTo>
                    <a:pt x="110773" y="191047"/>
                  </a:lnTo>
                  <a:lnTo>
                    <a:pt x="82526" y="218178"/>
                  </a:lnTo>
                  <a:lnTo>
                    <a:pt x="37693" y="276108"/>
                  </a:lnTo>
                  <a:lnTo>
                    <a:pt x="9677" y="338236"/>
                  </a:lnTo>
                  <a:lnTo>
                    <a:pt x="0" y="403732"/>
                  </a:lnTo>
                  <a:lnTo>
                    <a:pt x="2450" y="436832"/>
                  </a:lnTo>
                  <a:lnTo>
                    <a:pt x="21487" y="500717"/>
                  </a:lnTo>
                  <a:lnTo>
                    <a:pt x="58102" y="560826"/>
                  </a:lnTo>
                  <a:lnTo>
                    <a:pt x="110773" y="616326"/>
                  </a:lnTo>
                  <a:lnTo>
                    <a:pt x="142654" y="642088"/>
                  </a:lnTo>
                  <a:lnTo>
                    <a:pt x="177977" y="666387"/>
                  </a:lnTo>
                  <a:lnTo>
                    <a:pt x="216554" y="689117"/>
                  </a:lnTo>
                  <a:lnTo>
                    <a:pt x="258192" y="710176"/>
                  </a:lnTo>
                  <a:lnTo>
                    <a:pt x="302703" y="729460"/>
                  </a:lnTo>
                  <a:lnTo>
                    <a:pt x="349896" y="746864"/>
                  </a:lnTo>
                  <a:lnTo>
                    <a:pt x="399581" y="762285"/>
                  </a:lnTo>
                  <a:lnTo>
                    <a:pt x="451567" y="775618"/>
                  </a:lnTo>
                  <a:lnTo>
                    <a:pt x="505664" y="786760"/>
                  </a:lnTo>
                  <a:lnTo>
                    <a:pt x="561681" y="795607"/>
                  </a:lnTo>
                  <a:lnTo>
                    <a:pt x="619429" y="802055"/>
                  </a:lnTo>
                  <a:lnTo>
                    <a:pt x="678717" y="806000"/>
                  </a:lnTo>
                  <a:lnTo>
                    <a:pt x="739355" y="807338"/>
                  </a:lnTo>
                  <a:lnTo>
                    <a:pt x="799995" y="806000"/>
                  </a:lnTo>
                  <a:lnTo>
                    <a:pt x="859283" y="802055"/>
                  </a:lnTo>
                  <a:lnTo>
                    <a:pt x="917031" y="795607"/>
                  </a:lnTo>
                  <a:lnTo>
                    <a:pt x="973047" y="786760"/>
                  </a:lnTo>
                  <a:lnTo>
                    <a:pt x="1027142" y="775618"/>
                  </a:lnTo>
                  <a:lnTo>
                    <a:pt x="1079125" y="762285"/>
                  </a:lnTo>
                  <a:lnTo>
                    <a:pt x="1128806" y="746864"/>
                  </a:lnTo>
                  <a:lnTo>
                    <a:pt x="1175995" y="729460"/>
                  </a:lnTo>
                  <a:lnTo>
                    <a:pt x="1220502" y="710176"/>
                  </a:lnTo>
                  <a:lnTo>
                    <a:pt x="1262137" y="689117"/>
                  </a:lnTo>
                  <a:lnTo>
                    <a:pt x="1300709" y="666387"/>
                  </a:lnTo>
                  <a:lnTo>
                    <a:pt x="1336028" y="642088"/>
                  </a:lnTo>
                  <a:lnTo>
                    <a:pt x="1367904" y="616326"/>
                  </a:lnTo>
                  <a:lnTo>
                    <a:pt x="1396147" y="589204"/>
                  </a:lnTo>
                  <a:lnTo>
                    <a:pt x="1440974" y="531295"/>
                  </a:lnTo>
                  <a:lnTo>
                    <a:pt x="1468985" y="469195"/>
                  </a:lnTo>
                  <a:lnTo>
                    <a:pt x="1478661" y="403732"/>
                  </a:lnTo>
                  <a:lnTo>
                    <a:pt x="1476210" y="370615"/>
                  </a:lnTo>
                  <a:lnTo>
                    <a:pt x="1457176" y="306699"/>
                  </a:lnTo>
                  <a:lnTo>
                    <a:pt x="1420567" y="246566"/>
                  </a:lnTo>
                  <a:lnTo>
                    <a:pt x="1367904" y="191047"/>
                  </a:lnTo>
                  <a:lnTo>
                    <a:pt x="1336028" y="165277"/>
                  </a:lnTo>
                  <a:lnTo>
                    <a:pt x="1300709" y="140973"/>
                  </a:lnTo>
                  <a:lnTo>
                    <a:pt x="1262137" y="118237"/>
                  </a:lnTo>
                  <a:lnTo>
                    <a:pt x="1220502" y="97173"/>
                  </a:lnTo>
                  <a:lnTo>
                    <a:pt x="1175995" y="77886"/>
                  </a:lnTo>
                  <a:lnTo>
                    <a:pt x="1128806" y="60479"/>
                  </a:lnTo>
                  <a:lnTo>
                    <a:pt x="1079125" y="45057"/>
                  </a:lnTo>
                  <a:lnTo>
                    <a:pt x="1027142" y="31722"/>
                  </a:lnTo>
                  <a:lnTo>
                    <a:pt x="973047" y="20579"/>
                  </a:lnTo>
                  <a:lnTo>
                    <a:pt x="917031" y="11731"/>
                  </a:lnTo>
                  <a:lnTo>
                    <a:pt x="859283" y="5283"/>
                  </a:lnTo>
                  <a:lnTo>
                    <a:pt x="799995" y="1338"/>
                  </a:lnTo>
                  <a:lnTo>
                    <a:pt x="739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0" y="403732"/>
                  </a:moveTo>
                  <a:lnTo>
                    <a:pt x="9677" y="338236"/>
                  </a:lnTo>
                  <a:lnTo>
                    <a:pt x="37693" y="276108"/>
                  </a:lnTo>
                  <a:lnTo>
                    <a:pt x="82526" y="218178"/>
                  </a:lnTo>
                  <a:lnTo>
                    <a:pt x="110773" y="191047"/>
                  </a:lnTo>
                  <a:lnTo>
                    <a:pt x="142654" y="165277"/>
                  </a:lnTo>
                  <a:lnTo>
                    <a:pt x="177977" y="140973"/>
                  </a:lnTo>
                  <a:lnTo>
                    <a:pt x="216554" y="118237"/>
                  </a:lnTo>
                  <a:lnTo>
                    <a:pt x="258192" y="97173"/>
                  </a:lnTo>
                  <a:lnTo>
                    <a:pt x="302703" y="77886"/>
                  </a:lnTo>
                  <a:lnTo>
                    <a:pt x="349896" y="60479"/>
                  </a:lnTo>
                  <a:lnTo>
                    <a:pt x="399581" y="45057"/>
                  </a:lnTo>
                  <a:lnTo>
                    <a:pt x="451567" y="31722"/>
                  </a:lnTo>
                  <a:lnTo>
                    <a:pt x="505664" y="20579"/>
                  </a:lnTo>
                  <a:lnTo>
                    <a:pt x="561681" y="11731"/>
                  </a:lnTo>
                  <a:lnTo>
                    <a:pt x="619429" y="5283"/>
                  </a:lnTo>
                  <a:lnTo>
                    <a:pt x="678717" y="1338"/>
                  </a:lnTo>
                  <a:lnTo>
                    <a:pt x="739355" y="0"/>
                  </a:lnTo>
                  <a:lnTo>
                    <a:pt x="799995" y="1338"/>
                  </a:lnTo>
                  <a:lnTo>
                    <a:pt x="859283" y="5283"/>
                  </a:lnTo>
                  <a:lnTo>
                    <a:pt x="917031" y="11731"/>
                  </a:lnTo>
                  <a:lnTo>
                    <a:pt x="973047" y="20579"/>
                  </a:lnTo>
                  <a:lnTo>
                    <a:pt x="1027142" y="31722"/>
                  </a:lnTo>
                  <a:lnTo>
                    <a:pt x="1079125" y="45057"/>
                  </a:lnTo>
                  <a:lnTo>
                    <a:pt x="1128806" y="60479"/>
                  </a:lnTo>
                  <a:lnTo>
                    <a:pt x="1175995" y="77886"/>
                  </a:lnTo>
                  <a:lnTo>
                    <a:pt x="1220502" y="97173"/>
                  </a:lnTo>
                  <a:lnTo>
                    <a:pt x="1262137" y="118237"/>
                  </a:lnTo>
                  <a:lnTo>
                    <a:pt x="1300709" y="140973"/>
                  </a:lnTo>
                  <a:lnTo>
                    <a:pt x="1336028" y="165277"/>
                  </a:lnTo>
                  <a:lnTo>
                    <a:pt x="1367904" y="191047"/>
                  </a:lnTo>
                  <a:lnTo>
                    <a:pt x="1396147" y="218178"/>
                  </a:lnTo>
                  <a:lnTo>
                    <a:pt x="1440974" y="276108"/>
                  </a:lnTo>
                  <a:lnTo>
                    <a:pt x="1468985" y="338236"/>
                  </a:lnTo>
                  <a:lnTo>
                    <a:pt x="1478661" y="403732"/>
                  </a:lnTo>
                  <a:lnTo>
                    <a:pt x="1476210" y="436832"/>
                  </a:lnTo>
                  <a:lnTo>
                    <a:pt x="1457176" y="500717"/>
                  </a:lnTo>
                  <a:lnTo>
                    <a:pt x="1420567" y="560826"/>
                  </a:lnTo>
                  <a:lnTo>
                    <a:pt x="1367904" y="616326"/>
                  </a:lnTo>
                  <a:lnTo>
                    <a:pt x="1336028" y="642088"/>
                  </a:lnTo>
                  <a:lnTo>
                    <a:pt x="1300709" y="666387"/>
                  </a:lnTo>
                  <a:lnTo>
                    <a:pt x="1262137" y="689117"/>
                  </a:lnTo>
                  <a:lnTo>
                    <a:pt x="1220502" y="710176"/>
                  </a:lnTo>
                  <a:lnTo>
                    <a:pt x="1175995" y="729460"/>
                  </a:lnTo>
                  <a:lnTo>
                    <a:pt x="1128806" y="746864"/>
                  </a:lnTo>
                  <a:lnTo>
                    <a:pt x="1079125" y="762285"/>
                  </a:lnTo>
                  <a:lnTo>
                    <a:pt x="1027142" y="775618"/>
                  </a:lnTo>
                  <a:lnTo>
                    <a:pt x="973047" y="786760"/>
                  </a:lnTo>
                  <a:lnTo>
                    <a:pt x="917031" y="795607"/>
                  </a:lnTo>
                  <a:lnTo>
                    <a:pt x="859283" y="802055"/>
                  </a:lnTo>
                  <a:lnTo>
                    <a:pt x="799995" y="806000"/>
                  </a:lnTo>
                  <a:lnTo>
                    <a:pt x="739355" y="807338"/>
                  </a:lnTo>
                  <a:lnTo>
                    <a:pt x="678717" y="806000"/>
                  </a:lnTo>
                  <a:lnTo>
                    <a:pt x="619429" y="802055"/>
                  </a:lnTo>
                  <a:lnTo>
                    <a:pt x="561681" y="795607"/>
                  </a:lnTo>
                  <a:lnTo>
                    <a:pt x="505664" y="786760"/>
                  </a:lnTo>
                  <a:lnTo>
                    <a:pt x="451567" y="775618"/>
                  </a:lnTo>
                  <a:lnTo>
                    <a:pt x="399581" y="762285"/>
                  </a:lnTo>
                  <a:lnTo>
                    <a:pt x="349896" y="746864"/>
                  </a:lnTo>
                  <a:lnTo>
                    <a:pt x="302703" y="729460"/>
                  </a:lnTo>
                  <a:lnTo>
                    <a:pt x="258192" y="710176"/>
                  </a:lnTo>
                  <a:lnTo>
                    <a:pt x="216554" y="689117"/>
                  </a:lnTo>
                  <a:lnTo>
                    <a:pt x="177977" y="666387"/>
                  </a:lnTo>
                  <a:lnTo>
                    <a:pt x="142654" y="642088"/>
                  </a:lnTo>
                  <a:lnTo>
                    <a:pt x="110773" y="616326"/>
                  </a:lnTo>
                  <a:lnTo>
                    <a:pt x="82526" y="589204"/>
                  </a:lnTo>
                  <a:lnTo>
                    <a:pt x="37693" y="531295"/>
                  </a:lnTo>
                  <a:lnTo>
                    <a:pt x="9677" y="469195"/>
                  </a:lnTo>
                  <a:lnTo>
                    <a:pt x="0" y="403732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7133" y="353695"/>
            <a:ext cx="4673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3948" y="628269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Manions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7579" y="19852"/>
            <a:ext cx="2199504" cy="10257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8739" y="894079"/>
            <a:ext cx="3728085" cy="372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334" marR="5080" indent="-287655">
              <a:lnSpc>
                <a:spcPct val="144700"/>
              </a:lnSpc>
              <a:spcBef>
                <a:spcPts val="100"/>
              </a:spcBef>
            </a:pP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Analysis</a:t>
            </a:r>
            <a:r>
              <a:rPr sz="1800" b="1" spc="-35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of</a:t>
            </a:r>
            <a:r>
              <a:rPr sz="1800" b="1" spc="5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Feasibility</a:t>
            </a:r>
            <a:r>
              <a:rPr sz="1800" b="1" spc="-20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of</a:t>
            </a:r>
            <a:r>
              <a:rPr sz="1800" b="1" spc="-5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3A1C6"/>
                </a:solidFill>
                <a:latin typeface="Calibri"/>
                <a:cs typeface="Calibri"/>
              </a:rPr>
              <a:t>the</a:t>
            </a:r>
            <a:r>
              <a:rPr sz="1800" b="1" spc="-5" dirty="0">
                <a:solidFill>
                  <a:srgbClr val="B3A1C6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B3A1C6"/>
                </a:solidFill>
                <a:latin typeface="Calibri"/>
                <a:cs typeface="Calibri"/>
              </a:rPr>
              <a:t>Idea </a:t>
            </a:r>
            <a:r>
              <a:rPr sz="1800" b="1" dirty="0">
                <a:latin typeface="Calibri"/>
                <a:cs typeface="Calibri"/>
              </a:rPr>
              <a:t>Technical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Feasibility:</a:t>
            </a:r>
            <a:endParaRPr sz="1800">
              <a:latin typeface="Calibri"/>
              <a:cs typeface="Calibri"/>
            </a:endParaRPr>
          </a:p>
          <a:p>
            <a:pPr marL="360045" indent="-286385">
              <a:lnSpc>
                <a:spcPct val="100000"/>
              </a:lnSpc>
              <a:spcBef>
                <a:spcPts val="30"/>
              </a:spcBef>
              <a:buFont typeface="Wingdings"/>
              <a:buChar char=""/>
              <a:tabLst>
                <a:tab pos="360045" algn="l"/>
              </a:tabLst>
            </a:pPr>
            <a:r>
              <a:rPr sz="1300" b="1" dirty="0">
                <a:latin typeface="Calibri"/>
                <a:cs typeface="Calibri"/>
              </a:rPr>
              <a:t>Proven</a:t>
            </a:r>
            <a:r>
              <a:rPr sz="1300" b="1" spc="-4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Working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Prototype: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Validated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</a:t>
            </a:r>
            <a:endParaRPr sz="1100">
              <a:latin typeface="Calibri"/>
              <a:cs typeface="Calibri"/>
            </a:endParaRPr>
          </a:p>
          <a:p>
            <a:pPr marL="360045" marR="448309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active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deployed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satquery-ai-psi.vercel.app</a:t>
            </a:r>
            <a:r>
              <a:rPr sz="1100" spc="-10" dirty="0">
                <a:latin typeface="Calibri"/>
                <a:cs typeface="Calibri"/>
              </a:rPr>
              <a:t>) </a:t>
            </a:r>
            <a:r>
              <a:rPr sz="1100" dirty="0">
                <a:latin typeface="Calibri"/>
                <a:cs typeface="Calibri"/>
              </a:rPr>
              <a:t>delivering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sub-</a:t>
            </a:r>
            <a:r>
              <a:rPr sz="1100" dirty="0">
                <a:latin typeface="Calibri"/>
                <a:cs typeface="Calibri"/>
              </a:rPr>
              <a:t>second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inference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FastAPI,</a:t>
            </a:r>
            <a:endParaRPr sz="1100">
              <a:latin typeface="Calibri"/>
              <a:cs typeface="Calibri"/>
            </a:endParaRPr>
          </a:p>
          <a:p>
            <a:pPr marL="360045">
              <a:lnSpc>
                <a:spcPts val="1310"/>
              </a:lnSpc>
            </a:pPr>
            <a:r>
              <a:rPr sz="1100" dirty="0">
                <a:latin typeface="Calibri"/>
                <a:cs typeface="Calibri"/>
              </a:rPr>
              <a:t>Uvicorn,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HTML5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Canvas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differencing.</a:t>
            </a:r>
            <a:endParaRPr sz="1100">
              <a:latin typeface="Calibri"/>
              <a:cs typeface="Calibri"/>
            </a:endParaRPr>
          </a:p>
          <a:p>
            <a:pPr marL="360045" marR="688340" indent="-287020">
              <a:lnSpc>
                <a:spcPts val="1380"/>
              </a:lnSpc>
              <a:spcBef>
                <a:spcPts val="185"/>
              </a:spcBef>
              <a:buFont typeface="Wingdings"/>
              <a:buChar char=""/>
              <a:tabLst>
                <a:tab pos="360045" algn="l"/>
              </a:tabLst>
            </a:pPr>
            <a:r>
              <a:rPr sz="1300" b="1" dirty="0">
                <a:latin typeface="Calibri"/>
                <a:cs typeface="Calibri"/>
              </a:rPr>
              <a:t>Native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Multi-</a:t>
            </a:r>
            <a:r>
              <a:rPr sz="1300" b="1" dirty="0">
                <a:latin typeface="Calibri"/>
                <a:cs typeface="Calibri"/>
              </a:rPr>
              <a:t>Spectral</a:t>
            </a:r>
            <a:r>
              <a:rPr sz="1300" b="1" spc="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Engine: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Seamlessly </a:t>
            </a:r>
            <a:r>
              <a:rPr sz="1100" dirty="0">
                <a:latin typeface="Calibri"/>
                <a:cs typeface="Calibri"/>
              </a:rPr>
              <a:t>parses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GeoTIFF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rasters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Rasterio/GDAL,</a:t>
            </a:r>
            <a:endParaRPr sz="1100">
              <a:latin typeface="Calibri"/>
              <a:cs typeface="Calibri"/>
            </a:endParaRPr>
          </a:p>
          <a:p>
            <a:pPr marL="360045">
              <a:lnSpc>
                <a:spcPts val="1255"/>
              </a:lnSpc>
            </a:pPr>
            <a:r>
              <a:rPr sz="1100" dirty="0">
                <a:latin typeface="Calibri"/>
                <a:cs typeface="Calibri"/>
              </a:rPr>
              <a:t>eliminating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manual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preprocessing.</a:t>
            </a:r>
            <a:endParaRPr sz="1100">
              <a:latin typeface="Calibri"/>
              <a:cs typeface="Calibri"/>
            </a:endParaRPr>
          </a:p>
          <a:p>
            <a:pPr marL="360045" indent="-286385">
              <a:lnSpc>
                <a:spcPts val="1550"/>
              </a:lnSpc>
              <a:buFont typeface="Wingdings"/>
              <a:buChar char=""/>
              <a:tabLst>
                <a:tab pos="360045" algn="l"/>
              </a:tabLst>
            </a:pPr>
            <a:r>
              <a:rPr sz="1300" b="1" dirty="0">
                <a:latin typeface="Calibri"/>
                <a:cs typeface="Calibri"/>
              </a:rPr>
              <a:t>Modular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Vision-Language</a:t>
            </a:r>
            <a:endParaRPr sz="1300">
              <a:latin typeface="Calibri"/>
              <a:cs typeface="Calibri"/>
            </a:endParaRPr>
          </a:p>
          <a:p>
            <a:pPr marL="360045">
              <a:lnSpc>
                <a:spcPct val="100000"/>
              </a:lnSpc>
            </a:pPr>
            <a:r>
              <a:rPr sz="1300" b="1" dirty="0">
                <a:latin typeface="Calibri"/>
                <a:cs typeface="Calibri"/>
              </a:rPr>
              <a:t>Backbones</a:t>
            </a:r>
            <a:r>
              <a:rPr sz="1100" b="1" dirty="0">
                <a:latin typeface="Calibri"/>
                <a:cs typeface="Calibri"/>
              </a:rPr>
              <a:t>: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Successfully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orchestrates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domain-</a:t>
            </a:r>
            <a:endParaRPr sz="1100">
              <a:latin typeface="Calibri"/>
              <a:cs typeface="Calibri"/>
            </a:endParaRPr>
          </a:p>
          <a:p>
            <a:pPr marL="360045" marR="423545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 </a:t>
            </a:r>
            <a:r>
              <a:rPr sz="1100" spc="-10" dirty="0">
                <a:latin typeface="Calibri"/>
                <a:cs typeface="Calibri"/>
              </a:rPr>
              <a:t>(RS-</a:t>
            </a:r>
            <a:r>
              <a:rPr sz="1100" dirty="0">
                <a:latin typeface="Calibri"/>
                <a:cs typeface="Calibri"/>
              </a:rPr>
              <a:t>VQA,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BigEarthNet-</a:t>
            </a:r>
            <a:r>
              <a:rPr sz="1100" dirty="0">
                <a:latin typeface="Calibri"/>
                <a:cs typeface="Calibri"/>
              </a:rPr>
              <a:t>19,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LEVIR-</a:t>
            </a:r>
            <a:r>
              <a:rPr sz="1100" spc="-25" dirty="0">
                <a:latin typeface="Calibri"/>
                <a:cs typeface="Calibri"/>
              </a:rPr>
              <a:t>CD, </a:t>
            </a:r>
            <a:r>
              <a:rPr sz="1100" dirty="0">
                <a:latin typeface="Calibri"/>
                <a:cs typeface="Calibri"/>
              </a:rPr>
              <a:t>SEN12MS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Optical-</a:t>
            </a:r>
            <a:r>
              <a:rPr sz="1100" spc="-20" dirty="0">
                <a:latin typeface="Calibri"/>
                <a:cs typeface="Calibri"/>
              </a:rPr>
              <a:t>SAR).</a:t>
            </a:r>
            <a:endParaRPr sz="11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345"/>
              </a:spcBef>
            </a:pPr>
            <a:r>
              <a:rPr sz="1800" b="1" dirty="0">
                <a:latin typeface="Calibri"/>
                <a:cs typeface="Calibri"/>
              </a:rPr>
              <a:t>Operational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Feasibility</a:t>
            </a:r>
            <a:endParaRPr sz="1800">
              <a:latin typeface="Calibri"/>
              <a:cs typeface="Calibri"/>
            </a:endParaRPr>
          </a:p>
          <a:p>
            <a:pPr marL="299085" marR="236220" indent="-287020">
              <a:lnSpc>
                <a:spcPct val="104900"/>
              </a:lnSpc>
              <a:spcBef>
                <a:spcPts val="425"/>
              </a:spcBef>
              <a:buFont typeface="Wingdings"/>
              <a:buChar char=""/>
              <a:tabLst>
                <a:tab pos="299085" algn="l"/>
                <a:tab pos="403860" algn="l"/>
              </a:tabLst>
            </a:pP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300" b="1" dirty="0">
                <a:latin typeface="Calibri"/>
                <a:cs typeface="Calibri"/>
              </a:rPr>
              <a:t>Zero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Client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Footprint:</a:t>
            </a:r>
            <a:r>
              <a:rPr sz="1300" b="1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100%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web-</a:t>
            </a:r>
            <a:r>
              <a:rPr sz="1100" dirty="0">
                <a:latin typeface="Calibri"/>
                <a:cs typeface="Calibri"/>
              </a:rPr>
              <a:t>based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WebGIS </a:t>
            </a:r>
            <a:r>
              <a:rPr sz="1100" dirty="0">
                <a:latin typeface="Calibri"/>
                <a:cs typeface="Calibri"/>
              </a:rPr>
              <a:t>interface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running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standard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laptops,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tablets,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spc="-10" dirty="0">
                <a:latin typeface="Calibri"/>
                <a:cs typeface="Calibri"/>
              </a:rPr>
              <a:t>smartphones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without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NVIDIA</a:t>
            </a:r>
            <a:r>
              <a:rPr sz="1100" spc="-10" dirty="0">
                <a:latin typeface="Calibri"/>
                <a:cs typeface="Calibri"/>
              </a:rPr>
              <a:t> GPUs.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3878562" y="1112202"/>
            <a:ext cx="5048250" cy="2988945"/>
            <a:chOff x="3878562" y="1112202"/>
            <a:chExt cx="5048250" cy="2988945"/>
          </a:xfrm>
        </p:grpSpPr>
        <p:pic>
          <p:nvPicPr>
            <p:cNvPr id="3" name="object 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8562" y="1336527"/>
              <a:ext cx="4617756" cy="27645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17569" y="1351660"/>
              <a:ext cx="4544695" cy="2693670"/>
            </a:xfrm>
            <a:custGeom>
              <a:avLst/>
              <a:gdLst/>
              <a:ahLst/>
              <a:cxnLst/>
              <a:rect l="l" t="t" r="r" b="b"/>
              <a:pathLst>
                <a:path w="4544695" h="2693670">
                  <a:moveTo>
                    <a:pt x="4327016" y="0"/>
                  </a:moveTo>
                  <a:lnTo>
                    <a:pt x="217296" y="0"/>
                  </a:lnTo>
                  <a:lnTo>
                    <a:pt x="167471" y="5739"/>
                  </a:lnTo>
                  <a:lnTo>
                    <a:pt x="121733" y="22088"/>
                  </a:lnTo>
                  <a:lnTo>
                    <a:pt x="81386" y="47746"/>
                  </a:lnTo>
                  <a:lnTo>
                    <a:pt x="47736" y="81410"/>
                  </a:lnTo>
                  <a:lnTo>
                    <a:pt x="22085" y="121779"/>
                  </a:lnTo>
                  <a:lnTo>
                    <a:pt x="5738" y="167551"/>
                  </a:lnTo>
                  <a:lnTo>
                    <a:pt x="0" y="217424"/>
                  </a:lnTo>
                  <a:lnTo>
                    <a:pt x="0" y="2475738"/>
                  </a:lnTo>
                  <a:lnTo>
                    <a:pt x="5738" y="2525610"/>
                  </a:lnTo>
                  <a:lnTo>
                    <a:pt x="22085" y="2571382"/>
                  </a:lnTo>
                  <a:lnTo>
                    <a:pt x="47736" y="2611751"/>
                  </a:lnTo>
                  <a:lnTo>
                    <a:pt x="81386" y="2645415"/>
                  </a:lnTo>
                  <a:lnTo>
                    <a:pt x="121733" y="2671073"/>
                  </a:lnTo>
                  <a:lnTo>
                    <a:pt x="167471" y="2687422"/>
                  </a:lnTo>
                  <a:lnTo>
                    <a:pt x="217296" y="2693162"/>
                  </a:lnTo>
                  <a:lnTo>
                    <a:pt x="4327016" y="2693162"/>
                  </a:lnTo>
                  <a:lnTo>
                    <a:pt x="4376842" y="2687422"/>
                  </a:lnTo>
                  <a:lnTo>
                    <a:pt x="4422580" y="2671073"/>
                  </a:lnTo>
                  <a:lnTo>
                    <a:pt x="4462927" y="2645415"/>
                  </a:lnTo>
                  <a:lnTo>
                    <a:pt x="4496577" y="2611751"/>
                  </a:lnTo>
                  <a:lnTo>
                    <a:pt x="4522228" y="2571382"/>
                  </a:lnTo>
                  <a:lnTo>
                    <a:pt x="4538575" y="2525610"/>
                  </a:lnTo>
                  <a:lnTo>
                    <a:pt x="4544313" y="2475738"/>
                  </a:lnTo>
                  <a:lnTo>
                    <a:pt x="4544313" y="217424"/>
                  </a:lnTo>
                  <a:lnTo>
                    <a:pt x="4538575" y="167551"/>
                  </a:lnTo>
                  <a:lnTo>
                    <a:pt x="4522228" y="121779"/>
                  </a:lnTo>
                  <a:lnTo>
                    <a:pt x="4496577" y="81410"/>
                  </a:lnTo>
                  <a:lnTo>
                    <a:pt x="4462927" y="47746"/>
                  </a:lnTo>
                  <a:lnTo>
                    <a:pt x="4422580" y="22088"/>
                  </a:lnTo>
                  <a:lnTo>
                    <a:pt x="4376842" y="5739"/>
                  </a:lnTo>
                  <a:lnTo>
                    <a:pt x="4327016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7569" y="1351660"/>
              <a:ext cx="4544695" cy="2693670"/>
            </a:xfrm>
            <a:custGeom>
              <a:avLst/>
              <a:gdLst/>
              <a:ahLst/>
              <a:cxnLst/>
              <a:rect l="l" t="t" r="r" b="b"/>
              <a:pathLst>
                <a:path w="4544695" h="2693670">
                  <a:moveTo>
                    <a:pt x="0" y="217424"/>
                  </a:moveTo>
                  <a:lnTo>
                    <a:pt x="5738" y="167551"/>
                  </a:lnTo>
                  <a:lnTo>
                    <a:pt x="22085" y="121779"/>
                  </a:lnTo>
                  <a:lnTo>
                    <a:pt x="47736" y="81410"/>
                  </a:lnTo>
                  <a:lnTo>
                    <a:pt x="81386" y="47746"/>
                  </a:lnTo>
                  <a:lnTo>
                    <a:pt x="121733" y="22088"/>
                  </a:lnTo>
                  <a:lnTo>
                    <a:pt x="167471" y="5739"/>
                  </a:lnTo>
                  <a:lnTo>
                    <a:pt x="217296" y="0"/>
                  </a:lnTo>
                  <a:lnTo>
                    <a:pt x="4327016" y="0"/>
                  </a:lnTo>
                  <a:lnTo>
                    <a:pt x="4376842" y="5739"/>
                  </a:lnTo>
                  <a:lnTo>
                    <a:pt x="4422580" y="22088"/>
                  </a:lnTo>
                  <a:lnTo>
                    <a:pt x="4462927" y="47746"/>
                  </a:lnTo>
                  <a:lnTo>
                    <a:pt x="4496577" y="81410"/>
                  </a:lnTo>
                  <a:lnTo>
                    <a:pt x="4522228" y="121779"/>
                  </a:lnTo>
                  <a:lnTo>
                    <a:pt x="4538575" y="167551"/>
                  </a:lnTo>
                  <a:lnTo>
                    <a:pt x="4544313" y="217424"/>
                  </a:lnTo>
                  <a:lnTo>
                    <a:pt x="4544313" y="2475738"/>
                  </a:lnTo>
                  <a:lnTo>
                    <a:pt x="4538575" y="2525610"/>
                  </a:lnTo>
                  <a:lnTo>
                    <a:pt x="4522228" y="2571382"/>
                  </a:lnTo>
                  <a:lnTo>
                    <a:pt x="4496577" y="2611751"/>
                  </a:lnTo>
                  <a:lnTo>
                    <a:pt x="4462927" y="2645415"/>
                  </a:lnTo>
                  <a:lnTo>
                    <a:pt x="4422580" y="2671073"/>
                  </a:lnTo>
                  <a:lnTo>
                    <a:pt x="4376842" y="2687422"/>
                  </a:lnTo>
                  <a:lnTo>
                    <a:pt x="4327016" y="2693162"/>
                  </a:lnTo>
                  <a:lnTo>
                    <a:pt x="217296" y="2693162"/>
                  </a:lnTo>
                  <a:lnTo>
                    <a:pt x="167471" y="2687422"/>
                  </a:lnTo>
                  <a:lnTo>
                    <a:pt x="121733" y="2671073"/>
                  </a:lnTo>
                  <a:lnTo>
                    <a:pt x="81386" y="2645415"/>
                  </a:lnTo>
                  <a:lnTo>
                    <a:pt x="47736" y="2611751"/>
                  </a:lnTo>
                  <a:lnTo>
                    <a:pt x="22085" y="2571382"/>
                  </a:lnTo>
                  <a:lnTo>
                    <a:pt x="5738" y="2525610"/>
                  </a:lnTo>
                  <a:lnTo>
                    <a:pt x="0" y="2475738"/>
                  </a:lnTo>
                  <a:lnTo>
                    <a:pt x="0" y="217424"/>
                  </a:lnTo>
                  <a:close/>
                </a:path>
              </a:pathLst>
            </a:custGeom>
            <a:ln w="952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3696" y="1445958"/>
              <a:ext cx="205994" cy="207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63660" y="1112202"/>
              <a:ext cx="462597" cy="46259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39700" y="4758054"/>
            <a:ext cx="344614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Economic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Feasibility</a:t>
            </a:r>
            <a:endParaRPr sz="1800">
              <a:latin typeface="Calibri"/>
              <a:cs typeface="Calibri"/>
            </a:endParaRPr>
          </a:p>
          <a:p>
            <a:pPr marL="299085" marR="192405" indent="-287020">
              <a:lnSpc>
                <a:spcPct val="101299"/>
              </a:lnSpc>
              <a:spcBef>
                <a:spcPts val="10"/>
              </a:spcBef>
              <a:buFont typeface="Wingdings"/>
              <a:buChar char=""/>
              <a:tabLst>
                <a:tab pos="299085" algn="l"/>
              </a:tabLst>
            </a:pPr>
            <a:r>
              <a:rPr sz="1300" b="1" dirty="0">
                <a:latin typeface="Calibri"/>
                <a:cs typeface="Calibri"/>
              </a:rPr>
              <a:t>Zero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Data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Acquisition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Costs: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Relies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entirely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on </a:t>
            </a:r>
            <a:r>
              <a:rPr sz="1100" dirty="0">
                <a:latin typeface="Calibri"/>
                <a:cs typeface="Calibri"/>
              </a:rPr>
              <a:t>free,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open-</a:t>
            </a:r>
            <a:r>
              <a:rPr sz="1100" dirty="0">
                <a:latin typeface="Calibri"/>
                <a:cs typeface="Calibri"/>
              </a:rPr>
              <a:t>access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public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Earth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Observation</a:t>
            </a:r>
            <a:endParaRPr sz="1100">
              <a:latin typeface="Calibri"/>
              <a:cs typeface="Calibri"/>
            </a:endParaRPr>
          </a:p>
          <a:p>
            <a:pPr marL="299085" marR="3175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constellations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(Copernicus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Sentinel-</a:t>
            </a:r>
            <a:r>
              <a:rPr sz="1100" dirty="0">
                <a:latin typeface="Calibri"/>
                <a:cs typeface="Calibri"/>
              </a:rPr>
              <a:t>1/2,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USGS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Landsat-</a:t>
            </a:r>
            <a:r>
              <a:rPr sz="1100" dirty="0">
                <a:latin typeface="Calibri"/>
                <a:cs typeface="Calibri"/>
              </a:rPr>
              <a:t>8/9,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ISRO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Bhuvan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archives).</a:t>
            </a:r>
            <a:endParaRPr sz="1100">
              <a:latin typeface="Calibri"/>
              <a:cs typeface="Calibri"/>
            </a:endParaRPr>
          </a:p>
          <a:p>
            <a:pPr marL="299085" indent="-286385">
              <a:lnSpc>
                <a:spcPts val="1540"/>
              </a:lnSpc>
              <a:buFont typeface="Wingdings"/>
              <a:buChar char=""/>
              <a:tabLst>
                <a:tab pos="299085" algn="l"/>
              </a:tabLst>
            </a:pPr>
            <a:r>
              <a:rPr sz="1300" b="1" dirty="0">
                <a:latin typeface="Calibri"/>
                <a:cs typeface="Calibri"/>
              </a:rPr>
              <a:t>Eliminates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Proprietary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Licensing</a:t>
            </a:r>
            <a:r>
              <a:rPr sz="1100" b="1" dirty="0">
                <a:latin typeface="Calibri"/>
                <a:cs typeface="Calibri"/>
              </a:rPr>
              <a:t>: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Open-source</a:t>
            </a:r>
            <a:endParaRPr sz="1100">
              <a:latin typeface="Calibri"/>
              <a:cs typeface="Calibri"/>
            </a:endParaRPr>
          </a:p>
          <a:p>
            <a:pPr marL="299085" marR="5080">
              <a:lnSpc>
                <a:spcPct val="974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Python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React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stack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replaces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proprietary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software </a:t>
            </a:r>
            <a:r>
              <a:rPr sz="1100" dirty="0">
                <a:latin typeface="Calibri"/>
                <a:cs typeface="Calibri"/>
              </a:rPr>
              <a:t>suites,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₹10L+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annually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department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938" y="987666"/>
            <a:ext cx="711835" cy="4202430"/>
            <a:chOff x="9938" y="987666"/>
            <a:chExt cx="711835" cy="4202430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587" y="1365503"/>
              <a:ext cx="589026" cy="48082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87" y="4709160"/>
              <a:ext cx="589026" cy="48082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587" y="3656075"/>
              <a:ext cx="589026" cy="48082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38" y="987666"/>
              <a:ext cx="317677" cy="36932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003928" y="875342"/>
            <a:ext cx="4362450" cy="319341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125"/>
              </a:spcBef>
            </a:pPr>
            <a:r>
              <a:rPr sz="1800" b="1" dirty="0">
                <a:solidFill>
                  <a:srgbClr val="7E7E7E"/>
                </a:solidFill>
                <a:latin typeface="Calibri"/>
                <a:cs typeface="Calibri"/>
              </a:rPr>
              <a:t>Potential</a:t>
            </a:r>
            <a:r>
              <a:rPr sz="18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7E7E"/>
                </a:solidFill>
                <a:latin typeface="Calibri"/>
                <a:cs typeface="Calibri"/>
              </a:rPr>
              <a:t>Challenges</a:t>
            </a:r>
            <a:r>
              <a:rPr sz="18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800" b="1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E7E7E"/>
                </a:solidFill>
                <a:latin typeface="Calibri"/>
                <a:cs typeface="Calibri"/>
              </a:rPr>
              <a:t>Risks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30"/>
              </a:spcBef>
            </a:pPr>
            <a:r>
              <a:rPr sz="1100" b="1" dirty="0">
                <a:latin typeface="Calibri"/>
                <a:cs typeface="Calibri"/>
              </a:rPr>
              <a:t>Risk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Cloud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Atmospheric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Occlusion</a:t>
            </a:r>
            <a:endParaRPr sz="1100">
              <a:latin typeface="Calibri"/>
              <a:cs typeface="Calibri"/>
            </a:endParaRPr>
          </a:p>
          <a:p>
            <a:pPr marL="469900" marR="335280" algn="just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Severe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monsoon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cloud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cover,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smoke,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obscure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optical </a:t>
            </a:r>
            <a:r>
              <a:rPr sz="1100" dirty="0">
                <a:latin typeface="Calibri"/>
                <a:cs typeface="Calibri"/>
              </a:rPr>
              <a:t>satellite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reflectance,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causing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blind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spots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flood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disaster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scenarios.</a:t>
            </a: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Risk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Multi-</a:t>
            </a:r>
            <a:r>
              <a:rPr sz="1100" b="1" dirty="0">
                <a:latin typeface="Calibri"/>
                <a:cs typeface="Calibri"/>
              </a:rPr>
              <a:t>Sensor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Spatial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Temporal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Misalignment</a:t>
            </a:r>
            <a:endParaRPr sz="11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Comparing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different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satellites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Optical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vs.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SAR)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or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multi-year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epochs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introduces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Ground Sampling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Distance</a:t>
            </a:r>
            <a:r>
              <a:rPr sz="1100" spc="5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(GSD)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disparities,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sun-</a:t>
            </a:r>
            <a:r>
              <a:rPr sz="1100" dirty="0">
                <a:latin typeface="Calibri"/>
                <a:cs typeface="Calibri"/>
              </a:rPr>
              <a:t>angle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shifts,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projection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distortions.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Risk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 </a:t>
            </a:r>
            <a:r>
              <a:rPr sz="1100" b="1" spc="-10" dirty="0">
                <a:latin typeface="Calibri"/>
                <a:cs typeface="Calibri"/>
              </a:rPr>
              <a:t>Vision-</a:t>
            </a:r>
            <a:r>
              <a:rPr sz="1100" b="1" dirty="0">
                <a:latin typeface="Calibri"/>
                <a:cs typeface="Calibri"/>
              </a:rPr>
              <a:t>Language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Model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Hallucination</a:t>
            </a:r>
            <a:endParaRPr sz="1100">
              <a:latin typeface="Calibri"/>
              <a:cs typeface="Calibri"/>
            </a:endParaRPr>
          </a:p>
          <a:p>
            <a:pPr marL="469900" marR="1905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Deep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generative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generating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ungrounded,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plausible-</a:t>
            </a:r>
            <a:r>
              <a:rPr sz="1100" dirty="0">
                <a:latin typeface="Calibri"/>
                <a:cs typeface="Calibri"/>
              </a:rPr>
              <a:t>sounding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descriptions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noisy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low-</a:t>
            </a:r>
            <a:r>
              <a:rPr sz="1100" spc="-10" dirty="0">
                <a:latin typeface="Calibri"/>
                <a:cs typeface="Calibri"/>
              </a:rPr>
              <a:t>resolution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satellite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textures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spc="-10" dirty="0">
                <a:latin typeface="Calibri"/>
                <a:cs typeface="Calibri"/>
              </a:rPr>
              <a:t>mission-</a:t>
            </a:r>
            <a:r>
              <a:rPr sz="1100" dirty="0">
                <a:latin typeface="Calibri"/>
                <a:cs typeface="Calibri"/>
              </a:rPr>
              <a:t>critical </a:t>
            </a:r>
            <a:r>
              <a:rPr sz="1100" spc="-10" dirty="0">
                <a:latin typeface="Calibri"/>
                <a:cs typeface="Calibri"/>
              </a:rPr>
              <a:t>operations.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Risk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High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Bandwidth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Raster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Latency</a:t>
            </a:r>
            <a:endParaRPr sz="1100">
              <a:latin typeface="Calibri"/>
              <a:cs typeface="Calibri"/>
            </a:endParaRPr>
          </a:p>
          <a:p>
            <a:pPr marL="469900" marR="29337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Full-</a:t>
            </a:r>
            <a:r>
              <a:rPr sz="1100" dirty="0">
                <a:latin typeface="Calibri"/>
                <a:cs typeface="Calibri"/>
              </a:rPr>
              <a:t>scene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satellite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GeoTIFF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often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exceed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500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MB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–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GB, </a:t>
            </a:r>
            <a:r>
              <a:rPr sz="1100" dirty="0">
                <a:latin typeface="Calibri"/>
                <a:cs typeface="Calibri"/>
              </a:rPr>
              <a:t>causing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severe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bandwidth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bottlenecks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low-</a:t>
            </a:r>
            <a:r>
              <a:rPr sz="1100" spc="-10" dirty="0">
                <a:latin typeface="Calibri"/>
                <a:cs typeface="Calibri"/>
              </a:rPr>
              <a:t>connectivity field networks.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24808" y="968705"/>
            <a:ext cx="384048" cy="3198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8944102" y="1130300"/>
            <a:ext cx="3105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Strategies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Overcoming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These </a:t>
            </a:r>
            <a:r>
              <a:rPr sz="1800" b="1" dirty="0">
                <a:latin typeface="Calibri"/>
                <a:cs typeface="Calibri"/>
              </a:rPr>
              <a:t>Challenges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(Mitigations)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73296" y="4209541"/>
            <a:ext cx="2778887" cy="132346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541766" y="1852676"/>
            <a:ext cx="3552190" cy="421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8890" indent="-4572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Strategy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Automated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C-</a:t>
            </a:r>
            <a:r>
              <a:rPr sz="1100" b="1" dirty="0">
                <a:latin typeface="Calibri"/>
                <a:cs typeface="Calibri"/>
              </a:rPr>
              <a:t>Band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SAR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Microwave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Failover</a:t>
            </a:r>
            <a:r>
              <a:rPr sz="1100" b="1" spc="5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cloud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screening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&gt;15%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cloud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cover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agentic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controller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autonomously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triggers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Sentinel-</a:t>
            </a:r>
            <a:r>
              <a:rPr sz="1100" b="1" dirty="0">
                <a:latin typeface="Calibri"/>
                <a:cs typeface="Calibri"/>
              </a:rPr>
              <a:t>1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/</a:t>
            </a:r>
            <a:r>
              <a:rPr sz="1100" b="1" dirty="0">
                <a:latin typeface="Calibri"/>
                <a:cs typeface="Calibri"/>
              </a:rPr>
              <a:t> RISAT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C-</a:t>
            </a:r>
            <a:r>
              <a:rPr sz="1100" b="1" dirty="0">
                <a:latin typeface="Calibri"/>
                <a:cs typeface="Calibri"/>
              </a:rPr>
              <a:t>band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SAR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radar </a:t>
            </a:r>
            <a:r>
              <a:rPr sz="1100" b="1" spc="-10" dirty="0">
                <a:latin typeface="Calibri"/>
                <a:cs typeface="Calibri"/>
              </a:rPr>
              <a:t>backscatter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penetrating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rain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cloud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layers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uninterrupted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24/7 </a:t>
            </a:r>
            <a:r>
              <a:rPr sz="1100" spc="-10" dirty="0">
                <a:latin typeface="Calibri"/>
                <a:cs typeface="Calibri"/>
              </a:rPr>
              <a:t>observation.</a:t>
            </a:r>
            <a:endParaRPr sz="1100">
              <a:latin typeface="Calibri"/>
              <a:cs typeface="Calibri"/>
            </a:endParaRPr>
          </a:p>
          <a:p>
            <a:pPr marL="12700" marR="15113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Strategy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Sub-</a:t>
            </a:r>
            <a:r>
              <a:rPr sz="1100" b="1" dirty="0">
                <a:latin typeface="Calibri"/>
                <a:cs typeface="Calibri"/>
              </a:rPr>
              <a:t>Pixel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Affine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Co-</a:t>
            </a:r>
            <a:r>
              <a:rPr sz="1100" b="1" dirty="0">
                <a:latin typeface="Calibri"/>
                <a:cs typeface="Calibri"/>
              </a:rPr>
              <a:t>Registration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Radiometric Normalization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Vectorized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GDAL/Rasterio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pipeline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applies </a:t>
            </a:r>
            <a:r>
              <a:rPr sz="1100" spc="-10" dirty="0">
                <a:latin typeface="Calibri"/>
                <a:cs typeface="Calibri"/>
              </a:rPr>
              <a:t>bilinear</a:t>
            </a:r>
            <a:endParaRPr sz="1100">
              <a:latin typeface="Calibri"/>
              <a:cs typeface="Calibri"/>
            </a:endParaRPr>
          </a:p>
          <a:p>
            <a:pPr marL="469900" marR="1397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resampling,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reprojection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(EPSG:4326/3857),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spc="-10" dirty="0">
                <a:latin typeface="Calibri"/>
                <a:cs typeface="Calibri"/>
              </a:rPr>
              <a:t>top-of-atmosphere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radiometric </a:t>
            </a:r>
            <a:r>
              <a:rPr sz="1100" dirty="0">
                <a:latin typeface="Calibri"/>
                <a:cs typeface="Calibri"/>
              </a:rPr>
              <a:t>balancing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eliminate </a:t>
            </a:r>
            <a:r>
              <a:rPr sz="1100" dirty="0">
                <a:latin typeface="Calibri"/>
                <a:cs typeface="Calibri"/>
              </a:rPr>
              <a:t>sensor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solar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bias.</a:t>
            </a:r>
            <a:endParaRPr sz="1100">
              <a:latin typeface="Calibri"/>
              <a:cs typeface="Calibri"/>
            </a:endParaRPr>
          </a:p>
          <a:p>
            <a:pPr marL="12700" marR="408305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Strategy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Dual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Grounded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Evidence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Otsu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Statistical </a:t>
            </a:r>
            <a:r>
              <a:rPr sz="1100" b="1" dirty="0">
                <a:latin typeface="Calibri"/>
                <a:cs typeface="Calibri"/>
              </a:rPr>
              <a:t>Confidence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Gate</a:t>
            </a:r>
            <a:endParaRPr sz="1100">
              <a:latin typeface="Calibri"/>
              <a:cs typeface="Calibri"/>
            </a:endParaRPr>
          </a:p>
          <a:p>
            <a:pPr marL="469900" marR="1905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Zero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"Black-</a:t>
            </a:r>
            <a:r>
              <a:rPr sz="1100" b="1" dirty="0">
                <a:latin typeface="Calibri"/>
                <a:cs typeface="Calibri"/>
              </a:rPr>
              <a:t>Box"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Policy: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Every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answer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strictly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bound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pixel-aligned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spatial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difference </a:t>
            </a:r>
            <a:r>
              <a:rPr sz="1100" dirty="0">
                <a:latin typeface="Calibri"/>
                <a:cs typeface="Calibri"/>
              </a:rPr>
              <a:t>heatmap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mathematical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indices</a:t>
            </a:r>
            <a:endParaRPr sz="1100">
              <a:latin typeface="Calibri"/>
              <a:cs typeface="Calibri"/>
            </a:endParaRPr>
          </a:p>
          <a:p>
            <a:pPr marL="469900" marR="191135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(NDVI/NDWI/NDBI)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verified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adaptive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Otsu </a:t>
            </a:r>
            <a:r>
              <a:rPr sz="1100" b="1" dirty="0">
                <a:latin typeface="Calibri"/>
                <a:cs typeface="Calibri"/>
              </a:rPr>
              <a:t>thresholding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Speculative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assertions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below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80% </a:t>
            </a:r>
            <a:r>
              <a:rPr sz="1100" dirty="0">
                <a:latin typeface="Calibri"/>
                <a:cs typeface="Calibri"/>
              </a:rPr>
              <a:t>confidence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suppressed.</a:t>
            </a:r>
            <a:endParaRPr sz="1100">
              <a:latin typeface="Calibri"/>
              <a:cs typeface="Calibri"/>
            </a:endParaRPr>
          </a:p>
          <a:p>
            <a:pPr marL="12700" marR="35052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Strategy 4: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Cloud-</a:t>
            </a:r>
            <a:r>
              <a:rPr sz="1100" b="1" dirty="0">
                <a:latin typeface="Calibri"/>
                <a:cs typeface="Calibri"/>
              </a:rPr>
              <a:t>Optimized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GeoTIFF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(COG)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Dynamic </a:t>
            </a:r>
            <a:r>
              <a:rPr sz="1100" b="1" dirty="0">
                <a:latin typeface="Calibri"/>
                <a:cs typeface="Calibri"/>
              </a:rPr>
              <a:t>Pyramidal</a:t>
            </a:r>
            <a:r>
              <a:rPr sz="1100" b="1" spc="-5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Streaming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Instead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transferring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massive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gigabyte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files,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backend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streams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visible</a:t>
            </a:r>
            <a:r>
              <a:rPr sz="1100" spc="-10" dirty="0">
                <a:latin typeface="Calibri"/>
                <a:cs typeface="Calibri"/>
              </a:rPr>
              <a:t> bounding-</a:t>
            </a:r>
            <a:r>
              <a:rPr sz="1100" dirty="0">
                <a:latin typeface="Calibri"/>
                <a:cs typeface="Calibri"/>
              </a:rPr>
              <a:t>box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at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zoom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level,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reducing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payload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by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&gt;90%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ensuring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sub-</a:t>
            </a:r>
            <a:r>
              <a:rPr sz="1100" dirty="0">
                <a:latin typeface="Calibri"/>
                <a:cs typeface="Calibri"/>
              </a:rPr>
              <a:t>second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time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89726" y="5578220"/>
            <a:ext cx="2659253" cy="1279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120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18" name="object 18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6440" y="21653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768" y="490550"/>
            <a:ext cx="543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8237" y="239522"/>
            <a:ext cx="1504315" cy="1487805"/>
            <a:chOff x="118237" y="239522"/>
            <a:chExt cx="1504315" cy="14878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698" y="1498244"/>
              <a:ext cx="179063" cy="2289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739355" y="0"/>
                  </a:moveTo>
                  <a:lnTo>
                    <a:pt x="678717" y="1338"/>
                  </a:lnTo>
                  <a:lnTo>
                    <a:pt x="619429" y="5283"/>
                  </a:lnTo>
                  <a:lnTo>
                    <a:pt x="561681" y="11731"/>
                  </a:lnTo>
                  <a:lnTo>
                    <a:pt x="505664" y="20579"/>
                  </a:lnTo>
                  <a:lnTo>
                    <a:pt x="451567" y="31722"/>
                  </a:lnTo>
                  <a:lnTo>
                    <a:pt x="399581" y="45057"/>
                  </a:lnTo>
                  <a:lnTo>
                    <a:pt x="349896" y="60479"/>
                  </a:lnTo>
                  <a:lnTo>
                    <a:pt x="302703" y="77886"/>
                  </a:lnTo>
                  <a:lnTo>
                    <a:pt x="258192" y="97173"/>
                  </a:lnTo>
                  <a:lnTo>
                    <a:pt x="216554" y="118237"/>
                  </a:lnTo>
                  <a:lnTo>
                    <a:pt x="177977" y="140973"/>
                  </a:lnTo>
                  <a:lnTo>
                    <a:pt x="142654" y="165277"/>
                  </a:lnTo>
                  <a:lnTo>
                    <a:pt x="110773" y="191047"/>
                  </a:lnTo>
                  <a:lnTo>
                    <a:pt x="82526" y="218178"/>
                  </a:lnTo>
                  <a:lnTo>
                    <a:pt x="37693" y="276108"/>
                  </a:lnTo>
                  <a:lnTo>
                    <a:pt x="9677" y="338236"/>
                  </a:lnTo>
                  <a:lnTo>
                    <a:pt x="0" y="403732"/>
                  </a:lnTo>
                  <a:lnTo>
                    <a:pt x="2450" y="436832"/>
                  </a:lnTo>
                  <a:lnTo>
                    <a:pt x="21487" y="500717"/>
                  </a:lnTo>
                  <a:lnTo>
                    <a:pt x="58102" y="560826"/>
                  </a:lnTo>
                  <a:lnTo>
                    <a:pt x="110773" y="616326"/>
                  </a:lnTo>
                  <a:lnTo>
                    <a:pt x="142654" y="642088"/>
                  </a:lnTo>
                  <a:lnTo>
                    <a:pt x="177977" y="666387"/>
                  </a:lnTo>
                  <a:lnTo>
                    <a:pt x="216554" y="689117"/>
                  </a:lnTo>
                  <a:lnTo>
                    <a:pt x="258192" y="710176"/>
                  </a:lnTo>
                  <a:lnTo>
                    <a:pt x="302703" y="729460"/>
                  </a:lnTo>
                  <a:lnTo>
                    <a:pt x="349896" y="746864"/>
                  </a:lnTo>
                  <a:lnTo>
                    <a:pt x="399581" y="762285"/>
                  </a:lnTo>
                  <a:lnTo>
                    <a:pt x="451567" y="775618"/>
                  </a:lnTo>
                  <a:lnTo>
                    <a:pt x="505664" y="786760"/>
                  </a:lnTo>
                  <a:lnTo>
                    <a:pt x="561681" y="795607"/>
                  </a:lnTo>
                  <a:lnTo>
                    <a:pt x="619429" y="802055"/>
                  </a:lnTo>
                  <a:lnTo>
                    <a:pt x="678717" y="806000"/>
                  </a:lnTo>
                  <a:lnTo>
                    <a:pt x="739355" y="807338"/>
                  </a:lnTo>
                  <a:lnTo>
                    <a:pt x="799995" y="806000"/>
                  </a:lnTo>
                  <a:lnTo>
                    <a:pt x="859283" y="802055"/>
                  </a:lnTo>
                  <a:lnTo>
                    <a:pt x="917031" y="795607"/>
                  </a:lnTo>
                  <a:lnTo>
                    <a:pt x="973047" y="786760"/>
                  </a:lnTo>
                  <a:lnTo>
                    <a:pt x="1027142" y="775618"/>
                  </a:lnTo>
                  <a:lnTo>
                    <a:pt x="1079125" y="762285"/>
                  </a:lnTo>
                  <a:lnTo>
                    <a:pt x="1128806" y="746864"/>
                  </a:lnTo>
                  <a:lnTo>
                    <a:pt x="1175995" y="729460"/>
                  </a:lnTo>
                  <a:lnTo>
                    <a:pt x="1220502" y="710176"/>
                  </a:lnTo>
                  <a:lnTo>
                    <a:pt x="1262137" y="689117"/>
                  </a:lnTo>
                  <a:lnTo>
                    <a:pt x="1300709" y="666387"/>
                  </a:lnTo>
                  <a:lnTo>
                    <a:pt x="1336028" y="642088"/>
                  </a:lnTo>
                  <a:lnTo>
                    <a:pt x="1367904" y="616326"/>
                  </a:lnTo>
                  <a:lnTo>
                    <a:pt x="1396147" y="589204"/>
                  </a:lnTo>
                  <a:lnTo>
                    <a:pt x="1440974" y="531295"/>
                  </a:lnTo>
                  <a:lnTo>
                    <a:pt x="1468985" y="469195"/>
                  </a:lnTo>
                  <a:lnTo>
                    <a:pt x="1478661" y="403732"/>
                  </a:lnTo>
                  <a:lnTo>
                    <a:pt x="1476210" y="370615"/>
                  </a:lnTo>
                  <a:lnTo>
                    <a:pt x="1457176" y="306699"/>
                  </a:lnTo>
                  <a:lnTo>
                    <a:pt x="1420567" y="246566"/>
                  </a:lnTo>
                  <a:lnTo>
                    <a:pt x="1367904" y="191047"/>
                  </a:lnTo>
                  <a:lnTo>
                    <a:pt x="1336028" y="165277"/>
                  </a:lnTo>
                  <a:lnTo>
                    <a:pt x="1300709" y="140973"/>
                  </a:lnTo>
                  <a:lnTo>
                    <a:pt x="1262137" y="118237"/>
                  </a:lnTo>
                  <a:lnTo>
                    <a:pt x="1220502" y="97173"/>
                  </a:lnTo>
                  <a:lnTo>
                    <a:pt x="1175995" y="77886"/>
                  </a:lnTo>
                  <a:lnTo>
                    <a:pt x="1128806" y="60479"/>
                  </a:lnTo>
                  <a:lnTo>
                    <a:pt x="1079125" y="45057"/>
                  </a:lnTo>
                  <a:lnTo>
                    <a:pt x="1027142" y="31722"/>
                  </a:lnTo>
                  <a:lnTo>
                    <a:pt x="973047" y="20579"/>
                  </a:lnTo>
                  <a:lnTo>
                    <a:pt x="917031" y="11731"/>
                  </a:lnTo>
                  <a:lnTo>
                    <a:pt x="859283" y="5283"/>
                  </a:lnTo>
                  <a:lnTo>
                    <a:pt x="799995" y="1338"/>
                  </a:lnTo>
                  <a:lnTo>
                    <a:pt x="739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0" y="403732"/>
                  </a:moveTo>
                  <a:lnTo>
                    <a:pt x="9677" y="338236"/>
                  </a:lnTo>
                  <a:lnTo>
                    <a:pt x="37693" y="276108"/>
                  </a:lnTo>
                  <a:lnTo>
                    <a:pt x="82526" y="218178"/>
                  </a:lnTo>
                  <a:lnTo>
                    <a:pt x="110773" y="191047"/>
                  </a:lnTo>
                  <a:lnTo>
                    <a:pt x="142654" y="165277"/>
                  </a:lnTo>
                  <a:lnTo>
                    <a:pt x="177977" y="140973"/>
                  </a:lnTo>
                  <a:lnTo>
                    <a:pt x="216554" y="118237"/>
                  </a:lnTo>
                  <a:lnTo>
                    <a:pt x="258192" y="97173"/>
                  </a:lnTo>
                  <a:lnTo>
                    <a:pt x="302703" y="77886"/>
                  </a:lnTo>
                  <a:lnTo>
                    <a:pt x="349896" y="60479"/>
                  </a:lnTo>
                  <a:lnTo>
                    <a:pt x="399581" y="45057"/>
                  </a:lnTo>
                  <a:lnTo>
                    <a:pt x="451567" y="31722"/>
                  </a:lnTo>
                  <a:lnTo>
                    <a:pt x="505664" y="20579"/>
                  </a:lnTo>
                  <a:lnTo>
                    <a:pt x="561681" y="11731"/>
                  </a:lnTo>
                  <a:lnTo>
                    <a:pt x="619429" y="5283"/>
                  </a:lnTo>
                  <a:lnTo>
                    <a:pt x="678717" y="1338"/>
                  </a:lnTo>
                  <a:lnTo>
                    <a:pt x="739355" y="0"/>
                  </a:lnTo>
                  <a:lnTo>
                    <a:pt x="799995" y="1338"/>
                  </a:lnTo>
                  <a:lnTo>
                    <a:pt x="859283" y="5283"/>
                  </a:lnTo>
                  <a:lnTo>
                    <a:pt x="917031" y="11731"/>
                  </a:lnTo>
                  <a:lnTo>
                    <a:pt x="973047" y="20579"/>
                  </a:lnTo>
                  <a:lnTo>
                    <a:pt x="1027142" y="31722"/>
                  </a:lnTo>
                  <a:lnTo>
                    <a:pt x="1079125" y="45057"/>
                  </a:lnTo>
                  <a:lnTo>
                    <a:pt x="1128806" y="60479"/>
                  </a:lnTo>
                  <a:lnTo>
                    <a:pt x="1175995" y="77886"/>
                  </a:lnTo>
                  <a:lnTo>
                    <a:pt x="1220502" y="97173"/>
                  </a:lnTo>
                  <a:lnTo>
                    <a:pt x="1262137" y="118237"/>
                  </a:lnTo>
                  <a:lnTo>
                    <a:pt x="1300709" y="140973"/>
                  </a:lnTo>
                  <a:lnTo>
                    <a:pt x="1336028" y="165277"/>
                  </a:lnTo>
                  <a:lnTo>
                    <a:pt x="1367904" y="191047"/>
                  </a:lnTo>
                  <a:lnTo>
                    <a:pt x="1396147" y="218178"/>
                  </a:lnTo>
                  <a:lnTo>
                    <a:pt x="1440974" y="276108"/>
                  </a:lnTo>
                  <a:lnTo>
                    <a:pt x="1468985" y="338236"/>
                  </a:lnTo>
                  <a:lnTo>
                    <a:pt x="1478661" y="403732"/>
                  </a:lnTo>
                  <a:lnTo>
                    <a:pt x="1476210" y="436832"/>
                  </a:lnTo>
                  <a:lnTo>
                    <a:pt x="1457176" y="500717"/>
                  </a:lnTo>
                  <a:lnTo>
                    <a:pt x="1420567" y="560826"/>
                  </a:lnTo>
                  <a:lnTo>
                    <a:pt x="1367904" y="616326"/>
                  </a:lnTo>
                  <a:lnTo>
                    <a:pt x="1336028" y="642088"/>
                  </a:lnTo>
                  <a:lnTo>
                    <a:pt x="1300709" y="666387"/>
                  </a:lnTo>
                  <a:lnTo>
                    <a:pt x="1262137" y="689117"/>
                  </a:lnTo>
                  <a:lnTo>
                    <a:pt x="1220502" y="710176"/>
                  </a:lnTo>
                  <a:lnTo>
                    <a:pt x="1175995" y="729460"/>
                  </a:lnTo>
                  <a:lnTo>
                    <a:pt x="1128806" y="746864"/>
                  </a:lnTo>
                  <a:lnTo>
                    <a:pt x="1079125" y="762285"/>
                  </a:lnTo>
                  <a:lnTo>
                    <a:pt x="1027142" y="775618"/>
                  </a:lnTo>
                  <a:lnTo>
                    <a:pt x="973047" y="786760"/>
                  </a:lnTo>
                  <a:lnTo>
                    <a:pt x="917031" y="795607"/>
                  </a:lnTo>
                  <a:lnTo>
                    <a:pt x="859283" y="802055"/>
                  </a:lnTo>
                  <a:lnTo>
                    <a:pt x="799995" y="806000"/>
                  </a:lnTo>
                  <a:lnTo>
                    <a:pt x="739355" y="807338"/>
                  </a:lnTo>
                  <a:lnTo>
                    <a:pt x="678717" y="806000"/>
                  </a:lnTo>
                  <a:lnTo>
                    <a:pt x="619429" y="802055"/>
                  </a:lnTo>
                  <a:lnTo>
                    <a:pt x="561681" y="795607"/>
                  </a:lnTo>
                  <a:lnTo>
                    <a:pt x="505664" y="786760"/>
                  </a:lnTo>
                  <a:lnTo>
                    <a:pt x="451567" y="775618"/>
                  </a:lnTo>
                  <a:lnTo>
                    <a:pt x="399581" y="762285"/>
                  </a:lnTo>
                  <a:lnTo>
                    <a:pt x="349896" y="746864"/>
                  </a:lnTo>
                  <a:lnTo>
                    <a:pt x="302703" y="729460"/>
                  </a:lnTo>
                  <a:lnTo>
                    <a:pt x="258192" y="710176"/>
                  </a:lnTo>
                  <a:lnTo>
                    <a:pt x="216554" y="689117"/>
                  </a:lnTo>
                  <a:lnTo>
                    <a:pt x="177977" y="666387"/>
                  </a:lnTo>
                  <a:lnTo>
                    <a:pt x="142654" y="642088"/>
                  </a:lnTo>
                  <a:lnTo>
                    <a:pt x="110773" y="616326"/>
                  </a:lnTo>
                  <a:lnTo>
                    <a:pt x="82526" y="589204"/>
                  </a:lnTo>
                  <a:lnTo>
                    <a:pt x="37693" y="531295"/>
                  </a:lnTo>
                  <a:lnTo>
                    <a:pt x="9677" y="469195"/>
                  </a:lnTo>
                  <a:lnTo>
                    <a:pt x="0" y="403732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7133" y="353695"/>
            <a:ext cx="4673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3948" y="628269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Manions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7579" y="19852"/>
            <a:ext cx="2199504" cy="1025709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20873" y="1024102"/>
            <a:ext cx="4582795" cy="901700"/>
            <a:chOff x="20873" y="1024102"/>
            <a:chExt cx="4582795" cy="901700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3" y="1024102"/>
              <a:ext cx="471182" cy="44503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491" y="1331963"/>
              <a:ext cx="4095750" cy="59361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072" y="1350276"/>
              <a:ext cx="3986022" cy="511289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741" y="2504084"/>
            <a:ext cx="224977" cy="228962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466344" y="2368283"/>
            <a:ext cx="3778885" cy="593725"/>
            <a:chOff x="466344" y="2368283"/>
            <a:chExt cx="3778885" cy="59372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6344" y="2368283"/>
              <a:ext cx="3778757" cy="59361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7492" y="2386596"/>
              <a:ext cx="3167634" cy="51128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472" y="3509924"/>
            <a:ext cx="146923" cy="228962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466344" y="3406127"/>
            <a:ext cx="3419475" cy="593725"/>
            <a:chOff x="466344" y="3406127"/>
            <a:chExt cx="3419475" cy="593725"/>
          </a:xfrm>
        </p:grpSpPr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" y="3406127"/>
              <a:ext cx="3419094" cy="5936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7492" y="3424440"/>
              <a:ext cx="3327654" cy="511289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7646" y="2921888"/>
            <a:ext cx="50317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4" marR="5080" indent="-4572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₹10L–</a:t>
            </a:r>
            <a:r>
              <a:rPr sz="1600" b="1" dirty="0">
                <a:latin typeface="Calibri"/>
                <a:cs typeface="Calibri"/>
              </a:rPr>
              <a:t>₹25L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Annual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Savings: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Zero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proprietary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license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fees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10" dirty="0">
                <a:latin typeface="Calibri"/>
                <a:cs typeface="Calibri"/>
              </a:rPr>
              <a:t> department.</a:t>
            </a:r>
            <a:endParaRPr sz="1600">
              <a:latin typeface="Calibri"/>
              <a:cs typeface="Calibri"/>
            </a:endParaRPr>
          </a:p>
          <a:p>
            <a:pPr marL="85725" marR="542290" indent="-24765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&gt;80%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Cost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Reduction: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pipeline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eliminates </a:t>
            </a:r>
            <a:r>
              <a:rPr sz="1600" dirty="0">
                <a:latin typeface="Calibri"/>
                <a:cs typeface="Calibri"/>
              </a:rPr>
              <a:t>manual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band</a:t>
            </a:r>
            <a:r>
              <a:rPr sz="1600" spc="-10" dirty="0">
                <a:latin typeface="Calibri"/>
                <a:cs typeface="Calibri"/>
              </a:rPr>
              <a:t> processing.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Zero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Acquisition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Cost: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100%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open-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Copernicus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05117" y="4181741"/>
            <a:ext cx="247650" cy="247650"/>
            <a:chOff x="6405117" y="4181741"/>
            <a:chExt cx="247650" cy="247650"/>
          </a:xfrm>
        </p:grpSpPr>
        <p:pic>
          <p:nvPicPr>
            <p:cNvPr id="4" name="object 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41703" y="4186580"/>
              <a:ext cx="188672" cy="2289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5117" y="4181741"/>
              <a:ext cx="247129" cy="247129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1515" y="4515764"/>
            <a:ext cx="188246" cy="228962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466344" y="4378439"/>
            <a:ext cx="3331210" cy="593725"/>
            <a:chOff x="466344" y="4378439"/>
            <a:chExt cx="3331210" cy="593725"/>
          </a:xfrm>
        </p:grpSpPr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6344" y="4378439"/>
              <a:ext cx="3330702" cy="59361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7492" y="4396752"/>
              <a:ext cx="2827782" cy="51128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08863" y="732804"/>
            <a:ext cx="5760720" cy="428117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355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  <a:p>
            <a:pPr marL="222250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C0504D"/>
                </a:solidFill>
                <a:latin typeface="Calibri"/>
                <a:cs typeface="Calibri"/>
              </a:rPr>
              <a:t>Impact</a:t>
            </a:r>
            <a:r>
              <a:rPr sz="2000" b="1" spc="-3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alibri"/>
                <a:cs typeface="Calibri"/>
              </a:rPr>
              <a:t>on</a:t>
            </a:r>
            <a:r>
              <a:rPr sz="2000" b="1" spc="-2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alibri"/>
                <a:cs typeface="Calibri"/>
              </a:rPr>
              <a:t>Target</a:t>
            </a:r>
            <a:r>
              <a:rPr sz="2000" b="1" spc="-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504D"/>
                </a:solidFill>
                <a:latin typeface="Calibri"/>
                <a:cs typeface="Calibri"/>
              </a:rPr>
              <a:t>Audience</a:t>
            </a:r>
            <a:endParaRPr sz="2000">
              <a:latin typeface="Calibri"/>
              <a:cs typeface="Calibri"/>
            </a:endParaRPr>
          </a:p>
          <a:p>
            <a:pPr marL="415925">
              <a:lnSpc>
                <a:spcPct val="100000"/>
              </a:lnSpc>
              <a:spcBef>
                <a:spcPts val="175"/>
              </a:spcBef>
            </a:pPr>
            <a:r>
              <a:rPr sz="1800" dirty="0">
                <a:latin typeface="Calibri"/>
                <a:cs typeface="Calibri"/>
              </a:rPr>
              <a:t>Disaster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(NDRF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SDMAs):</a:t>
            </a:r>
            <a:endParaRPr sz="1800">
              <a:latin typeface="Calibri"/>
              <a:cs typeface="Calibri"/>
            </a:endParaRPr>
          </a:p>
          <a:p>
            <a:pPr marL="239395" marR="52451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latin typeface="Calibri"/>
                <a:cs typeface="Calibri"/>
              </a:rPr>
              <a:t>Flood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mapping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&lt;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5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minutes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(down from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48–</a:t>
            </a:r>
            <a:r>
              <a:rPr sz="1600" i="1" dirty="0">
                <a:latin typeface="Calibri"/>
                <a:cs typeface="Calibri"/>
              </a:rPr>
              <a:t>72</a:t>
            </a:r>
            <a:r>
              <a:rPr sz="1600" i="1" spc="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hours)</a:t>
            </a:r>
            <a:r>
              <a:rPr sz="1600" spc="-10" dirty="0">
                <a:latin typeface="Calibri"/>
                <a:cs typeface="Calibri"/>
              </a:rPr>
              <a:t>. </a:t>
            </a:r>
            <a:r>
              <a:rPr sz="1600" b="1" spc="-10" dirty="0">
                <a:latin typeface="Calibri"/>
                <a:cs typeface="Calibri"/>
              </a:rPr>
              <a:t>Monsoon-</a:t>
            </a:r>
            <a:r>
              <a:rPr sz="1600" b="1" dirty="0">
                <a:latin typeface="Calibri"/>
                <a:cs typeface="Calibri"/>
              </a:rPr>
              <a:t>penetrating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SAR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radar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continuous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vision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storms.</a:t>
            </a:r>
            <a:endParaRPr sz="1600">
              <a:latin typeface="Calibri"/>
              <a:cs typeface="Calibri"/>
            </a:endParaRPr>
          </a:p>
          <a:p>
            <a:pPr marL="347345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Urban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Planning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Cities:</a:t>
            </a:r>
            <a:endParaRPr sz="18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135"/>
              </a:spcBef>
            </a:pPr>
            <a:r>
              <a:rPr sz="1600" b="1" dirty="0">
                <a:latin typeface="Calibri"/>
                <a:cs typeface="Calibri"/>
              </a:rPr>
              <a:t>Automated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encroachment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alerts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10-</a:t>
            </a:r>
            <a:r>
              <a:rPr sz="1600" dirty="0">
                <a:latin typeface="Calibri"/>
                <a:cs typeface="Calibri"/>
              </a:rPr>
              <a:t>year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satellite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baselines.</a:t>
            </a:r>
            <a:endParaRPr sz="1600">
              <a:latin typeface="Calibri"/>
              <a:cs typeface="Calibri"/>
            </a:endParaRPr>
          </a:p>
          <a:p>
            <a:pPr marL="239395" marR="432434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Detects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illegal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construction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&amp;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sprawl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ground surveys.</a:t>
            </a:r>
            <a:endParaRPr sz="1600">
              <a:latin typeface="Calibri"/>
              <a:cs typeface="Calibri"/>
            </a:endParaRPr>
          </a:p>
          <a:p>
            <a:pPr marL="347345">
              <a:lnSpc>
                <a:spcPts val="2105"/>
              </a:lnSpc>
              <a:spcBef>
                <a:spcPts val="114"/>
              </a:spcBef>
            </a:pPr>
            <a:r>
              <a:rPr sz="1800" dirty="0">
                <a:latin typeface="Calibri"/>
                <a:cs typeface="Calibri"/>
              </a:rPr>
              <a:t>Agriculture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Authorities:</a:t>
            </a:r>
            <a:endParaRPr sz="1800">
              <a:latin typeface="Calibri"/>
              <a:cs typeface="Calibri"/>
            </a:endParaRPr>
          </a:p>
          <a:p>
            <a:pPr marL="151130">
              <a:lnSpc>
                <a:spcPts val="1864"/>
              </a:lnSpc>
            </a:pPr>
            <a:r>
              <a:rPr sz="1600" b="1" dirty="0">
                <a:latin typeface="Calibri"/>
                <a:cs typeface="Calibri"/>
              </a:rPr>
              <a:t>Early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drought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&amp;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crop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stress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warnings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NDVI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vigor.</a:t>
            </a:r>
            <a:endParaRPr sz="1600">
              <a:latin typeface="Calibri"/>
              <a:cs typeface="Calibri"/>
            </a:endParaRPr>
          </a:p>
          <a:p>
            <a:pPr marL="239395" marR="742315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Tracks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reservoir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&amp;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wetland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shrinkage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proactive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water rationing.</a:t>
            </a:r>
            <a:endParaRPr sz="1600">
              <a:latin typeface="Calibri"/>
              <a:cs typeface="Calibri"/>
            </a:endParaRPr>
          </a:p>
          <a:p>
            <a:pPr marL="347345">
              <a:lnSpc>
                <a:spcPts val="2014"/>
              </a:lnSpc>
            </a:pPr>
            <a:r>
              <a:rPr sz="1800" dirty="0">
                <a:latin typeface="Calibri"/>
                <a:cs typeface="Calibri"/>
              </a:rPr>
              <a:t>Defense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Border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Security: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b="1" dirty="0">
                <a:latin typeface="Calibri"/>
                <a:cs typeface="Calibri"/>
              </a:rPr>
              <a:t>24/7</a:t>
            </a:r>
            <a:r>
              <a:rPr sz="1600" b="1" spc="-10" dirty="0">
                <a:latin typeface="Calibri"/>
                <a:cs typeface="Calibri"/>
              </a:rPr>
              <a:t> day-and-</a:t>
            </a:r>
            <a:r>
              <a:rPr sz="1600" b="1" dirty="0">
                <a:latin typeface="Calibri"/>
                <a:cs typeface="Calibri"/>
              </a:rPr>
              <a:t>night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terrain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surveillance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Optical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fusion.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8742" y="1477060"/>
            <a:ext cx="279095" cy="279095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6725411" y="1313675"/>
            <a:ext cx="2101850" cy="561340"/>
            <a:chOff x="6725411" y="1313675"/>
            <a:chExt cx="2101850" cy="56134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25411" y="1354823"/>
              <a:ext cx="2101596" cy="41454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3" y="1313675"/>
              <a:ext cx="1801368" cy="56084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73290" y="1382776"/>
              <a:ext cx="2010155" cy="323088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773290" y="1382776"/>
              <a:ext cx="2010410" cy="323215"/>
            </a:xfrm>
            <a:custGeom>
              <a:avLst/>
              <a:gdLst/>
              <a:ahLst/>
              <a:cxnLst/>
              <a:rect l="l" t="t" r="r" b="b"/>
              <a:pathLst>
                <a:path w="201040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956307" y="0"/>
                  </a:lnTo>
                  <a:lnTo>
                    <a:pt x="1977259" y="4234"/>
                  </a:lnTo>
                  <a:lnTo>
                    <a:pt x="1994376" y="15779"/>
                  </a:lnTo>
                  <a:lnTo>
                    <a:pt x="2005921" y="32896"/>
                  </a:lnTo>
                  <a:lnTo>
                    <a:pt x="2010155" y="53848"/>
                  </a:lnTo>
                  <a:lnTo>
                    <a:pt x="2010155" y="269239"/>
                  </a:lnTo>
                  <a:lnTo>
                    <a:pt x="2005921" y="290191"/>
                  </a:lnTo>
                  <a:lnTo>
                    <a:pt x="1994376" y="307308"/>
                  </a:lnTo>
                  <a:lnTo>
                    <a:pt x="1977259" y="318853"/>
                  </a:lnTo>
                  <a:lnTo>
                    <a:pt x="1956307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697980" y="2578595"/>
            <a:ext cx="2776855" cy="561340"/>
            <a:chOff x="6697980" y="2578595"/>
            <a:chExt cx="2776855" cy="561340"/>
          </a:xfrm>
        </p:grpSpPr>
        <p:pic>
          <p:nvPicPr>
            <p:cNvPr id="60" name="object 6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25412" y="2648661"/>
              <a:ext cx="2749296" cy="35666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97980" y="2578595"/>
              <a:ext cx="2161031" cy="56084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73291" y="2676144"/>
              <a:ext cx="2658617" cy="26593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773291" y="2676144"/>
              <a:ext cx="2658745" cy="266065"/>
            </a:xfrm>
            <a:custGeom>
              <a:avLst/>
              <a:gdLst/>
              <a:ahLst/>
              <a:cxnLst/>
              <a:rect l="l" t="t" r="r" b="b"/>
              <a:pathLst>
                <a:path w="2658745" h="266064">
                  <a:moveTo>
                    <a:pt x="0" y="44322"/>
                  </a:moveTo>
                  <a:lnTo>
                    <a:pt x="3496" y="27110"/>
                  </a:lnTo>
                  <a:lnTo>
                    <a:pt x="13017" y="13017"/>
                  </a:lnTo>
                  <a:lnTo>
                    <a:pt x="27110" y="3496"/>
                  </a:lnTo>
                  <a:lnTo>
                    <a:pt x="44323" y="0"/>
                  </a:lnTo>
                  <a:lnTo>
                    <a:pt x="2614294" y="0"/>
                  </a:lnTo>
                  <a:lnTo>
                    <a:pt x="2631507" y="3496"/>
                  </a:lnTo>
                  <a:lnTo>
                    <a:pt x="2645600" y="13017"/>
                  </a:lnTo>
                  <a:lnTo>
                    <a:pt x="2655121" y="27110"/>
                  </a:lnTo>
                  <a:lnTo>
                    <a:pt x="2658617" y="44322"/>
                  </a:lnTo>
                  <a:lnTo>
                    <a:pt x="2658617" y="221614"/>
                  </a:lnTo>
                  <a:lnTo>
                    <a:pt x="2655121" y="238881"/>
                  </a:lnTo>
                  <a:lnTo>
                    <a:pt x="2645600" y="252968"/>
                  </a:lnTo>
                  <a:lnTo>
                    <a:pt x="2631507" y="262459"/>
                  </a:lnTo>
                  <a:lnTo>
                    <a:pt x="2614294" y="265938"/>
                  </a:lnTo>
                  <a:lnTo>
                    <a:pt x="44323" y="265938"/>
                  </a:lnTo>
                  <a:lnTo>
                    <a:pt x="27110" y="262459"/>
                  </a:lnTo>
                  <a:lnTo>
                    <a:pt x="13017" y="252968"/>
                  </a:lnTo>
                  <a:lnTo>
                    <a:pt x="3496" y="238881"/>
                  </a:lnTo>
                  <a:lnTo>
                    <a:pt x="0" y="221614"/>
                  </a:lnTo>
                  <a:lnTo>
                    <a:pt x="0" y="44322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621271" y="1049909"/>
            <a:ext cx="5181600" cy="162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705" marR="2653665" indent="-421640">
              <a:lnSpc>
                <a:spcPct val="110100"/>
              </a:lnSpc>
              <a:spcBef>
                <a:spcPts val="100"/>
              </a:spcBef>
            </a:pPr>
            <a:r>
              <a:rPr sz="1800" b="1" dirty="0">
                <a:solidFill>
                  <a:srgbClr val="17375E"/>
                </a:solidFill>
                <a:latin typeface="Calibri"/>
                <a:cs typeface="Calibri"/>
              </a:rPr>
              <a:t>Multi-Dimensional</a:t>
            </a:r>
            <a:r>
              <a:rPr sz="1800" b="1" spc="-10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Benefit </a:t>
            </a:r>
            <a:r>
              <a:rPr sz="1800" b="1" dirty="0">
                <a:latin typeface="Calibri"/>
                <a:cs typeface="Calibri"/>
              </a:rPr>
              <a:t>Social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Benefits:</a:t>
            </a:r>
            <a:endParaRPr sz="1800">
              <a:latin typeface="Calibri"/>
              <a:cs typeface="Calibri"/>
            </a:endParaRPr>
          </a:p>
          <a:p>
            <a:pPr marL="219075" marR="525780">
              <a:lnSpc>
                <a:spcPct val="100000"/>
              </a:lnSpc>
              <a:spcBef>
                <a:spcPts val="135"/>
              </a:spcBef>
            </a:pPr>
            <a:r>
              <a:rPr sz="1600" b="1" dirty="0">
                <a:latin typeface="Calibri"/>
                <a:cs typeface="Calibri"/>
              </a:rPr>
              <a:t>Democratizes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Space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query</a:t>
            </a:r>
            <a:r>
              <a:rPr sz="1600" spc="-10" dirty="0">
                <a:latin typeface="Calibri"/>
                <a:cs typeface="Calibri"/>
              </a:rPr>
              <a:t> satellite </a:t>
            </a:r>
            <a:r>
              <a:rPr sz="1600" dirty="0">
                <a:latin typeface="Calibri"/>
                <a:cs typeface="Calibri"/>
              </a:rPr>
              <a:t>imagery in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English.</a:t>
            </a:r>
            <a:endParaRPr sz="1600">
              <a:latin typeface="Calibri"/>
              <a:cs typeface="Calibri"/>
            </a:endParaRPr>
          </a:p>
          <a:p>
            <a:pPr marL="219075" marR="508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Saves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Lives: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Accelerated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disaster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mapping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rescue deployments.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7" name="object 8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401308" y="1419948"/>
            <a:ext cx="271945" cy="271945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885" y="2477122"/>
            <a:ext cx="272807" cy="272808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407403" y="2676182"/>
            <a:ext cx="265899" cy="265899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6773291" y="2676144"/>
            <a:ext cx="265874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2010"/>
              </a:lnSpc>
            </a:pPr>
            <a:r>
              <a:rPr sz="1800" b="1" dirty="0">
                <a:latin typeface="Calibri"/>
                <a:cs typeface="Calibri"/>
              </a:rPr>
              <a:t>Economic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Benefits: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5" name="object 8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0647" y="3486391"/>
            <a:ext cx="272808" cy="2728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76668" y="4415104"/>
            <a:ext cx="485013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Continuous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Eco-</a:t>
            </a:r>
            <a:r>
              <a:rPr sz="1600" b="1" dirty="0">
                <a:latin typeface="Calibri"/>
                <a:cs typeface="Calibri"/>
              </a:rPr>
              <a:t>Monitoring: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illegal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deforestation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&amp;</a:t>
            </a:r>
            <a:endParaRPr sz="16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wetland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742176" y="4081259"/>
            <a:ext cx="2833370" cy="561340"/>
            <a:chOff x="6742176" y="4081259"/>
            <a:chExt cx="2833370" cy="561340"/>
          </a:xfrm>
        </p:grpSpPr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42176" y="4151414"/>
              <a:ext cx="2833116" cy="35505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765036" y="4081259"/>
              <a:ext cx="2644139" cy="56084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89039" y="4178173"/>
              <a:ext cx="2743200" cy="26581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789039" y="4178173"/>
              <a:ext cx="2743200" cy="266065"/>
            </a:xfrm>
            <a:custGeom>
              <a:avLst/>
              <a:gdLst/>
              <a:ahLst/>
              <a:cxnLst/>
              <a:rect l="l" t="t" r="r" b="b"/>
              <a:pathLst>
                <a:path w="2743200" h="2660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2" y="0"/>
                  </a:lnTo>
                  <a:lnTo>
                    <a:pt x="2698877" y="0"/>
                  </a:lnTo>
                  <a:lnTo>
                    <a:pt x="2716143" y="3478"/>
                  </a:lnTo>
                  <a:lnTo>
                    <a:pt x="2730230" y="12969"/>
                  </a:lnTo>
                  <a:lnTo>
                    <a:pt x="2739721" y="27056"/>
                  </a:lnTo>
                  <a:lnTo>
                    <a:pt x="2743200" y="44322"/>
                  </a:lnTo>
                  <a:lnTo>
                    <a:pt x="2743200" y="221487"/>
                  </a:lnTo>
                  <a:lnTo>
                    <a:pt x="2739721" y="238754"/>
                  </a:lnTo>
                  <a:lnTo>
                    <a:pt x="2730230" y="252841"/>
                  </a:lnTo>
                  <a:lnTo>
                    <a:pt x="2716143" y="262332"/>
                  </a:lnTo>
                  <a:lnTo>
                    <a:pt x="2698877" y="265810"/>
                  </a:lnTo>
                  <a:lnTo>
                    <a:pt x="44322" y="265810"/>
                  </a:lnTo>
                  <a:lnTo>
                    <a:pt x="27056" y="262332"/>
                  </a:lnTo>
                  <a:lnTo>
                    <a:pt x="12969" y="252841"/>
                  </a:lnTo>
                  <a:lnTo>
                    <a:pt x="3478" y="238754"/>
                  </a:lnTo>
                  <a:lnTo>
                    <a:pt x="0" y="221487"/>
                  </a:lnTo>
                  <a:lnTo>
                    <a:pt x="0" y="44322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789039" y="4178172"/>
            <a:ext cx="274320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ts val="2014"/>
              </a:lnSpc>
            </a:pPr>
            <a:r>
              <a:rPr sz="1800" b="1" dirty="0">
                <a:latin typeface="Calibri"/>
                <a:cs typeface="Calibri"/>
              </a:rPr>
              <a:t>Environmental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Benefits: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6" name="object 8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8742" y="4495660"/>
            <a:ext cx="272808" cy="2728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450907" y="4948580"/>
            <a:ext cx="179468" cy="22896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09449" y="5772911"/>
            <a:ext cx="1916430" cy="911860"/>
            <a:chOff x="6009449" y="5772911"/>
            <a:chExt cx="1916430" cy="911860"/>
          </a:xfrm>
        </p:grpSpPr>
        <p:pic>
          <p:nvPicPr>
            <p:cNvPr id="9" name="object 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12179" y="5818631"/>
              <a:ext cx="1908937" cy="8612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14211" y="5820397"/>
              <a:ext cx="1906905" cy="859790"/>
            </a:xfrm>
            <a:custGeom>
              <a:avLst/>
              <a:gdLst/>
              <a:ahLst/>
              <a:cxnLst/>
              <a:rect l="l" t="t" r="r" b="b"/>
              <a:pathLst>
                <a:path w="1906904" h="859790">
                  <a:moveTo>
                    <a:pt x="0" y="429729"/>
                  </a:moveTo>
                  <a:lnTo>
                    <a:pt x="381380" y="0"/>
                  </a:lnTo>
                  <a:lnTo>
                    <a:pt x="1525523" y="0"/>
                  </a:lnTo>
                  <a:lnTo>
                    <a:pt x="1906905" y="429729"/>
                  </a:lnTo>
                  <a:lnTo>
                    <a:pt x="1525523" y="859447"/>
                  </a:lnTo>
                  <a:lnTo>
                    <a:pt x="381380" y="859447"/>
                  </a:lnTo>
                  <a:lnTo>
                    <a:pt x="0" y="429729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04787" y="5772911"/>
              <a:ext cx="360426" cy="29489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70091" y="5177790"/>
            <a:ext cx="5354955" cy="8159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18770" marR="5080">
              <a:lnSpc>
                <a:spcPts val="2100"/>
              </a:lnSpc>
              <a:spcBef>
                <a:spcPts val="15"/>
              </a:spcBef>
            </a:pPr>
            <a:r>
              <a:rPr sz="1600" b="1" dirty="0">
                <a:latin typeface="Calibri"/>
                <a:cs typeface="Calibri"/>
              </a:rPr>
              <a:t>Zero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Black-</a:t>
            </a:r>
            <a:r>
              <a:rPr sz="1600" b="1" dirty="0">
                <a:latin typeface="Calibri"/>
                <a:cs typeface="Calibri"/>
              </a:rPr>
              <a:t>Box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Risk: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 output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verified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pixel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heatmaps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downloadable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audit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logs</a:t>
            </a:r>
            <a:r>
              <a:rPr sz="1800" spc="-2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100" b="1" dirty="0">
                <a:solidFill>
                  <a:srgbClr val="0D0D0D"/>
                </a:solidFill>
                <a:latin typeface="Calibri"/>
                <a:cs typeface="Calibri"/>
              </a:rPr>
              <a:t>User</a:t>
            </a:r>
            <a:r>
              <a:rPr sz="11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D0D0D"/>
                </a:solidFill>
                <a:latin typeface="Calibri"/>
                <a:cs typeface="Calibri"/>
              </a:rPr>
              <a:t>Accessibility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9" name="object 89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425438" y="4933454"/>
            <a:ext cx="243268" cy="247129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6742176" y="4826495"/>
            <a:ext cx="2926080" cy="561340"/>
            <a:chOff x="6742176" y="4826495"/>
            <a:chExt cx="2926080" cy="561340"/>
          </a:xfrm>
        </p:grpSpPr>
        <p:pic>
          <p:nvPicPr>
            <p:cNvPr id="72" name="object 7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757416" y="4896561"/>
              <a:ext cx="2910839" cy="35666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42176" y="4826495"/>
              <a:ext cx="2308860" cy="56084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804787" y="4924171"/>
              <a:ext cx="2820416" cy="26593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6804787" y="4924171"/>
              <a:ext cx="2820670" cy="266065"/>
            </a:xfrm>
            <a:custGeom>
              <a:avLst/>
              <a:gdLst/>
              <a:ahLst/>
              <a:cxnLst/>
              <a:rect l="l" t="t" r="r" b="b"/>
              <a:pathLst>
                <a:path w="2820670" h="266064">
                  <a:moveTo>
                    <a:pt x="0" y="86613"/>
                  </a:moveTo>
                  <a:lnTo>
                    <a:pt x="6800" y="52881"/>
                  </a:lnTo>
                  <a:lnTo>
                    <a:pt x="25352" y="25352"/>
                  </a:lnTo>
                  <a:lnTo>
                    <a:pt x="52881" y="6800"/>
                  </a:lnTo>
                  <a:lnTo>
                    <a:pt x="86614" y="0"/>
                  </a:lnTo>
                  <a:lnTo>
                    <a:pt x="2733802" y="0"/>
                  </a:lnTo>
                  <a:lnTo>
                    <a:pt x="2767534" y="6800"/>
                  </a:lnTo>
                  <a:lnTo>
                    <a:pt x="2795063" y="25352"/>
                  </a:lnTo>
                  <a:lnTo>
                    <a:pt x="2813615" y="52881"/>
                  </a:lnTo>
                  <a:lnTo>
                    <a:pt x="2820416" y="86613"/>
                  </a:lnTo>
                  <a:lnTo>
                    <a:pt x="2820416" y="179196"/>
                  </a:lnTo>
                  <a:lnTo>
                    <a:pt x="2813615" y="212949"/>
                  </a:lnTo>
                  <a:lnTo>
                    <a:pt x="2795063" y="240522"/>
                  </a:lnTo>
                  <a:lnTo>
                    <a:pt x="2767534" y="259117"/>
                  </a:lnTo>
                  <a:lnTo>
                    <a:pt x="2733802" y="265937"/>
                  </a:lnTo>
                  <a:lnTo>
                    <a:pt x="86614" y="265937"/>
                  </a:lnTo>
                  <a:lnTo>
                    <a:pt x="52881" y="259117"/>
                  </a:lnTo>
                  <a:lnTo>
                    <a:pt x="25352" y="240522"/>
                  </a:lnTo>
                  <a:lnTo>
                    <a:pt x="6800" y="212949"/>
                  </a:lnTo>
                  <a:lnTo>
                    <a:pt x="0" y="179196"/>
                  </a:lnTo>
                  <a:lnTo>
                    <a:pt x="0" y="86613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909561" y="4893055"/>
            <a:ext cx="1983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Governance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Trust: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188" y="5794247"/>
            <a:ext cx="1873250" cy="941705"/>
            <a:chOff x="17188" y="5794247"/>
            <a:chExt cx="1873250" cy="941705"/>
          </a:xfrm>
        </p:grpSpPr>
        <p:pic>
          <p:nvPicPr>
            <p:cNvPr id="32" name="object 3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11" y="5827775"/>
              <a:ext cx="1865630" cy="90317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950" y="5828944"/>
              <a:ext cx="1863725" cy="902335"/>
            </a:xfrm>
            <a:custGeom>
              <a:avLst/>
              <a:gdLst/>
              <a:ahLst/>
              <a:cxnLst/>
              <a:rect l="l" t="t" r="r" b="b"/>
              <a:pathLst>
                <a:path w="1863725" h="902334">
                  <a:moveTo>
                    <a:pt x="0" y="451002"/>
                  </a:moveTo>
                  <a:lnTo>
                    <a:pt x="372701" y="0"/>
                  </a:lnTo>
                  <a:lnTo>
                    <a:pt x="1490873" y="0"/>
                  </a:lnTo>
                  <a:lnTo>
                    <a:pt x="1863491" y="451002"/>
                  </a:lnTo>
                  <a:lnTo>
                    <a:pt x="1490873" y="902004"/>
                  </a:lnTo>
                  <a:lnTo>
                    <a:pt x="372701" y="902004"/>
                  </a:lnTo>
                  <a:lnTo>
                    <a:pt x="0" y="451002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60603" y="5794247"/>
              <a:ext cx="392430" cy="320802"/>
            </a:xfrm>
            <a:prstGeom prst="rect">
              <a:avLst/>
            </a:prstGeom>
          </p:spPr>
        </p:pic>
      </p:grpSp>
      <p:pic>
        <p:nvPicPr>
          <p:cNvPr id="92" name="object 9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98563" y="5855110"/>
            <a:ext cx="124868" cy="16186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84403" y="5823915"/>
            <a:ext cx="981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D0D0D"/>
                </a:solidFill>
                <a:latin typeface="Calibri"/>
                <a:cs typeface="Calibri"/>
              </a:rPr>
              <a:t>Response</a:t>
            </a:r>
            <a:r>
              <a:rPr sz="12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6963" y="6142126"/>
            <a:ext cx="134747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72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Hrs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→</a:t>
            </a:r>
            <a:r>
              <a:rPr sz="1400" spc="-10" dirty="0">
                <a:latin typeface="Cambria Math"/>
                <a:cs typeface="Cambria Math"/>
              </a:rPr>
              <a:t> </a:t>
            </a:r>
            <a:r>
              <a:rPr sz="1400" b="1" dirty="0">
                <a:latin typeface="Calibri"/>
                <a:cs typeface="Calibri"/>
              </a:rPr>
              <a:t>&lt;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5</a:t>
            </a:r>
            <a:r>
              <a:rPr sz="1400" b="1" spc="-20" dirty="0">
                <a:latin typeface="Calibri"/>
                <a:cs typeface="Calibri"/>
              </a:rPr>
              <a:t> Mins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ts val="1675"/>
              </a:lnSpc>
            </a:pPr>
            <a:r>
              <a:rPr sz="1400" i="1" dirty="0">
                <a:latin typeface="Calibri"/>
                <a:cs typeface="Calibri"/>
              </a:rPr>
              <a:t>(95%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faster)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75167" y="5821679"/>
            <a:ext cx="1873250" cy="923925"/>
            <a:chOff x="1975167" y="5821679"/>
            <a:chExt cx="1873250" cy="923925"/>
          </a:xfrm>
        </p:grpSpPr>
        <p:pic>
          <p:nvPicPr>
            <p:cNvPr id="14" name="object 1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78151" y="5836919"/>
              <a:ext cx="1865249" cy="9037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79929" y="5838634"/>
              <a:ext cx="1863725" cy="902335"/>
            </a:xfrm>
            <a:custGeom>
              <a:avLst/>
              <a:gdLst/>
              <a:ahLst/>
              <a:cxnLst/>
              <a:rect l="l" t="t" r="r" b="b"/>
              <a:pathLst>
                <a:path w="1863725" h="902334">
                  <a:moveTo>
                    <a:pt x="0" y="451015"/>
                  </a:moveTo>
                  <a:lnTo>
                    <a:pt x="372744" y="0"/>
                  </a:lnTo>
                  <a:lnTo>
                    <a:pt x="1490853" y="0"/>
                  </a:lnTo>
                  <a:lnTo>
                    <a:pt x="1863470" y="451015"/>
                  </a:lnTo>
                  <a:lnTo>
                    <a:pt x="1490853" y="902017"/>
                  </a:lnTo>
                  <a:lnTo>
                    <a:pt x="372744" y="902017"/>
                  </a:lnTo>
                  <a:lnTo>
                    <a:pt x="0" y="45101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41803" y="5821679"/>
              <a:ext cx="360425" cy="294893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169032" y="5818165"/>
            <a:ext cx="1479550" cy="6902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340"/>
              </a:spcBef>
            </a:pPr>
            <a:r>
              <a:rPr sz="1100" b="1" dirty="0">
                <a:latin typeface="Calibri"/>
                <a:cs typeface="Calibri"/>
              </a:rPr>
              <a:t>Software</a:t>
            </a:r>
            <a:r>
              <a:rPr sz="1100" b="1" spc="-6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Cost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400" b="1" dirty="0">
                <a:latin typeface="Calibri"/>
                <a:cs typeface="Calibri"/>
              </a:rPr>
              <a:t>₹0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Licenses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Calibri"/>
                <a:cs typeface="Calibri"/>
              </a:rPr>
              <a:t>(100%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Open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Source)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0" name="object 9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360056" y="5874251"/>
            <a:ext cx="131148" cy="158598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948874" y="5781598"/>
            <a:ext cx="1916430" cy="921385"/>
            <a:chOff x="3948874" y="5781598"/>
            <a:chExt cx="1916430" cy="921385"/>
          </a:xfrm>
        </p:grpSpPr>
        <p:pic>
          <p:nvPicPr>
            <p:cNvPr id="39" name="object 3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951731" y="5785103"/>
              <a:ext cx="1908810" cy="91297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953636" y="5786361"/>
              <a:ext cx="1906905" cy="911860"/>
            </a:xfrm>
            <a:custGeom>
              <a:avLst/>
              <a:gdLst/>
              <a:ahLst/>
              <a:cxnLst/>
              <a:rect l="l" t="t" r="r" b="b"/>
              <a:pathLst>
                <a:path w="1906904" h="911859">
                  <a:moveTo>
                    <a:pt x="0" y="455866"/>
                  </a:moveTo>
                  <a:lnTo>
                    <a:pt x="381380" y="0"/>
                  </a:lnTo>
                  <a:lnTo>
                    <a:pt x="1525524" y="0"/>
                  </a:lnTo>
                  <a:lnTo>
                    <a:pt x="1906904" y="455866"/>
                  </a:lnTo>
                  <a:lnTo>
                    <a:pt x="1525524" y="911720"/>
                  </a:lnTo>
                  <a:lnTo>
                    <a:pt x="381380" y="911720"/>
                  </a:lnTo>
                  <a:lnTo>
                    <a:pt x="0" y="455866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165091" y="5820155"/>
              <a:ext cx="360425" cy="294894"/>
            </a:xfrm>
            <a:prstGeom prst="rect">
              <a:avLst/>
            </a:prstGeom>
          </p:spPr>
        </p:pic>
      </p:grpSp>
      <p:pic>
        <p:nvPicPr>
          <p:cNvPr id="93" name="object 9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270333" y="5879887"/>
            <a:ext cx="149055" cy="135081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4458715" y="5847079"/>
            <a:ext cx="11074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Weather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Coverage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1" name="object 9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410879" y="5856960"/>
            <a:ext cx="152668" cy="115221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4224909" y="6140602"/>
            <a:ext cx="131508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24/7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All-Weather</a:t>
            </a:r>
            <a:endParaRPr sz="1400">
              <a:latin typeface="Calibri"/>
              <a:cs typeface="Calibri"/>
            </a:endParaRPr>
          </a:p>
          <a:p>
            <a:pPr marL="50800" algn="ctr">
              <a:lnSpc>
                <a:spcPct val="100000"/>
              </a:lnSpc>
              <a:spcBef>
                <a:spcPts val="5"/>
              </a:spcBef>
            </a:pPr>
            <a:r>
              <a:rPr sz="1400" i="1" dirty="0">
                <a:latin typeface="Calibri"/>
                <a:cs typeface="Calibri"/>
              </a:rPr>
              <a:t>(Optical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+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SAR)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54571" y="6091224"/>
            <a:ext cx="12604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Natural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English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Calibri"/>
                <a:cs typeface="Calibri"/>
              </a:rPr>
              <a:t>(Zero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GIS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barrier)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440" y="21653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3768" y="490550"/>
            <a:ext cx="543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2607945" y="100025"/>
            <a:ext cx="6975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880" dirty="0"/>
              <a:t> </a:t>
            </a:r>
            <a:r>
              <a:rPr dirty="0"/>
              <a:t>AND </a:t>
            </a:r>
            <a:r>
              <a:rPr spc="-10" dirty="0"/>
              <a:t>REFERENCES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65480" y="765428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1141" y="650189"/>
            <a:ext cx="76485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solidFill>
                  <a:srgbClr val="205868"/>
                </a:solidFill>
                <a:latin typeface="Calibri"/>
                <a:cs typeface="Calibri"/>
              </a:rPr>
              <a:t>Peer-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Reviewed</a:t>
            </a:r>
            <a:r>
              <a:rPr sz="1900" spc="-1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Literature,</a:t>
            </a:r>
            <a:r>
              <a:rPr sz="1900" spc="-3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Space</a:t>
            </a:r>
            <a:r>
              <a:rPr sz="1900" spc="-5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Agency</a:t>
            </a:r>
            <a:r>
              <a:rPr sz="1900" spc="-3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Standards</a:t>
            </a:r>
            <a:r>
              <a:rPr sz="1900" spc="-60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&amp;</a:t>
            </a:r>
            <a:r>
              <a:rPr sz="1900" spc="-60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05868"/>
                </a:solidFill>
                <a:latin typeface="Calibri"/>
                <a:cs typeface="Calibri"/>
              </a:rPr>
              <a:t>Project</a:t>
            </a:r>
            <a:r>
              <a:rPr sz="1900" spc="-6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05868"/>
                </a:solidFill>
                <a:latin typeface="Calibri"/>
                <a:cs typeface="Calibri"/>
              </a:rPr>
              <a:t>Repository</a:t>
            </a:r>
            <a:r>
              <a:rPr sz="1900" spc="-4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05868"/>
                </a:solidFill>
                <a:latin typeface="Calibri"/>
                <a:cs typeface="Calibri"/>
              </a:rPr>
              <a:t>Links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8237" y="1536"/>
            <a:ext cx="11911965" cy="1071245"/>
            <a:chOff x="118237" y="1536"/>
            <a:chExt cx="11911965" cy="107124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0143" y="1536"/>
              <a:ext cx="2249804" cy="106234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739355" y="0"/>
                  </a:moveTo>
                  <a:lnTo>
                    <a:pt x="678717" y="1338"/>
                  </a:lnTo>
                  <a:lnTo>
                    <a:pt x="619429" y="5283"/>
                  </a:lnTo>
                  <a:lnTo>
                    <a:pt x="561681" y="11731"/>
                  </a:lnTo>
                  <a:lnTo>
                    <a:pt x="505664" y="20579"/>
                  </a:lnTo>
                  <a:lnTo>
                    <a:pt x="451567" y="31722"/>
                  </a:lnTo>
                  <a:lnTo>
                    <a:pt x="399581" y="45057"/>
                  </a:lnTo>
                  <a:lnTo>
                    <a:pt x="349896" y="60479"/>
                  </a:lnTo>
                  <a:lnTo>
                    <a:pt x="302703" y="77886"/>
                  </a:lnTo>
                  <a:lnTo>
                    <a:pt x="258192" y="97173"/>
                  </a:lnTo>
                  <a:lnTo>
                    <a:pt x="216554" y="118237"/>
                  </a:lnTo>
                  <a:lnTo>
                    <a:pt x="177977" y="140973"/>
                  </a:lnTo>
                  <a:lnTo>
                    <a:pt x="142654" y="165277"/>
                  </a:lnTo>
                  <a:lnTo>
                    <a:pt x="110773" y="191047"/>
                  </a:lnTo>
                  <a:lnTo>
                    <a:pt x="82526" y="218178"/>
                  </a:lnTo>
                  <a:lnTo>
                    <a:pt x="37693" y="276108"/>
                  </a:lnTo>
                  <a:lnTo>
                    <a:pt x="9677" y="338236"/>
                  </a:lnTo>
                  <a:lnTo>
                    <a:pt x="0" y="403732"/>
                  </a:lnTo>
                  <a:lnTo>
                    <a:pt x="2450" y="436832"/>
                  </a:lnTo>
                  <a:lnTo>
                    <a:pt x="21487" y="500717"/>
                  </a:lnTo>
                  <a:lnTo>
                    <a:pt x="58102" y="560826"/>
                  </a:lnTo>
                  <a:lnTo>
                    <a:pt x="110773" y="616326"/>
                  </a:lnTo>
                  <a:lnTo>
                    <a:pt x="142654" y="642088"/>
                  </a:lnTo>
                  <a:lnTo>
                    <a:pt x="177977" y="666387"/>
                  </a:lnTo>
                  <a:lnTo>
                    <a:pt x="216554" y="689117"/>
                  </a:lnTo>
                  <a:lnTo>
                    <a:pt x="258192" y="710176"/>
                  </a:lnTo>
                  <a:lnTo>
                    <a:pt x="302703" y="729460"/>
                  </a:lnTo>
                  <a:lnTo>
                    <a:pt x="349896" y="746864"/>
                  </a:lnTo>
                  <a:lnTo>
                    <a:pt x="399581" y="762285"/>
                  </a:lnTo>
                  <a:lnTo>
                    <a:pt x="451567" y="775618"/>
                  </a:lnTo>
                  <a:lnTo>
                    <a:pt x="505664" y="786760"/>
                  </a:lnTo>
                  <a:lnTo>
                    <a:pt x="561681" y="795607"/>
                  </a:lnTo>
                  <a:lnTo>
                    <a:pt x="619429" y="802055"/>
                  </a:lnTo>
                  <a:lnTo>
                    <a:pt x="678717" y="806000"/>
                  </a:lnTo>
                  <a:lnTo>
                    <a:pt x="739355" y="807338"/>
                  </a:lnTo>
                  <a:lnTo>
                    <a:pt x="799995" y="806000"/>
                  </a:lnTo>
                  <a:lnTo>
                    <a:pt x="859283" y="802055"/>
                  </a:lnTo>
                  <a:lnTo>
                    <a:pt x="917031" y="795607"/>
                  </a:lnTo>
                  <a:lnTo>
                    <a:pt x="973047" y="786760"/>
                  </a:lnTo>
                  <a:lnTo>
                    <a:pt x="1027142" y="775618"/>
                  </a:lnTo>
                  <a:lnTo>
                    <a:pt x="1079125" y="762285"/>
                  </a:lnTo>
                  <a:lnTo>
                    <a:pt x="1128806" y="746864"/>
                  </a:lnTo>
                  <a:lnTo>
                    <a:pt x="1175995" y="729460"/>
                  </a:lnTo>
                  <a:lnTo>
                    <a:pt x="1220502" y="710176"/>
                  </a:lnTo>
                  <a:lnTo>
                    <a:pt x="1262137" y="689117"/>
                  </a:lnTo>
                  <a:lnTo>
                    <a:pt x="1300709" y="666387"/>
                  </a:lnTo>
                  <a:lnTo>
                    <a:pt x="1336028" y="642088"/>
                  </a:lnTo>
                  <a:lnTo>
                    <a:pt x="1367904" y="616326"/>
                  </a:lnTo>
                  <a:lnTo>
                    <a:pt x="1396147" y="589204"/>
                  </a:lnTo>
                  <a:lnTo>
                    <a:pt x="1440974" y="531295"/>
                  </a:lnTo>
                  <a:lnTo>
                    <a:pt x="1468985" y="469195"/>
                  </a:lnTo>
                  <a:lnTo>
                    <a:pt x="1478661" y="403732"/>
                  </a:lnTo>
                  <a:lnTo>
                    <a:pt x="1476210" y="370615"/>
                  </a:lnTo>
                  <a:lnTo>
                    <a:pt x="1457176" y="306699"/>
                  </a:lnTo>
                  <a:lnTo>
                    <a:pt x="1420567" y="246566"/>
                  </a:lnTo>
                  <a:lnTo>
                    <a:pt x="1367904" y="191047"/>
                  </a:lnTo>
                  <a:lnTo>
                    <a:pt x="1336028" y="165277"/>
                  </a:lnTo>
                  <a:lnTo>
                    <a:pt x="1300709" y="140973"/>
                  </a:lnTo>
                  <a:lnTo>
                    <a:pt x="1262137" y="118237"/>
                  </a:lnTo>
                  <a:lnTo>
                    <a:pt x="1220502" y="97173"/>
                  </a:lnTo>
                  <a:lnTo>
                    <a:pt x="1175995" y="77886"/>
                  </a:lnTo>
                  <a:lnTo>
                    <a:pt x="1128806" y="60479"/>
                  </a:lnTo>
                  <a:lnTo>
                    <a:pt x="1079125" y="45057"/>
                  </a:lnTo>
                  <a:lnTo>
                    <a:pt x="1027142" y="31722"/>
                  </a:lnTo>
                  <a:lnTo>
                    <a:pt x="973047" y="20579"/>
                  </a:lnTo>
                  <a:lnTo>
                    <a:pt x="917031" y="11731"/>
                  </a:lnTo>
                  <a:lnTo>
                    <a:pt x="859283" y="5283"/>
                  </a:lnTo>
                  <a:lnTo>
                    <a:pt x="799995" y="1338"/>
                  </a:lnTo>
                  <a:lnTo>
                    <a:pt x="739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0937" y="252222"/>
              <a:ext cx="1478915" cy="807720"/>
            </a:xfrm>
            <a:custGeom>
              <a:avLst/>
              <a:gdLst/>
              <a:ahLst/>
              <a:cxnLst/>
              <a:rect l="l" t="t" r="r" b="b"/>
              <a:pathLst>
                <a:path w="1478915" h="807719">
                  <a:moveTo>
                    <a:pt x="0" y="403732"/>
                  </a:moveTo>
                  <a:lnTo>
                    <a:pt x="9677" y="338236"/>
                  </a:lnTo>
                  <a:lnTo>
                    <a:pt x="37693" y="276108"/>
                  </a:lnTo>
                  <a:lnTo>
                    <a:pt x="82526" y="218178"/>
                  </a:lnTo>
                  <a:lnTo>
                    <a:pt x="110773" y="191047"/>
                  </a:lnTo>
                  <a:lnTo>
                    <a:pt x="142654" y="165277"/>
                  </a:lnTo>
                  <a:lnTo>
                    <a:pt x="177977" y="140973"/>
                  </a:lnTo>
                  <a:lnTo>
                    <a:pt x="216554" y="118237"/>
                  </a:lnTo>
                  <a:lnTo>
                    <a:pt x="258192" y="97173"/>
                  </a:lnTo>
                  <a:lnTo>
                    <a:pt x="302703" y="77886"/>
                  </a:lnTo>
                  <a:lnTo>
                    <a:pt x="349896" y="60479"/>
                  </a:lnTo>
                  <a:lnTo>
                    <a:pt x="399581" y="45057"/>
                  </a:lnTo>
                  <a:lnTo>
                    <a:pt x="451567" y="31722"/>
                  </a:lnTo>
                  <a:lnTo>
                    <a:pt x="505664" y="20579"/>
                  </a:lnTo>
                  <a:lnTo>
                    <a:pt x="561681" y="11731"/>
                  </a:lnTo>
                  <a:lnTo>
                    <a:pt x="619429" y="5283"/>
                  </a:lnTo>
                  <a:lnTo>
                    <a:pt x="678717" y="1338"/>
                  </a:lnTo>
                  <a:lnTo>
                    <a:pt x="739355" y="0"/>
                  </a:lnTo>
                  <a:lnTo>
                    <a:pt x="799995" y="1338"/>
                  </a:lnTo>
                  <a:lnTo>
                    <a:pt x="859283" y="5283"/>
                  </a:lnTo>
                  <a:lnTo>
                    <a:pt x="917031" y="11731"/>
                  </a:lnTo>
                  <a:lnTo>
                    <a:pt x="973047" y="20579"/>
                  </a:lnTo>
                  <a:lnTo>
                    <a:pt x="1027142" y="31722"/>
                  </a:lnTo>
                  <a:lnTo>
                    <a:pt x="1079125" y="45057"/>
                  </a:lnTo>
                  <a:lnTo>
                    <a:pt x="1128806" y="60479"/>
                  </a:lnTo>
                  <a:lnTo>
                    <a:pt x="1175995" y="77886"/>
                  </a:lnTo>
                  <a:lnTo>
                    <a:pt x="1220502" y="97173"/>
                  </a:lnTo>
                  <a:lnTo>
                    <a:pt x="1262137" y="118237"/>
                  </a:lnTo>
                  <a:lnTo>
                    <a:pt x="1300709" y="140973"/>
                  </a:lnTo>
                  <a:lnTo>
                    <a:pt x="1336028" y="165277"/>
                  </a:lnTo>
                  <a:lnTo>
                    <a:pt x="1367904" y="191047"/>
                  </a:lnTo>
                  <a:lnTo>
                    <a:pt x="1396147" y="218178"/>
                  </a:lnTo>
                  <a:lnTo>
                    <a:pt x="1440974" y="276108"/>
                  </a:lnTo>
                  <a:lnTo>
                    <a:pt x="1468985" y="338236"/>
                  </a:lnTo>
                  <a:lnTo>
                    <a:pt x="1478661" y="403732"/>
                  </a:lnTo>
                  <a:lnTo>
                    <a:pt x="1476210" y="436832"/>
                  </a:lnTo>
                  <a:lnTo>
                    <a:pt x="1457176" y="500717"/>
                  </a:lnTo>
                  <a:lnTo>
                    <a:pt x="1420567" y="560826"/>
                  </a:lnTo>
                  <a:lnTo>
                    <a:pt x="1367904" y="616326"/>
                  </a:lnTo>
                  <a:lnTo>
                    <a:pt x="1336028" y="642088"/>
                  </a:lnTo>
                  <a:lnTo>
                    <a:pt x="1300709" y="666387"/>
                  </a:lnTo>
                  <a:lnTo>
                    <a:pt x="1262137" y="689117"/>
                  </a:lnTo>
                  <a:lnTo>
                    <a:pt x="1220502" y="710176"/>
                  </a:lnTo>
                  <a:lnTo>
                    <a:pt x="1175995" y="729460"/>
                  </a:lnTo>
                  <a:lnTo>
                    <a:pt x="1128806" y="746864"/>
                  </a:lnTo>
                  <a:lnTo>
                    <a:pt x="1079125" y="762285"/>
                  </a:lnTo>
                  <a:lnTo>
                    <a:pt x="1027142" y="775618"/>
                  </a:lnTo>
                  <a:lnTo>
                    <a:pt x="973047" y="786760"/>
                  </a:lnTo>
                  <a:lnTo>
                    <a:pt x="917031" y="795607"/>
                  </a:lnTo>
                  <a:lnTo>
                    <a:pt x="859283" y="802055"/>
                  </a:lnTo>
                  <a:lnTo>
                    <a:pt x="799995" y="806000"/>
                  </a:lnTo>
                  <a:lnTo>
                    <a:pt x="739355" y="807338"/>
                  </a:lnTo>
                  <a:lnTo>
                    <a:pt x="678717" y="806000"/>
                  </a:lnTo>
                  <a:lnTo>
                    <a:pt x="619429" y="802055"/>
                  </a:lnTo>
                  <a:lnTo>
                    <a:pt x="561681" y="795607"/>
                  </a:lnTo>
                  <a:lnTo>
                    <a:pt x="505664" y="786760"/>
                  </a:lnTo>
                  <a:lnTo>
                    <a:pt x="451567" y="775618"/>
                  </a:lnTo>
                  <a:lnTo>
                    <a:pt x="399581" y="762285"/>
                  </a:lnTo>
                  <a:lnTo>
                    <a:pt x="349896" y="746864"/>
                  </a:lnTo>
                  <a:lnTo>
                    <a:pt x="302703" y="729460"/>
                  </a:lnTo>
                  <a:lnTo>
                    <a:pt x="258192" y="710176"/>
                  </a:lnTo>
                  <a:lnTo>
                    <a:pt x="216554" y="689117"/>
                  </a:lnTo>
                  <a:lnTo>
                    <a:pt x="177977" y="666387"/>
                  </a:lnTo>
                  <a:lnTo>
                    <a:pt x="142654" y="642088"/>
                  </a:lnTo>
                  <a:lnTo>
                    <a:pt x="110773" y="616326"/>
                  </a:lnTo>
                  <a:lnTo>
                    <a:pt x="82526" y="589204"/>
                  </a:lnTo>
                  <a:lnTo>
                    <a:pt x="37693" y="531295"/>
                  </a:lnTo>
                  <a:lnTo>
                    <a:pt x="9677" y="469195"/>
                  </a:lnTo>
                  <a:lnTo>
                    <a:pt x="0" y="403732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7133" y="353695"/>
            <a:ext cx="4673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3948" y="628269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Manions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114107"/>
            <a:ext cx="12192000" cy="4909820"/>
            <a:chOff x="0" y="1114107"/>
            <a:chExt cx="12192000" cy="490982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2184" y="3992907"/>
              <a:ext cx="6269815" cy="10004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62777" y="1118869"/>
              <a:ext cx="5965190" cy="3813175"/>
            </a:xfrm>
            <a:custGeom>
              <a:avLst/>
              <a:gdLst/>
              <a:ahLst/>
              <a:cxnLst/>
              <a:rect l="l" t="t" r="r" b="b"/>
              <a:pathLst>
                <a:path w="5965190" h="3813175">
                  <a:moveTo>
                    <a:pt x="5965063" y="0"/>
                  </a:moveTo>
                  <a:lnTo>
                    <a:pt x="0" y="0"/>
                  </a:lnTo>
                  <a:lnTo>
                    <a:pt x="0" y="3812793"/>
                  </a:lnTo>
                  <a:lnTo>
                    <a:pt x="5329555" y="3812793"/>
                  </a:lnTo>
                  <a:lnTo>
                    <a:pt x="5965063" y="3177285"/>
                  </a:lnTo>
                  <a:lnTo>
                    <a:pt x="5965063" y="0"/>
                  </a:lnTo>
                  <a:close/>
                </a:path>
              </a:pathLst>
            </a:custGeom>
            <a:solidFill>
              <a:srgbClr val="DBE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92331" y="4296155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4" h="635635">
                  <a:moveTo>
                    <a:pt x="635508" y="0"/>
                  </a:moveTo>
                  <a:lnTo>
                    <a:pt x="127126" y="127127"/>
                  </a:lnTo>
                  <a:lnTo>
                    <a:pt x="0" y="635508"/>
                  </a:lnTo>
                  <a:lnTo>
                    <a:pt x="635508" y="0"/>
                  </a:lnTo>
                  <a:close/>
                </a:path>
              </a:pathLst>
            </a:custGeom>
            <a:solidFill>
              <a:srgbClr val="AFB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2777" y="1118869"/>
              <a:ext cx="5965190" cy="3813175"/>
            </a:xfrm>
            <a:custGeom>
              <a:avLst/>
              <a:gdLst/>
              <a:ahLst/>
              <a:cxnLst/>
              <a:rect l="l" t="t" r="r" b="b"/>
              <a:pathLst>
                <a:path w="5965190" h="3813175">
                  <a:moveTo>
                    <a:pt x="5329555" y="3812793"/>
                  </a:moveTo>
                  <a:lnTo>
                    <a:pt x="5456682" y="3304412"/>
                  </a:lnTo>
                  <a:lnTo>
                    <a:pt x="5965063" y="3177285"/>
                  </a:lnTo>
                  <a:lnTo>
                    <a:pt x="5329555" y="3812793"/>
                  </a:lnTo>
                  <a:lnTo>
                    <a:pt x="0" y="3812793"/>
                  </a:lnTo>
                  <a:lnTo>
                    <a:pt x="0" y="0"/>
                  </a:lnTo>
                  <a:lnTo>
                    <a:pt x="5965063" y="0"/>
                  </a:lnTo>
                  <a:lnTo>
                    <a:pt x="5965063" y="3177285"/>
                  </a:lnTo>
                </a:path>
              </a:pathLst>
            </a:custGeom>
            <a:ln w="9525">
              <a:solidFill>
                <a:srgbClr val="DBED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760975"/>
              <a:ext cx="7686294" cy="1262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179" y="1118869"/>
              <a:ext cx="5831840" cy="4828540"/>
            </a:xfrm>
            <a:custGeom>
              <a:avLst/>
              <a:gdLst/>
              <a:ahLst/>
              <a:cxnLst/>
              <a:rect l="l" t="t" r="r" b="b"/>
              <a:pathLst>
                <a:path w="5831840" h="4828540">
                  <a:moveTo>
                    <a:pt x="5831837" y="0"/>
                  </a:moveTo>
                  <a:lnTo>
                    <a:pt x="0" y="0"/>
                  </a:lnTo>
                  <a:lnTo>
                    <a:pt x="0" y="4828451"/>
                  </a:lnTo>
                  <a:lnTo>
                    <a:pt x="5027038" y="4828451"/>
                  </a:lnTo>
                  <a:lnTo>
                    <a:pt x="5831837" y="4023741"/>
                  </a:lnTo>
                  <a:lnTo>
                    <a:pt x="5831837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46217" y="5142610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79">
                  <a:moveTo>
                    <a:pt x="804799" y="0"/>
                  </a:moveTo>
                  <a:lnTo>
                    <a:pt x="161036" y="160908"/>
                  </a:lnTo>
                  <a:lnTo>
                    <a:pt x="0" y="804710"/>
                  </a:lnTo>
                  <a:lnTo>
                    <a:pt x="804799" y="0"/>
                  </a:lnTo>
                  <a:close/>
                </a:path>
              </a:pathLst>
            </a:custGeom>
            <a:solidFill>
              <a:srgbClr val="C89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79" y="1118869"/>
              <a:ext cx="5831840" cy="4828540"/>
            </a:xfrm>
            <a:custGeom>
              <a:avLst/>
              <a:gdLst/>
              <a:ahLst/>
              <a:cxnLst/>
              <a:rect l="l" t="t" r="r" b="b"/>
              <a:pathLst>
                <a:path w="5831840" h="4828540">
                  <a:moveTo>
                    <a:pt x="5027038" y="4828451"/>
                  </a:moveTo>
                  <a:lnTo>
                    <a:pt x="5188074" y="4184650"/>
                  </a:lnTo>
                  <a:lnTo>
                    <a:pt x="5831837" y="4023741"/>
                  </a:lnTo>
                  <a:lnTo>
                    <a:pt x="5027038" y="4828451"/>
                  </a:lnTo>
                  <a:lnTo>
                    <a:pt x="0" y="4828451"/>
                  </a:lnTo>
                  <a:lnTo>
                    <a:pt x="0" y="0"/>
                  </a:lnTo>
                  <a:lnTo>
                    <a:pt x="5831837" y="0"/>
                  </a:lnTo>
                  <a:lnTo>
                    <a:pt x="5831837" y="4023741"/>
                  </a:lnTo>
                </a:path>
              </a:pathLst>
            </a:custGeom>
            <a:ln w="9525">
              <a:solidFill>
                <a:srgbClr val="92C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09804" y="1137030"/>
            <a:ext cx="11336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0520" algn="l"/>
                <a:tab pos="5825490" algn="l"/>
              </a:tabLst>
            </a:pPr>
            <a:r>
              <a:rPr sz="1800" b="1" dirty="0">
                <a:latin typeface="Calibri"/>
                <a:cs typeface="Calibri"/>
              </a:rPr>
              <a:t>Scientific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Literature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Foundational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Benchmarks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aseline="1543" dirty="0">
                <a:latin typeface="Wingdings"/>
                <a:cs typeface="Wingdings"/>
              </a:rPr>
              <a:t></a:t>
            </a:r>
            <a:r>
              <a:rPr sz="2700" spc="270" baseline="1543" dirty="0">
                <a:latin typeface="Times New Roman"/>
                <a:cs typeface="Times New Roman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Space</a:t>
            </a:r>
            <a:r>
              <a:rPr sz="2700" b="1" spc="-44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Agencies,</a:t>
            </a:r>
            <a:r>
              <a:rPr sz="2700" b="1" spc="-30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Satellite</a:t>
            </a:r>
            <a:r>
              <a:rPr sz="2700" b="1" spc="-30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Data</a:t>
            </a:r>
            <a:r>
              <a:rPr sz="2700" b="1" spc="-52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Feeds</a:t>
            </a:r>
            <a:r>
              <a:rPr sz="2700" b="1" spc="-82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&amp;</a:t>
            </a:r>
            <a:r>
              <a:rPr sz="2700" b="1" spc="-15" baseline="1543" dirty="0">
                <a:latin typeface="Calibri"/>
                <a:cs typeface="Calibri"/>
              </a:rPr>
              <a:t> </a:t>
            </a:r>
            <a:r>
              <a:rPr sz="2700" b="1" baseline="1543" dirty="0">
                <a:latin typeface="Calibri"/>
                <a:cs typeface="Calibri"/>
              </a:rPr>
              <a:t>Open</a:t>
            </a:r>
            <a:r>
              <a:rPr sz="2700" b="1" spc="-44" baseline="1543" dirty="0">
                <a:latin typeface="Calibri"/>
                <a:cs typeface="Calibri"/>
              </a:rPr>
              <a:t> </a:t>
            </a:r>
            <a:r>
              <a:rPr sz="2700" b="1" spc="-15" baseline="1543" dirty="0">
                <a:latin typeface="Calibri"/>
                <a:cs typeface="Calibri"/>
              </a:rPr>
              <a:t>Standards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1483" y="1987702"/>
            <a:ext cx="6985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300" i="1" spc="-50" dirty="0"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1521078"/>
            <a:ext cx="56476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sz="1400" b="1" dirty="0">
                <a:latin typeface="Calibri"/>
                <a:cs typeface="Calibri"/>
              </a:rPr>
              <a:t>RSVQA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Benchmark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(Visual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Question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Answering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over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Satellite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Imagery):</a:t>
            </a:r>
            <a:endParaRPr sz="1400">
              <a:latin typeface="Calibri"/>
              <a:cs typeface="Calibri"/>
            </a:endParaRPr>
          </a:p>
          <a:p>
            <a:pPr marL="279400">
              <a:lnSpc>
                <a:spcPct val="100000"/>
              </a:lnSpc>
              <a:tabLst>
                <a:tab pos="5532755" algn="l"/>
              </a:tabLst>
            </a:pPr>
            <a:r>
              <a:rPr sz="1300" i="1" dirty="0">
                <a:latin typeface="Calibri"/>
                <a:cs typeface="Calibri"/>
              </a:rPr>
              <a:t>Paper: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Lobry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al.,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"RSVQA: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Visual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Question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Answering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for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Remote</a:t>
            </a:r>
            <a:r>
              <a:rPr sz="1300" i="1" spc="-10" dirty="0">
                <a:latin typeface="Calibri"/>
                <a:cs typeface="Calibri"/>
              </a:rPr>
              <a:t> Sensing</a:t>
            </a:r>
            <a:r>
              <a:rPr sz="1300" i="1" dirty="0">
                <a:latin typeface="Calibri"/>
                <a:cs typeface="Calibri"/>
              </a:rPr>
              <a:t>	</a:t>
            </a: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  <a:p>
            <a:pPr marR="40005" algn="r">
              <a:lnSpc>
                <a:spcPct val="100000"/>
              </a:lnSpc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39" y="1987702"/>
            <a:ext cx="1016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300" i="1" spc="-50" dirty="0"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300" i="1" spc="-50" dirty="0"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247" y="1933778"/>
            <a:ext cx="46316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Calibri"/>
                <a:cs typeface="Calibri"/>
              </a:rPr>
              <a:t>Data"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IEEE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Transactions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Geoscience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Remote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Sensing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(TGRS).</a:t>
            </a:r>
            <a:endParaRPr sz="13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300" i="1" dirty="0">
                <a:latin typeface="Calibri"/>
                <a:cs typeface="Calibri"/>
              </a:rPr>
              <a:t>Link:</a:t>
            </a:r>
            <a:r>
              <a:rPr sz="1300" i="1" spc="-5" dirty="0">
                <a:latin typeface="Calibri"/>
                <a:cs typeface="Calibri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https://doi.org/10.1109/TGRS.2020.2988770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39" y="2795904"/>
            <a:ext cx="8953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300" i="1" spc="-50" dirty="0">
                <a:latin typeface="Calibri"/>
                <a:cs typeface="Calibri"/>
              </a:rPr>
              <a:t>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2329052"/>
            <a:ext cx="561911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3365" marR="5080" indent="-2413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53365" algn="l"/>
                <a:tab pos="299085" algn="l"/>
                <a:tab pos="5490210" algn="l"/>
              </a:tabLst>
            </a:pP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dirty="0">
                <a:latin typeface="Calibri"/>
                <a:cs typeface="Calibri"/>
              </a:rPr>
              <a:t>VRSBench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(CVPR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2024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Vision-</a:t>
            </a:r>
            <a:r>
              <a:rPr sz="1400" b="1" dirty="0">
                <a:latin typeface="Calibri"/>
                <a:cs typeface="Calibri"/>
              </a:rPr>
              <a:t>Language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Remote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Sensing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Benchmark): </a:t>
            </a:r>
            <a:r>
              <a:rPr sz="1300" i="1" dirty="0">
                <a:latin typeface="Calibri"/>
                <a:cs typeface="Calibri"/>
              </a:rPr>
              <a:t>Paper: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Chen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et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al.,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"VRSBench: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Versatile </a:t>
            </a:r>
            <a:r>
              <a:rPr sz="1300" i="1" spc="-10" dirty="0">
                <a:latin typeface="Calibri"/>
                <a:cs typeface="Calibri"/>
              </a:rPr>
              <a:t>Vision-</a:t>
            </a:r>
            <a:r>
              <a:rPr sz="1300" i="1" dirty="0">
                <a:latin typeface="Calibri"/>
                <a:cs typeface="Calibri"/>
              </a:rPr>
              <a:t>Language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Benchmark</a:t>
            </a:r>
            <a:r>
              <a:rPr sz="1300" i="1" spc="-40" dirty="0">
                <a:latin typeface="Calibri"/>
                <a:cs typeface="Calibri"/>
              </a:rPr>
              <a:t> </a:t>
            </a:r>
            <a:r>
              <a:rPr sz="1300" i="1" spc="-25" dirty="0">
                <a:latin typeface="Calibri"/>
                <a:cs typeface="Calibri"/>
              </a:rPr>
              <a:t>for</a:t>
            </a:r>
            <a:r>
              <a:rPr sz="1300" i="1" dirty="0">
                <a:latin typeface="Calibri"/>
                <a:cs typeface="Calibri"/>
              </a:rPr>
              <a:t>	</a:t>
            </a: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R </a:t>
            </a:r>
            <a:r>
              <a:rPr sz="1300" i="1" dirty="0">
                <a:latin typeface="Calibri"/>
                <a:cs typeface="Calibri"/>
              </a:rPr>
              <a:t>Remote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Sensing</a:t>
            </a:r>
            <a:r>
              <a:rPr sz="1300" i="1" spc="-5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Image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Understanding"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IEEE/CVF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CVPR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2024.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ts val="1560"/>
              </a:lnSpc>
            </a:pPr>
            <a:r>
              <a:rPr sz="1300" i="1" dirty="0">
                <a:latin typeface="Calibri"/>
                <a:cs typeface="Calibri"/>
              </a:rPr>
              <a:t>Link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/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Preprint:</a:t>
            </a:r>
            <a:r>
              <a:rPr sz="1300" i="1" spc="-5" dirty="0">
                <a:latin typeface="Calibri"/>
                <a:cs typeface="Calibri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https://arxiv.org/abs/2406.12450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80"/>
              </a:lnSpc>
              <a:buFont typeface="Wingdings"/>
              <a:buChar char=""/>
              <a:tabLst>
                <a:tab pos="299085" algn="l"/>
              </a:tabLst>
            </a:pPr>
            <a:r>
              <a:rPr sz="1400" b="1" spc="-10" dirty="0">
                <a:latin typeface="Calibri"/>
                <a:cs typeface="Calibri"/>
              </a:rPr>
              <a:t>LEVIR-</a:t>
            </a:r>
            <a:r>
              <a:rPr sz="1400" b="1" dirty="0">
                <a:latin typeface="Calibri"/>
                <a:cs typeface="Calibri"/>
              </a:rPr>
              <a:t>CD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CDVQA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(Bi-</a:t>
            </a:r>
            <a:r>
              <a:rPr sz="1400" b="1" dirty="0">
                <a:latin typeface="Calibri"/>
                <a:cs typeface="Calibri"/>
              </a:rPr>
              <a:t>Temporal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Siamese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Change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Detection):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300" i="1" dirty="0">
                <a:latin typeface="Calibri"/>
                <a:cs typeface="Calibri"/>
              </a:rPr>
              <a:t>Paper: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Chen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&amp;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Shi,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"A</a:t>
            </a:r>
            <a:r>
              <a:rPr sz="1300" i="1" spc="-10" dirty="0">
                <a:latin typeface="Calibri"/>
                <a:cs typeface="Calibri"/>
              </a:rPr>
              <a:t> Spatial-</a:t>
            </a:r>
            <a:r>
              <a:rPr sz="1300" i="1" dirty="0">
                <a:latin typeface="Calibri"/>
                <a:cs typeface="Calibri"/>
              </a:rPr>
              <a:t>Temporal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Attention-</a:t>
            </a:r>
            <a:r>
              <a:rPr sz="1300" i="1" dirty="0">
                <a:latin typeface="Calibri"/>
                <a:cs typeface="Calibri"/>
              </a:rPr>
              <a:t>Based</a:t>
            </a:r>
            <a:r>
              <a:rPr sz="1300" i="1" spc="-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Method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40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Dataset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39" y="3604005"/>
            <a:ext cx="508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3550158"/>
            <a:ext cx="447103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Calibri"/>
                <a:cs typeface="Calibri"/>
              </a:rPr>
              <a:t>for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Remote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Sensing</a:t>
            </a:r>
            <a:r>
              <a:rPr sz="1300" i="1" spc="-5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Image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Change</a:t>
            </a:r>
            <a:r>
              <a:rPr sz="1300" i="1" spc="-5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Detection"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Remote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Sensing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  <a:p>
            <a:pPr marL="203200">
              <a:lnSpc>
                <a:spcPts val="1560"/>
              </a:lnSpc>
            </a:pPr>
            <a:r>
              <a:rPr sz="1300" i="1" dirty="0">
                <a:latin typeface="Calibri"/>
                <a:cs typeface="Calibri"/>
              </a:rPr>
              <a:t>Link: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https://doi.org/10.3390/rs12101662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80"/>
              </a:lnSpc>
              <a:buFont typeface="Wingdings"/>
              <a:buChar char=""/>
              <a:tabLst>
                <a:tab pos="299085" algn="l"/>
              </a:tabLst>
            </a:pPr>
            <a:r>
              <a:rPr sz="1400" b="1" dirty="0">
                <a:latin typeface="Calibri"/>
                <a:cs typeface="Calibri"/>
              </a:rPr>
              <a:t>SEN12MS (Optical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+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Multi-</a:t>
            </a:r>
            <a:r>
              <a:rPr sz="1400" b="1" dirty="0">
                <a:latin typeface="Calibri"/>
                <a:cs typeface="Calibri"/>
              </a:rPr>
              <a:t>Modal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Fusion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Core):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24907" y="3604005"/>
            <a:ext cx="6921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300" i="1" spc="-5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9624" y="3550158"/>
            <a:ext cx="673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39" y="4411726"/>
            <a:ext cx="7493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39" y="5219700"/>
            <a:ext cx="749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300" i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39" y="4159758"/>
            <a:ext cx="5596255" cy="1427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0" marR="5080" indent="5715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Calibri"/>
                <a:cs typeface="Calibri"/>
              </a:rPr>
              <a:t>Paper: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Schmitt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al.,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"SEN12MS</a:t>
            </a:r>
            <a:r>
              <a:rPr sz="1300" i="1" spc="-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—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Curated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Dataset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of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Georeferenced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Multi-</a:t>
            </a:r>
            <a:r>
              <a:rPr sz="1300" i="1" dirty="0">
                <a:latin typeface="Calibri"/>
                <a:cs typeface="Calibri"/>
              </a:rPr>
              <a:t>Spectral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Sentinel-</a:t>
            </a:r>
            <a:r>
              <a:rPr sz="1300" i="1" dirty="0">
                <a:latin typeface="Calibri"/>
                <a:cs typeface="Calibri"/>
              </a:rPr>
              <a:t>1/2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Imagery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for Deep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Learning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Data</a:t>
            </a:r>
            <a:r>
              <a:rPr sz="1300" i="1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Fusion"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ISPRS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Annals. </a:t>
            </a:r>
            <a:r>
              <a:rPr sz="1300" i="1" dirty="0">
                <a:latin typeface="Calibri"/>
                <a:cs typeface="Calibri"/>
              </a:rPr>
              <a:t>Link:</a:t>
            </a:r>
            <a:r>
              <a:rPr sz="1300" i="1" spc="170" dirty="0">
                <a:latin typeface="Calibri"/>
                <a:cs typeface="Calibri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https://doi.org/10.5194/isprs-annals-IV-</a:t>
            </a:r>
            <a:r>
              <a:rPr sz="1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2-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W7-153-</a:t>
            </a:r>
            <a:r>
              <a:rPr sz="13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2019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75"/>
              </a:lnSpc>
              <a:buFont typeface="Wingdings"/>
              <a:buChar char=""/>
              <a:tabLst>
                <a:tab pos="299085" algn="l"/>
              </a:tabLst>
            </a:pPr>
            <a:r>
              <a:rPr sz="1400" b="1" spc="-10" dirty="0">
                <a:latin typeface="Calibri"/>
                <a:cs typeface="Calibri"/>
              </a:rPr>
              <a:t>BigEarthNet-</a:t>
            </a:r>
            <a:r>
              <a:rPr sz="1400" b="1" dirty="0">
                <a:latin typeface="Calibri"/>
                <a:cs typeface="Calibri"/>
              </a:rPr>
              <a:t>S2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(19-</a:t>
            </a:r>
            <a:r>
              <a:rPr sz="1400" b="1" dirty="0">
                <a:latin typeface="Calibri"/>
                <a:cs typeface="Calibri"/>
              </a:rPr>
              <a:t>Class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CORINE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Land-Cover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Taxonomy):</a:t>
            </a:r>
            <a:endParaRPr sz="140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300" i="1" dirty="0">
                <a:latin typeface="Calibri"/>
                <a:cs typeface="Calibri"/>
              </a:rPr>
              <a:t>Paper: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Sumbul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al.,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"BigEarthNet: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Large-</a:t>
            </a:r>
            <a:r>
              <a:rPr sz="1300" i="1" dirty="0">
                <a:latin typeface="Calibri"/>
                <a:cs typeface="Calibri"/>
              </a:rPr>
              <a:t>Scale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Benchmark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Archive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for</a:t>
            </a:r>
            <a:r>
              <a:rPr sz="1300" i="1" spc="-10" dirty="0">
                <a:latin typeface="Calibri"/>
                <a:cs typeface="Calibri"/>
              </a:rPr>
              <a:t> Remote</a:t>
            </a:r>
            <a:endParaRPr sz="1300">
              <a:latin typeface="Calibri"/>
              <a:cs typeface="Calibri"/>
            </a:endParaRPr>
          </a:p>
          <a:p>
            <a:pPr marL="163195">
              <a:lnSpc>
                <a:spcPct val="100000"/>
              </a:lnSpc>
            </a:pPr>
            <a:r>
              <a:rPr sz="1300" i="1" dirty="0">
                <a:latin typeface="Calibri"/>
                <a:cs typeface="Calibri"/>
              </a:rPr>
              <a:t>Sensing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Image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Understanding"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IEEE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IGARSS.</a:t>
            </a:r>
            <a:endParaRPr sz="130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</a:pPr>
            <a:r>
              <a:rPr sz="1300" i="1" dirty="0">
                <a:latin typeface="Calibri"/>
                <a:cs typeface="Calibri"/>
              </a:rPr>
              <a:t>Official</a:t>
            </a:r>
            <a:r>
              <a:rPr sz="1300" i="1" spc="-4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Portal: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https://bigearth.net/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56" y="1767649"/>
            <a:ext cx="5749290" cy="3804920"/>
            <a:chOff x="4256" y="1767649"/>
            <a:chExt cx="5749290" cy="3804920"/>
          </a:xfrm>
        </p:grpSpPr>
        <p:sp>
          <p:nvSpPr>
            <p:cNvPr id="37" name="object 37"/>
            <p:cNvSpPr/>
            <p:nvPr/>
          </p:nvSpPr>
          <p:spPr>
            <a:xfrm>
              <a:off x="5523611" y="1772411"/>
              <a:ext cx="224790" cy="2045335"/>
            </a:xfrm>
            <a:custGeom>
              <a:avLst/>
              <a:gdLst/>
              <a:ahLst/>
              <a:cxnLst/>
              <a:rect l="l" t="t" r="r" b="b"/>
              <a:pathLst>
                <a:path w="224789" h="2045335">
                  <a:moveTo>
                    <a:pt x="224662" y="0"/>
                  </a:moveTo>
                  <a:lnTo>
                    <a:pt x="56134" y="0"/>
                  </a:lnTo>
                  <a:lnTo>
                    <a:pt x="0" y="2044827"/>
                  </a:lnTo>
                  <a:lnTo>
                    <a:pt x="168528" y="2044827"/>
                  </a:lnTo>
                  <a:lnTo>
                    <a:pt x="224662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23611" y="1772411"/>
              <a:ext cx="224790" cy="2045335"/>
            </a:xfrm>
            <a:custGeom>
              <a:avLst/>
              <a:gdLst/>
              <a:ahLst/>
              <a:cxnLst/>
              <a:rect l="l" t="t" r="r" b="b"/>
              <a:pathLst>
                <a:path w="224789" h="2045335">
                  <a:moveTo>
                    <a:pt x="0" y="2044827"/>
                  </a:moveTo>
                  <a:lnTo>
                    <a:pt x="56134" y="0"/>
                  </a:lnTo>
                  <a:lnTo>
                    <a:pt x="224662" y="0"/>
                  </a:lnTo>
                  <a:lnTo>
                    <a:pt x="168528" y="2044827"/>
                  </a:lnTo>
                  <a:lnTo>
                    <a:pt x="0" y="2044827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49519" y="1960918"/>
              <a:ext cx="415925" cy="188595"/>
            </a:xfrm>
            <a:custGeom>
              <a:avLst/>
              <a:gdLst/>
              <a:ahLst/>
              <a:cxnLst/>
              <a:rect l="l" t="t" r="r" b="b"/>
              <a:pathLst>
                <a:path w="415925" h="188594">
                  <a:moveTo>
                    <a:pt x="415416" y="0"/>
                  </a:moveTo>
                  <a:lnTo>
                    <a:pt x="0" y="0"/>
                  </a:lnTo>
                  <a:lnTo>
                    <a:pt x="0" y="188048"/>
                  </a:lnTo>
                  <a:lnTo>
                    <a:pt x="415416" y="188048"/>
                  </a:lnTo>
                  <a:lnTo>
                    <a:pt x="415416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49519" y="1960918"/>
              <a:ext cx="415925" cy="188595"/>
            </a:xfrm>
            <a:custGeom>
              <a:avLst/>
              <a:gdLst/>
              <a:ahLst/>
              <a:cxnLst/>
              <a:rect l="l" t="t" r="r" b="b"/>
              <a:pathLst>
                <a:path w="415925" h="188594">
                  <a:moveTo>
                    <a:pt x="0" y="188048"/>
                  </a:moveTo>
                  <a:lnTo>
                    <a:pt x="415416" y="188048"/>
                  </a:lnTo>
                  <a:lnTo>
                    <a:pt x="415416" y="0"/>
                  </a:lnTo>
                  <a:lnTo>
                    <a:pt x="0" y="0"/>
                  </a:lnTo>
                  <a:lnTo>
                    <a:pt x="0" y="188048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49519" y="3535590"/>
              <a:ext cx="415925" cy="188595"/>
            </a:xfrm>
            <a:custGeom>
              <a:avLst/>
              <a:gdLst/>
              <a:ahLst/>
              <a:cxnLst/>
              <a:rect l="l" t="t" r="r" b="b"/>
              <a:pathLst>
                <a:path w="415925" h="188595">
                  <a:moveTo>
                    <a:pt x="415416" y="0"/>
                  </a:moveTo>
                  <a:lnTo>
                    <a:pt x="0" y="0"/>
                  </a:lnTo>
                  <a:lnTo>
                    <a:pt x="0" y="188048"/>
                  </a:lnTo>
                  <a:lnTo>
                    <a:pt x="415416" y="188048"/>
                  </a:lnTo>
                  <a:lnTo>
                    <a:pt x="415416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49519" y="3535590"/>
              <a:ext cx="415925" cy="188595"/>
            </a:xfrm>
            <a:custGeom>
              <a:avLst/>
              <a:gdLst/>
              <a:ahLst/>
              <a:cxnLst/>
              <a:rect l="l" t="t" r="r" b="b"/>
              <a:pathLst>
                <a:path w="415925" h="188595">
                  <a:moveTo>
                    <a:pt x="0" y="188048"/>
                  </a:moveTo>
                  <a:lnTo>
                    <a:pt x="415416" y="188048"/>
                  </a:lnTo>
                  <a:lnTo>
                    <a:pt x="415416" y="0"/>
                  </a:lnTo>
                  <a:lnTo>
                    <a:pt x="0" y="0"/>
                  </a:lnTo>
                  <a:lnTo>
                    <a:pt x="0" y="188048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19" y="1859279"/>
              <a:ext cx="224790" cy="436880"/>
            </a:xfrm>
            <a:custGeom>
              <a:avLst/>
              <a:gdLst/>
              <a:ahLst/>
              <a:cxnLst/>
              <a:rect l="l" t="t" r="r" b="b"/>
              <a:pathLst>
                <a:path w="224790" h="436880">
                  <a:moveTo>
                    <a:pt x="224663" y="0"/>
                  </a:moveTo>
                  <a:lnTo>
                    <a:pt x="0" y="0"/>
                  </a:lnTo>
                  <a:lnTo>
                    <a:pt x="0" y="436879"/>
                  </a:lnTo>
                  <a:lnTo>
                    <a:pt x="224663" y="436879"/>
                  </a:lnTo>
                  <a:lnTo>
                    <a:pt x="224663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19" y="1859279"/>
              <a:ext cx="224790" cy="436880"/>
            </a:xfrm>
            <a:custGeom>
              <a:avLst/>
              <a:gdLst/>
              <a:ahLst/>
              <a:cxnLst/>
              <a:rect l="l" t="t" r="r" b="b"/>
              <a:pathLst>
                <a:path w="224790" h="436880">
                  <a:moveTo>
                    <a:pt x="0" y="436879"/>
                  </a:moveTo>
                  <a:lnTo>
                    <a:pt x="224663" y="436879"/>
                  </a:lnTo>
                  <a:lnTo>
                    <a:pt x="224663" y="0"/>
                  </a:lnTo>
                  <a:lnTo>
                    <a:pt x="0" y="0"/>
                  </a:lnTo>
                  <a:lnTo>
                    <a:pt x="0" y="436879"/>
                  </a:lnTo>
                  <a:close/>
                </a:path>
              </a:pathLst>
            </a:custGeom>
            <a:ln w="9524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940" y="4318000"/>
              <a:ext cx="131445" cy="436880"/>
            </a:xfrm>
            <a:custGeom>
              <a:avLst/>
              <a:gdLst/>
              <a:ahLst/>
              <a:cxnLst/>
              <a:rect l="l" t="t" r="r" b="b"/>
              <a:pathLst>
                <a:path w="131445" h="436879">
                  <a:moveTo>
                    <a:pt x="130937" y="0"/>
                  </a:moveTo>
                  <a:lnTo>
                    <a:pt x="0" y="0"/>
                  </a:lnTo>
                  <a:lnTo>
                    <a:pt x="0" y="436880"/>
                  </a:lnTo>
                  <a:lnTo>
                    <a:pt x="130937" y="436880"/>
                  </a:lnTo>
                  <a:lnTo>
                    <a:pt x="130937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940" y="4318000"/>
              <a:ext cx="131445" cy="436880"/>
            </a:xfrm>
            <a:custGeom>
              <a:avLst/>
              <a:gdLst/>
              <a:ahLst/>
              <a:cxnLst/>
              <a:rect l="l" t="t" r="r" b="b"/>
              <a:pathLst>
                <a:path w="131445" h="436879">
                  <a:moveTo>
                    <a:pt x="0" y="436880"/>
                  </a:moveTo>
                  <a:lnTo>
                    <a:pt x="130937" y="436880"/>
                  </a:lnTo>
                  <a:lnTo>
                    <a:pt x="130937" y="0"/>
                  </a:lnTo>
                  <a:lnTo>
                    <a:pt x="0" y="0"/>
                  </a:lnTo>
                  <a:lnTo>
                    <a:pt x="0" y="436880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940" y="2611107"/>
              <a:ext cx="182245" cy="470534"/>
            </a:xfrm>
            <a:custGeom>
              <a:avLst/>
              <a:gdLst/>
              <a:ahLst/>
              <a:cxnLst/>
              <a:rect l="l" t="t" r="r" b="b"/>
              <a:pathLst>
                <a:path w="182245" h="470535">
                  <a:moveTo>
                    <a:pt x="181736" y="0"/>
                  </a:moveTo>
                  <a:lnTo>
                    <a:pt x="0" y="0"/>
                  </a:lnTo>
                  <a:lnTo>
                    <a:pt x="0" y="470293"/>
                  </a:lnTo>
                  <a:lnTo>
                    <a:pt x="181736" y="470293"/>
                  </a:lnTo>
                  <a:lnTo>
                    <a:pt x="181736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940" y="2611107"/>
              <a:ext cx="182245" cy="470534"/>
            </a:xfrm>
            <a:custGeom>
              <a:avLst/>
              <a:gdLst/>
              <a:ahLst/>
              <a:cxnLst/>
              <a:rect l="l" t="t" r="r" b="b"/>
              <a:pathLst>
                <a:path w="182245" h="470535">
                  <a:moveTo>
                    <a:pt x="0" y="470293"/>
                  </a:moveTo>
                  <a:lnTo>
                    <a:pt x="181736" y="470293"/>
                  </a:lnTo>
                  <a:lnTo>
                    <a:pt x="181736" y="0"/>
                  </a:lnTo>
                  <a:lnTo>
                    <a:pt x="0" y="0"/>
                  </a:lnTo>
                  <a:lnTo>
                    <a:pt x="0" y="470293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940" y="5130800"/>
              <a:ext cx="131445" cy="436880"/>
            </a:xfrm>
            <a:custGeom>
              <a:avLst/>
              <a:gdLst/>
              <a:ahLst/>
              <a:cxnLst/>
              <a:rect l="l" t="t" r="r" b="b"/>
              <a:pathLst>
                <a:path w="131445" h="436879">
                  <a:moveTo>
                    <a:pt x="130937" y="0"/>
                  </a:moveTo>
                  <a:lnTo>
                    <a:pt x="0" y="0"/>
                  </a:lnTo>
                  <a:lnTo>
                    <a:pt x="0" y="436880"/>
                  </a:lnTo>
                  <a:lnTo>
                    <a:pt x="130937" y="436880"/>
                  </a:lnTo>
                  <a:lnTo>
                    <a:pt x="130937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940" y="5130800"/>
              <a:ext cx="131445" cy="436880"/>
            </a:xfrm>
            <a:custGeom>
              <a:avLst/>
              <a:gdLst/>
              <a:ahLst/>
              <a:cxnLst/>
              <a:rect l="l" t="t" r="r" b="b"/>
              <a:pathLst>
                <a:path w="131445" h="436879">
                  <a:moveTo>
                    <a:pt x="0" y="436880"/>
                  </a:moveTo>
                  <a:lnTo>
                    <a:pt x="130937" y="436880"/>
                  </a:lnTo>
                  <a:lnTo>
                    <a:pt x="130937" y="0"/>
                  </a:lnTo>
                  <a:lnTo>
                    <a:pt x="0" y="0"/>
                  </a:lnTo>
                  <a:lnTo>
                    <a:pt x="0" y="436880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940" y="3616972"/>
              <a:ext cx="131445" cy="160020"/>
            </a:xfrm>
            <a:custGeom>
              <a:avLst/>
              <a:gdLst/>
              <a:ahLst/>
              <a:cxnLst/>
              <a:rect l="l" t="t" r="r" b="b"/>
              <a:pathLst>
                <a:path w="131445" h="160020">
                  <a:moveTo>
                    <a:pt x="130937" y="0"/>
                  </a:moveTo>
                  <a:lnTo>
                    <a:pt x="0" y="0"/>
                  </a:lnTo>
                  <a:lnTo>
                    <a:pt x="0" y="159626"/>
                  </a:lnTo>
                  <a:lnTo>
                    <a:pt x="130937" y="159626"/>
                  </a:lnTo>
                  <a:lnTo>
                    <a:pt x="130937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940" y="3616972"/>
              <a:ext cx="131445" cy="160020"/>
            </a:xfrm>
            <a:custGeom>
              <a:avLst/>
              <a:gdLst/>
              <a:ahLst/>
              <a:cxnLst/>
              <a:rect l="l" t="t" r="r" b="b"/>
              <a:pathLst>
                <a:path w="131445" h="160020">
                  <a:moveTo>
                    <a:pt x="0" y="159626"/>
                  </a:moveTo>
                  <a:lnTo>
                    <a:pt x="130937" y="159626"/>
                  </a:lnTo>
                  <a:lnTo>
                    <a:pt x="130937" y="0"/>
                  </a:lnTo>
                  <a:lnTo>
                    <a:pt x="0" y="0"/>
                  </a:lnTo>
                  <a:lnTo>
                    <a:pt x="0" y="159626"/>
                  </a:lnTo>
                  <a:close/>
                </a:path>
              </a:pathLst>
            </a:custGeom>
            <a:ln w="952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/>
              <a:t>ISRO</a:t>
            </a:r>
            <a:r>
              <a:rPr spc="-15" dirty="0"/>
              <a:t> </a:t>
            </a:r>
            <a:r>
              <a:rPr dirty="0"/>
              <a:t>Bhuvan</a:t>
            </a:r>
            <a:r>
              <a:rPr spc="-4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MOSDAC</a:t>
            </a:r>
            <a:r>
              <a:rPr spc="-5" dirty="0"/>
              <a:t> </a:t>
            </a:r>
            <a:r>
              <a:rPr dirty="0"/>
              <a:t>(National</a:t>
            </a:r>
            <a:r>
              <a:rPr spc="-35" dirty="0"/>
              <a:t> </a:t>
            </a:r>
            <a:r>
              <a:rPr dirty="0"/>
              <a:t>Remote</a:t>
            </a:r>
            <a:r>
              <a:rPr spc="-45" dirty="0"/>
              <a:t> </a:t>
            </a:r>
            <a:r>
              <a:rPr dirty="0"/>
              <a:t>Sensing</a:t>
            </a:r>
            <a:r>
              <a:rPr spc="-35" dirty="0"/>
              <a:t> </a:t>
            </a:r>
            <a:r>
              <a:rPr dirty="0"/>
              <a:t>Centre</a:t>
            </a:r>
            <a:r>
              <a:rPr spc="-50" dirty="0"/>
              <a:t> </a:t>
            </a:r>
            <a:r>
              <a:rPr dirty="0"/>
              <a:t>/</a:t>
            </a:r>
            <a:r>
              <a:rPr spc="-15" dirty="0"/>
              <a:t> </a:t>
            </a:r>
            <a:r>
              <a:rPr spc="-10" dirty="0"/>
              <a:t>SAC):</a:t>
            </a:r>
          </a:p>
          <a:p>
            <a:pPr marL="469900">
              <a:lnSpc>
                <a:spcPct val="100000"/>
              </a:lnSpc>
            </a:pPr>
            <a:r>
              <a:rPr sz="1300" b="0" i="1" dirty="0">
                <a:latin typeface="Calibri"/>
                <a:cs typeface="Calibri"/>
              </a:rPr>
              <a:t>Data:</a:t>
            </a:r>
            <a:r>
              <a:rPr sz="1300" b="0" i="1" spc="-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ISRO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Cartosat-</a:t>
            </a:r>
            <a:r>
              <a:rPr sz="1300" b="0" dirty="0">
                <a:latin typeface="Calibri"/>
                <a:cs typeface="Calibri"/>
              </a:rPr>
              <a:t>2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high-</a:t>
            </a:r>
            <a:r>
              <a:rPr sz="1300" b="0" dirty="0">
                <a:latin typeface="Calibri"/>
                <a:cs typeface="Calibri"/>
              </a:rPr>
              <a:t>resolution</a:t>
            </a:r>
            <a:r>
              <a:rPr sz="1300" b="0" spc="3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optical and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RISAT-</a:t>
            </a:r>
            <a:r>
              <a:rPr sz="1300" b="0" dirty="0">
                <a:latin typeface="Calibri"/>
                <a:cs typeface="Calibri"/>
              </a:rPr>
              <a:t>1A</a:t>
            </a:r>
            <a:r>
              <a:rPr sz="1300" b="0" spc="-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C-</a:t>
            </a:r>
            <a:r>
              <a:rPr sz="1300" b="0" dirty="0">
                <a:latin typeface="Calibri"/>
                <a:cs typeface="Calibri"/>
              </a:rPr>
              <a:t>band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microwave</a:t>
            </a:r>
            <a:endParaRPr sz="13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300" b="0" dirty="0">
                <a:latin typeface="Calibri"/>
                <a:cs typeface="Calibri"/>
              </a:rPr>
              <a:t>radar</a:t>
            </a:r>
            <a:r>
              <a:rPr sz="1300" b="0" spc="-5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processing</a:t>
            </a:r>
            <a:r>
              <a:rPr sz="1300" b="0" spc="-2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protocols.</a:t>
            </a:r>
            <a:endParaRPr sz="1300">
              <a:latin typeface="Calibri"/>
              <a:cs typeface="Calibri"/>
            </a:endParaRPr>
          </a:p>
          <a:p>
            <a:pPr marL="469900">
              <a:lnSpc>
                <a:spcPts val="1560"/>
              </a:lnSpc>
              <a:spcBef>
                <a:spcPts val="5"/>
              </a:spcBef>
            </a:pPr>
            <a:r>
              <a:rPr sz="1300" b="0" i="1" dirty="0">
                <a:latin typeface="Calibri"/>
                <a:cs typeface="Calibri"/>
              </a:rPr>
              <a:t>Portal</a:t>
            </a:r>
            <a:r>
              <a:rPr sz="1300" b="0" i="1" spc="15" dirty="0">
                <a:latin typeface="Calibri"/>
                <a:cs typeface="Calibri"/>
              </a:rPr>
              <a:t> </a:t>
            </a:r>
            <a:r>
              <a:rPr sz="1300" b="0" i="1" dirty="0">
                <a:latin typeface="Calibri"/>
                <a:cs typeface="Calibri"/>
              </a:rPr>
              <a:t>Links:</a:t>
            </a:r>
            <a:r>
              <a:rPr sz="1300" b="0" i="1" spc="-5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/>
              </a:rPr>
              <a:t>https://bhuvan.nrsc.gov.in</a:t>
            </a:r>
            <a:r>
              <a:rPr sz="1300" b="0" spc="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•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/>
              </a:rPr>
              <a:t>https://www.mosdac.gov.in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8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/>
              <a:t>ESA</a:t>
            </a:r>
            <a:r>
              <a:rPr spc="-20" dirty="0"/>
              <a:t> </a:t>
            </a:r>
            <a:r>
              <a:rPr dirty="0"/>
              <a:t>Copernicus</a:t>
            </a:r>
            <a:r>
              <a:rPr spc="-50" dirty="0"/>
              <a:t> </a:t>
            </a:r>
            <a:r>
              <a:rPr dirty="0"/>
              <a:t>Open</a:t>
            </a:r>
            <a:r>
              <a:rPr spc="-45" dirty="0"/>
              <a:t> </a:t>
            </a:r>
            <a:r>
              <a:rPr dirty="0"/>
              <a:t>Access</a:t>
            </a:r>
            <a:r>
              <a:rPr spc="-3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spc="-10" dirty="0"/>
              <a:t>Space:</a:t>
            </a:r>
          </a:p>
          <a:p>
            <a:pPr marL="469900" marR="127000">
              <a:lnSpc>
                <a:spcPct val="100000"/>
              </a:lnSpc>
            </a:pPr>
            <a:r>
              <a:rPr sz="1300" b="0" i="1" dirty="0">
                <a:latin typeface="Calibri"/>
                <a:cs typeface="Calibri"/>
              </a:rPr>
              <a:t>Data:</a:t>
            </a:r>
            <a:r>
              <a:rPr sz="1300" b="0" i="1" spc="-1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Sentinel-</a:t>
            </a:r>
            <a:r>
              <a:rPr sz="1300" b="0" dirty="0">
                <a:latin typeface="Calibri"/>
                <a:cs typeface="Calibri"/>
              </a:rPr>
              <a:t>2</a:t>
            </a:r>
            <a:r>
              <a:rPr sz="1300" b="0" spc="1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MSI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Level-</a:t>
            </a:r>
            <a:r>
              <a:rPr sz="1300" b="0" dirty="0">
                <a:latin typeface="Calibri"/>
                <a:cs typeface="Calibri"/>
              </a:rPr>
              <a:t>2A</a:t>
            </a:r>
            <a:r>
              <a:rPr sz="1300" b="0" spc="10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Bottom-of-</a:t>
            </a:r>
            <a:r>
              <a:rPr sz="1300" b="0" dirty="0">
                <a:latin typeface="Calibri"/>
                <a:cs typeface="Calibri"/>
              </a:rPr>
              <a:t>Atmosphere</a:t>
            </a:r>
            <a:r>
              <a:rPr sz="1300" b="0" spc="4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(BOA)</a:t>
            </a:r>
            <a:r>
              <a:rPr sz="1300" b="0" spc="-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reflectance </a:t>
            </a:r>
            <a:r>
              <a:rPr sz="1300" b="0" spc="-25" dirty="0">
                <a:latin typeface="Calibri"/>
                <a:cs typeface="Calibri"/>
              </a:rPr>
              <a:t>and </a:t>
            </a:r>
            <a:r>
              <a:rPr sz="1300" b="0" spc="-10" dirty="0">
                <a:latin typeface="Calibri"/>
                <a:cs typeface="Calibri"/>
              </a:rPr>
              <a:t>Sentinel-</a:t>
            </a:r>
            <a:r>
              <a:rPr sz="1300" b="0" dirty="0">
                <a:latin typeface="Calibri"/>
                <a:cs typeface="Calibri"/>
              </a:rPr>
              <a:t>1</a:t>
            </a:r>
            <a:r>
              <a:rPr sz="1300" b="0" spc="2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C-</a:t>
            </a:r>
            <a:r>
              <a:rPr sz="1300" b="0" dirty="0">
                <a:latin typeface="Calibri"/>
                <a:cs typeface="Calibri"/>
              </a:rPr>
              <a:t>band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SAR</a:t>
            </a:r>
            <a:r>
              <a:rPr sz="1300" b="0" spc="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radar </a:t>
            </a:r>
            <a:r>
              <a:rPr sz="1300" b="0" spc="-10" dirty="0">
                <a:latin typeface="Calibri"/>
                <a:cs typeface="Calibri"/>
              </a:rPr>
              <a:t>feeds.</a:t>
            </a:r>
            <a:endParaRPr sz="1300">
              <a:latin typeface="Calibri"/>
              <a:cs typeface="Calibri"/>
            </a:endParaRPr>
          </a:p>
          <a:p>
            <a:pPr marL="469900">
              <a:lnSpc>
                <a:spcPts val="1560"/>
              </a:lnSpc>
              <a:spcBef>
                <a:spcPts val="5"/>
              </a:spcBef>
            </a:pPr>
            <a:r>
              <a:rPr sz="1300" b="0" i="1" dirty="0">
                <a:latin typeface="Calibri"/>
                <a:cs typeface="Calibri"/>
              </a:rPr>
              <a:t>Portal</a:t>
            </a:r>
            <a:r>
              <a:rPr sz="1300" b="0" i="1" spc="-15" dirty="0">
                <a:latin typeface="Calibri"/>
                <a:cs typeface="Calibri"/>
              </a:rPr>
              <a:t> </a:t>
            </a:r>
            <a:r>
              <a:rPr sz="1300" b="0" i="1" dirty="0">
                <a:latin typeface="Calibri"/>
                <a:cs typeface="Calibri"/>
              </a:rPr>
              <a:t>Link:</a:t>
            </a:r>
            <a:r>
              <a:rPr sz="1300" b="0" i="1" spc="-20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/>
              </a:rPr>
              <a:t>https://dataspace.copernicus.eu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8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/>
              <a:t>USGS</a:t>
            </a:r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dirty="0"/>
              <a:t>NASA</a:t>
            </a:r>
            <a:r>
              <a:rPr spc="-15" dirty="0"/>
              <a:t> </a:t>
            </a:r>
            <a:r>
              <a:rPr dirty="0"/>
              <a:t>Landsat</a:t>
            </a:r>
            <a:r>
              <a:rPr spc="-25" dirty="0"/>
              <a:t> </a:t>
            </a:r>
            <a:r>
              <a:rPr spc="-10" dirty="0"/>
              <a:t>Archives:</a:t>
            </a:r>
          </a:p>
          <a:p>
            <a:pPr marL="469900">
              <a:lnSpc>
                <a:spcPct val="100000"/>
              </a:lnSpc>
            </a:pPr>
            <a:r>
              <a:rPr sz="1300" b="0" i="1" dirty="0">
                <a:latin typeface="Calibri"/>
                <a:cs typeface="Calibri"/>
              </a:rPr>
              <a:t>Data:</a:t>
            </a:r>
            <a:r>
              <a:rPr sz="1300" b="0" i="1" spc="-3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Landsat-</a:t>
            </a:r>
            <a:r>
              <a:rPr sz="1300" b="0" dirty="0">
                <a:latin typeface="Calibri"/>
                <a:cs typeface="Calibri"/>
              </a:rPr>
              <a:t>8/9</a:t>
            </a:r>
            <a:r>
              <a:rPr sz="1300" b="0" spc="1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Surface</a:t>
            </a:r>
            <a:r>
              <a:rPr sz="1300" b="0" spc="-3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Reflectance </a:t>
            </a:r>
            <a:r>
              <a:rPr sz="1300" b="0" spc="-10" dirty="0">
                <a:latin typeface="Calibri"/>
                <a:cs typeface="Calibri"/>
              </a:rPr>
              <a:t>10-</a:t>
            </a:r>
            <a:r>
              <a:rPr sz="1300" b="0" dirty="0">
                <a:latin typeface="Calibri"/>
                <a:cs typeface="Calibri"/>
              </a:rPr>
              <a:t>year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historical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baseline</a:t>
            </a:r>
            <a:r>
              <a:rPr sz="1300" b="0" spc="-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archives.</a:t>
            </a:r>
            <a:endParaRPr sz="1300">
              <a:latin typeface="Calibri"/>
              <a:cs typeface="Calibri"/>
            </a:endParaRPr>
          </a:p>
          <a:p>
            <a:pPr marL="469900">
              <a:lnSpc>
                <a:spcPts val="1560"/>
              </a:lnSpc>
              <a:spcBef>
                <a:spcPts val="5"/>
              </a:spcBef>
            </a:pPr>
            <a:r>
              <a:rPr sz="1300" b="0" i="1" dirty="0">
                <a:latin typeface="Calibri"/>
                <a:cs typeface="Calibri"/>
              </a:rPr>
              <a:t>Portal</a:t>
            </a:r>
            <a:r>
              <a:rPr sz="1300" b="0" i="1" spc="-15" dirty="0">
                <a:latin typeface="Calibri"/>
                <a:cs typeface="Calibri"/>
              </a:rPr>
              <a:t> </a:t>
            </a:r>
            <a:r>
              <a:rPr sz="1300" b="0" i="1" dirty="0">
                <a:latin typeface="Calibri"/>
                <a:cs typeface="Calibri"/>
              </a:rPr>
              <a:t>Link:</a:t>
            </a:r>
            <a:r>
              <a:rPr sz="1300" b="0" i="1" spc="-20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/>
              </a:rPr>
              <a:t>https://earthexplorer.usgs.gov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ts val="168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/>
              <a:t>OGC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STAC</a:t>
            </a:r>
            <a:r>
              <a:rPr spc="-30" dirty="0"/>
              <a:t> </a:t>
            </a:r>
            <a:r>
              <a:rPr dirty="0"/>
              <a:t>Open</a:t>
            </a:r>
            <a:r>
              <a:rPr spc="-35" dirty="0"/>
              <a:t> </a:t>
            </a:r>
            <a:r>
              <a:rPr dirty="0"/>
              <a:t>Geospatial</a:t>
            </a:r>
            <a:r>
              <a:rPr spc="-50" dirty="0"/>
              <a:t> </a:t>
            </a:r>
            <a:r>
              <a:rPr spc="-10" dirty="0"/>
              <a:t>Specifications:</a:t>
            </a:r>
          </a:p>
          <a:p>
            <a:pPr marL="469900" marR="257810">
              <a:lnSpc>
                <a:spcPct val="100000"/>
              </a:lnSpc>
              <a:spcBef>
                <a:spcPts val="5"/>
              </a:spcBef>
            </a:pPr>
            <a:r>
              <a:rPr sz="1300" b="0" i="1" dirty="0">
                <a:latin typeface="Calibri"/>
                <a:cs typeface="Calibri"/>
              </a:rPr>
              <a:t>Standards:</a:t>
            </a:r>
            <a:r>
              <a:rPr sz="1300" b="0" i="1" spc="-7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Cloud-</a:t>
            </a:r>
            <a:r>
              <a:rPr sz="1300" b="0" dirty="0">
                <a:latin typeface="Calibri"/>
                <a:cs typeface="Calibri"/>
              </a:rPr>
              <a:t>Optimized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GeoTIFF</a:t>
            </a:r>
            <a:r>
              <a:rPr sz="1300" b="0" spc="-3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(COG),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SpatioTemporal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Asset</a:t>
            </a:r>
            <a:r>
              <a:rPr sz="1300" b="0" spc="-25" dirty="0">
                <a:latin typeface="Calibri"/>
                <a:cs typeface="Calibri"/>
              </a:rPr>
              <a:t> </a:t>
            </a:r>
            <a:r>
              <a:rPr sz="1300" b="0" spc="-10" dirty="0">
                <a:latin typeface="Calibri"/>
                <a:cs typeface="Calibri"/>
              </a:rPr>
              <a:t>Catalog </a:t>
            </a:r>
            <a:r>
              <a:rPr sz="1300" b="0" dirty="0">
                <a:latin typeface="Calibri"/>
                <a:cs typeface="Calibri"/>
              </a:rPr>
              <a:t>(STAC),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and</a:t>
            </a:r>
            <a:r>
              <a:rPr sz="1300" b="0" spc="-3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Tile</a:t>
            </a:r>
            <a:r>
              <a:rPr sz="1300" b="0" spc="-2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Map</a:t>
            </a:r>
            <a:r>
              <a:rPr sz="1300" b="0" spc="-15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Service</a:t>
            </a:r>
            <a:r>
              <a:rPr sz="1300" b="0" spc="-40" dirty="0"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(TMS)</a:t>
            </a:r>
            <a:r>
              <a:rPr sz="1300" b="0" spc="-10" dirty="0">
                <a:latin typeface="Calibri"/>
                <a:cs typeface="Calibri"/>
              </a:rPr>
              <a:t> specifications.</a:t>
            </a:r>
            <a:endParaRPr sz="13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300" b="0" i="1" dirty="0">
                <a:latin typeface="Calibri"/>
                <a:cs typeface="Calibri"/>
              </a:rPr>
              <a:t>Links:</a:t>
            </a:r>
            <a:r>
              <a:rPr sz="1300" b="0" i="1" spc="25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/>
              </a:rPr>
              <a:t>https://www.cogeo.org</a:t>
            </a:r>
            <a:r>
              <a:rPr sz="1300" b="0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00" b="0" dirty="0">
                <a:latin typeface="Calibri"/>
                <a:cs typeface="Calibri"/>
              </a:rPr>
              <a:t>•</a:t>
            </a:r>
            <a:r>
              <a:rPr sz="1300" b="0" spc="45" dirty="0">
                <a:latin typeface="Calibri"/>
                <a:cs typeface="Calibri"/>
              </a:rPr>
              <a:t> </a:t>
            </a:r>
            <a:r>
              <a:rPr sz="13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/>
              </a:rPr>
              <a:t>https://stacspec.org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2021</Words>
  <Application>Microsoft Office PowerPoint</Application>
  <PresentationFormat>Widescreen</PresentationFormat>
  <Paragraphs>263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MS PGothic</vt:lpstr>
      <vt:lpstr>Arial</vt:lpstr>
      <vt:lpstr>Arial MT</vt:lpstr>
      <vt:lpstr>Calibri</vt:lpstr>
      <vt:lpstr>Cambria Math</vt:lpstr>
      <vt:lpstr>Courier New</vt:lpstr>
      <vt:lpstr>Times New Roman</vt:lpstr>
      <vt:lpstr>Trebuchet MS</vt:lpstr>
      <vt:lpstr>Wingdings</vt:lpstr>
      <vt:lpstr>Office Theme</vt:lpstr>
      <vt:lpstr>SMART INDIA HACKATHON 2026</vt:lpstr>
      <vt:lpstr>Earth Observation AI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Sourabh Patel</cp:lastModifiedBy>
  <cp:revision>1</cp:revision>
  <dcterms:created xsi:type="dcterms:W3CDTF">2026-09-27T14:38:29Z</dcterms:created>
  <dcterms:modified xsi:type="dcterms:W3CDTF">2026-09-27T14:40:01Z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2026-09-27T00:00:00Z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2026-09-27T00:00:00Z</vt:filetime>
  </property>
  <property fmtid="{D5CDD505-2E9C-101B-9397-08002B2CF9AE}" pid="6" name="Producer">
    <vt:lpwstr>Microsoft® PowerPoint® 2024</vt:lpwstr>
  </property>
</Properties>
</file>