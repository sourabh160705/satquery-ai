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CFECE"/>
    <a:srgbClr val="D8F9BF"/>
    <a:srgbClr val="E6E6E6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3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ecteezy.com/vector-art/57242878-ground-station-icon-for-satellite-connectivity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hyperlink" Target="https://www.vecteezy.com/png/12995588-fir-tree-branch-christmas-pine-tre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hyperlink" Target="https://www.freepik.com/icon/satellite_5385955" TargetMode="External"/><Relationship Id="rId10" Type="http://schemas.openxmlformats.org/officeDocument/2006/relationships/hyperlink" Target="https://freepngimg.com/png/37180-hourglass-clipart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4" Type="http://schemas.openxmlformats.org/officeDocument/2006/relationships/hyperlink" Target="https://gionekeqd.blob.core.windows.net/icon-of-notepad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hyperlink" Target="https://ar.inspiredpencil.com/pictures-2023/html5-css3-logo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1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www.vecteezy.com/vector-art/40552867-systems-integration-icon-line-vector-illustr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.pinterest.com/pin/715439090802023383/" TargetMode="External"/><Relationship Id="rId11" Type="http://schemas.openxmlformats.org/officeDocument/2006/relationships/hyperlink" Target="https://starbeamrainbowlabs.com/blog/article.php?article=posts%2F254-run-program-on-amd-dedicated-graphics-card.html" TargetMode="External"/><Relationship Id="rId5" Type="http://schemas.microsoft.com/office/2007/relationships/hdphoto" Target="../media/hdphoto2.wdp"/><Relationship Id="rId15" Type="http://schemas.microsoft.com/office/2007/relationships/hdphoto" Target="../media/hdphoto4.wdp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hyperlink" Target="https://abouthydrology.blogspot.com/2016/11/python-resources-for-hydrologists.html" TargetMode="External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ko/%EA%B2%BD%EA%B3%A0-%ED%91%9C%EC%8B%9C-%EB%B9%A8%EA%B0%84%EC%83%89-%EC%82%BC%EA%B0%81%ED%98%95%EC%97%90-%EB%8A%90%EB%82%8C%ED%91%9C%EA%B0%80-%ED%91%9C%EC%8B%9C-%EA%B2%BD%EB%B3%B4-%EA%B2%BD%EA%B3%A0-%EB%A9%94%EC%8B%9C%EC%A7%80-30915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ntbl.concejomunicipaldechinu.gov.co/bullseye-printable-target/" TargetMode="External"/><Relationship Id="rId11" Type="http://schemas.openxmlformats.org/officeDocument/2006/relationships/image" Target="../media/image17.jpeg"/><Relationship Id="rId5" Type="http://schemas.openxmlformats.org/officeDocument/2006/relationships/image" Target="../media/image14.png"/><Relationship Id="rId10" Type="http://schemas.openxmlformats.org/officeDocument/2006/relationships/hyperlink" Target="https://pixabay.com/images/search/bulb%20cartoon/" TargetMode="External"/><Relationship Id="rId4" Type="http://schemas.openxmlformats.org/officeDocument/2006/relationships/hyperlink" Target="https://satquery-ai-psi.vercel.app/" TargetMode="External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jeopardylabs.com/play/guess-the-5907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hyperlink" Target="https://www.cogeo.org/" TargetMode="External"/><Relationship Id="rId3" Type="http://schemas.openxmlformats.org/officeDocument/2006/relationships/hyperlink" Target="https://doi.org/10.1109/TGRS.2020.2988770" TargetMode="External"/><Relationship Id="rId7" Type="http://schemas.openxmlformats.org/officeDocument/2006/relationships/hyperlink" Target="https://bigearth.net/" TargetMode="External"/><Relationship Id="rId12" Type="http://schemas.openxmlformats.org/officeDocument/2006/relationships/hyperlink" Target="https://earthexplorer.usgs.gov/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github.com/sourabh160705/Satquery-A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5194/isprs-annals-IV-2-W7-153-2019" TargetMode="External"/><Relationship Id="rId11" Type="http://schemas.openxmlformats.org/officeDocument/2006/relationships/hyperlink" Target="https://dataspace.copernicus.eu/" TargetMode="External"/><Relationship Id="rId5" Type="http://schemas.openxmlformats.org/officeDocument/2006/relationships/hyperlink" Target="https://doi.org/10.3390/rs12101662" TargetMode="External"/><Relationship Id="rId15" Type="http://schemas.openxmlformats.org/officeDocument/2006/relationships/hyperlink" Target="https://satquery-ai-psi.vercel.app/" TargetMode="External"/><Relationship Id="rId10" Type="http://schemas.openxmlformats.org/officeDocument/2006/relationships/hyperlink" Target="https://www.mosdac.gov.in/" TargetMode="External"/><Relationship Id="rId4" Type="http://schemas.openxmlformats.org/officeDocument/2006/relationships/hyperlink" Target="https://arxiv.org/abs/2406.12450" TargetMode="External"/><Relationship Id="rId9" Type="http://schemas.openxmlformats.org/officeDocument/2006/relationships/hyperlink" Target="https://bhuvan.nrsc.gov.in/" TargetMode="External"/><Relationship Id="rId14" Type="http://schemas.openxmlformats.org/officeDocument/2006/relationships/hyperlink" Target="https://stacspec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150990" cy="4668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155448" indent="-155448">
              <a:lnSpc>
                <a:spcPct val="113000"/>
              </a:lnSpc>
              <a:spcAft>
                <a:spcPts val="900"/>
              </a:spcAft>
              <a:buFont typeface="Arial"/>
              <a:buChar char="▪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dirty="0">
                <a:solidFill>
                  <a:srgbClr val="262B33"/>
                </a:solidFill>
                <a:latin typeface="Arial"/>
                <a:cs typeface="Arial"/>
              </a:rPr>
              <a:t>SIH26167</a:t>
            </a:r>
          </a:p>
          <a:p>
            <a:pPr marL="155448" indent="-155448">
              <a:lnSpc>
                <a:spcPct val="113000"/>
              </a:lnSpc>
              <a:spcAft>
                <a:spcPts val="900"/>
              </a:spcAft>
              <a:buFont typeface="Arial"/>
              <a:buChar char="▪"/>
            </a:pPr>
            <a:r>
              <a:rPr lang="en-IN" sz="2400" b="1" dirty="0">
                <a:solidFill>
                  <a:srgbClr val="262B33"/>
                </a:solidFill>
                <a:latin typeface="Arial"/>
                <a:cs typeface="Arial"/>
              </a:rPr>
              <a:t>Problem Statement Title- </a:t>
            </a:r>
            <a:r>
              <a:rPr lang="en-IN" sz="2400" dirty="0" err="1">
                <a:solidFill>
                  <a:srgbClr val="262B33"/>
                </a:solidFill>
                <a:latin typeface="Arial"/>
                <a:cs typeface="Arial"/>
              </a:rPr>
              <a:t>SatQuery</a:t>
            </a:r>
            <a:r>
              <a:rPr lang="en-IN" sz="2400" dirty="0">
                <a:solidFill>
                  <a:srgbClr val="262B33"/>
                </a:solidFill>
                <a:latin typeface="Arial"/>
                <a:cs typeface="Arial"/>
              </a:rPr>
              <a:t> AI: An Interactive Vision-Language Assistant for Multi-Modal Remote Sensing Image Analysis through Text Queries</a:t>
            </a:r>
            <a:endParaRPr lang="en-IN" sz="2400" b="1" dirty="0">
              <a:solidFill>
                <a:srgbClr val="262B33"/>
              </a:solidFill>
              <a:latin typeface="Arial"/>
              <a:cs typeface="Arial"/>
            </a:endParaRPr>
          </a:p>
          <a:p>
            <a:pPr marL="155448" indent="-155448">
              <a:lnSpc>
                <a:spcPct val="113000"/>
              </a:lnSpc>
              <a:spcAft>
                <a:spcPts val="900"/>
              </a:spcAft>
              <a:buFont typeface="Arial"/>
              <a:buChar char="▪"/>
            </a:pPr>
            <a:r>
              <a:rPr lang="en-IN" sz="2400" b="1" dirty="0">
                <a:solidFill>
                  <a:srgbClr val="262B33"/>
                </a:solidFill>
                <a:latin typeface="Arial"/>
                <a:cs typeface="Arial"/>
              </a:rPr>
              <a:t>Theme-</a:t>
            </a:r>
            <a:r>
              <a:rPr lang="en-IN" sz="2400" dirty="0">
                <a:solidFill>
                  <a:srgbClr val="262B33"/>
                </a:solidFill>
                <a:latin typeface="Arial"/>
                <a:cs typeface="Arial"/>
              </a:rPr>
              <a:t> Space Technology </a:t>
            </a:r>
          </a:p>
          <a:p>
            <a:pPr marL="155448" indent="-155448">
              <a:lnSpc>
                <a:spcPct val="113000"/>
              </a:lnSpc>
              <a:spcAft>
                <a:spcPts val="900"/>
              </a:spcAft>
              <a:buFont typeface="Arial"/>
              <a:buChar char="▪"/>
            </a:pPr>
            <a:r>
              <a:rPr lang="en-IN" sz="2400" b="1" dirty="0">
                <a:solidFill>
                  <a:srgbClr val="262B33"/>
                </a:solidFill>
                <a:latin typeface="Arial"/>
                <a:cs typeface="Arial"/>
              </a:rPr>
              <a:t>PS Category- </a:t>
            </a:r>
            <a:r>
              <a:rPr lang="en-IN" sz="2400" dirty="0">
                <a:solidFill>
                  <a:srgbClr val="262B33"/>
                </a:solidFill>
                <a:latin typeface="Arial"/>
                <a:cs typeface="Arial"/>
              </a:rPr>
              <a:t>Software</a:t>
            </a:r>
            <a:endParaRPr lang="en-IN" sz="2400" b="1" dirty="0">
              <a:solidFill>
                <a:srgbClr val="262B33"/>
              </a:solidFill>
              <a:latin typeface="Arial"/>
              <a:cs typeface="Arial"/>
            </a:endParaRPr>
          </a:p>
          <a:p>
            <a:pPr marL="155448" indent="-155448">
              <a:lnSpc>
                <a:spcPct val="113000"/>
              </a:lnSpc>
              <a:spcAft>
                <a:spcPts val="900"/>
              </a:spcAft>
              <a:buFont typeface="Arial"/>
              <a:buChar char="▪"/>
            </a:pPr>
            <a:r>
              <a:rPr lang="en-IN" sz="2400" b="1" dirty="0">
                <a:solidFill>
                  <a:srgbClr val="262B33"/>
                </a:solidFill>
                <a:latin typeface="Arial"/>
                <a:cs typeface="Arial"/>
              </a:rPr>
              <a:t>Team ID- </a:t>
            </a:r>
            <a:r>
              <a:rPr lang="en-IN" sz="2400" dirty="0">
                <a:solidFill>
                  <a:srgbClr val="262B33"/>
                </a:solidFill>
                <a:latin typeface="Arial"/>
                <a:cs typeface="Arial"/>
              </a:rPr>
              <a:t>147019</a:t>
            </a:r>
            <a:endParaRPr lang="en-IN" sz="2400" b="1" dirty="0">
              <a:solidFill>
                <a:srgbClr val="262B33"/>
              </a:solidFill>
              <a:latin typeface="Arial"/>
              <a:cs typeface="Arial"/>
            </a:endParaRPr>
          </a:p>
          <a:p>
            <a:pPr marL="155448" indent="-155448">
              <a:lnSpc>
                <a:spcPct val="113000"/>
              </a:lnSpc>
              <a:spcAft>
                <a:spcPts val="900"/>
              </a:spcAft>
              <a:buFont typeface="Arial"/>
              <a:buChar char="▪"/>
            </a:pPr>
            <a:r>
              <a:rPr lang="en-IN" sz="2400" b="1" dirty="0">
                <a:solidFill>
                  <a:srgbClr val="262B33"/>
                </a:solidFill>
                <a:latin typeface="Arial"/>
                <a:cs typeface="Arial"/>
              </a:rPr>
              <a:t>Team Name - </a:t>
            </a:r>
            <a:r>
              <a:rPr lang="en-IN" sz="2400" dirty="0">
                <a:solidFill>
                  <a:srgbClr val="262B33"/>
                </a:solidFill>
                <a:latin typeface="Arial"/>
                <a:cs typeface="Arial"/>
              </a:rPr>
              <a:t> Tech </a:t>
            </a:r>
            <a:r>
              <a:rPr lang="en-IN" sz="2400" dirty="0" err="1">
                <a:solidFill>
                  <a:srgbClr val="262B33"/>
                </a:solidFill>
                <a:latin typeface="Arial"/>
                <a:cs typeface="Arial"/>
              </a:rPr>
              <a:t>Manions</a:t>
            </a:r>
            <a:endParaRPr lang="en-IN" sz="2400" dirty="0">
              <a:solidFill>
                <a:srgbClr val="262B33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56"/>
    </mc:Choice>
    <mc:Fallback>
      <p:transition spd="slow" advTm="255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6FAE875-3417-80E6-2804-5EAA43B6AF24}"/>
              </a:ext>
            </a:extLst>
          </p:cNvPr>
          <p:cNvSpPr/>
          <p:nvPr/>
        </p:nvSpPr>
        <p:spPr>
          <a:xfrm>
            <a:off x="175499" y="1010277"/>
            <a:ext cx="4288348" cy="2532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chemeClr val="tx2">
                    <a:lumMod val="75000"/>
                  </a:schemeClr>
                </a:solidFill>
              </a:rPr>
              <a:t>SATQUERY AI</a:t>
            </a:r>
            <a:br>
              <a:rPr lang="en-IN" sz="1200" dirty="0"/>
            </a:br>
            <a:r>
              <a:rPr lang="en-IN" sz="1800" dirty="0">
                <a:solidFill>
                  <a:schemeClr val="accent1"/>
                </a:solidFill>
              </a:rPr>
              <a:t> From Fragmented Satellite Tools </a:t>
            </a:r>
            <a:r>
              <a:rPr lang="en-IN" sz="1800" dirty="0">
                <a:solidFill>
                  <a:schemeClr val="accent6">
                    <a:lumMod val="75000"/>
                  </a:schemeClr>
                </a:solidFill>
              </a:rPr>
              <a:t>➔ Intelligent Agentic Intelligence</a:t>
            </a:r>
            <a:br>
              <a:rPr lang="en-IN" sz="1800" dirty="0"/>
            </a:br>
            <a:r>
              <a:rPr lang="en-IN" sz="1200" dirty="0"/>
              <a:t>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explainable vision-language assistant that validates multi-modal imagery (Optical &amp; SAR), dynamically chains specialized remote </a:t>
            </a:r>
            <a:b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sensing models, and synthesizes evidence-grounded answers</a:t>
            </a:r>
            <a:br>
              <a:rPr lang="en-IN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54155" y="1085673"/>
            <a:ext cx="4288348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</a:t>
            </a:r>
            <a:r>
              <a:rPr lang="en-US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⚠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/>
              <a:t>THE PROBLEM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0939" y="252246"/>
            <a:ext cx="14787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 err="1"/>
              <a:t>Manions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FA16E4-B942-6D4B-098D-0323F794AC65}"/>
              </a:ext>
            </a:extLst>
          </p:cNvPr>
          <p:cNvCxnSpPr>
            <a:cxnSpLocks/>
          </p:cNvCxnSpPr>
          <p:nvPr/>
        </p:nvCxnSpPr>
        <p:spPr>
          <a:xfrm>
            <a:off x="1014304" y="1474846"/>
            <a:ext cx="27948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886897-B4BE-B7AB-F549-5197CBB18DC5}"/>
              </a:ext>
            </a:extLst>
          </p:cNvPr>
          <p:cNvSpPr txBox="1"/>
          <p:nvPr/>
        </p:nvSpPr>
        <p:spPr>
          <a:xfrm>
            <a:off x="155035" y="1705420"/>
            <a:ext cx="44356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300" dirty="0"/>
              <a:t>Manual GIS workflows make it difficult for non-experts to query satellite imagery directly.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300" dirty="0"/>
              <a:t>Fragmented tool silos force users to know which separate model to pick (VQA, captioning, change detection).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300" dirty="0"/>
              <a:t>Weather &amp; cloud barriers render optical imagery ineffective during monsoons and nighttime.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300" dirty="0"/>
              <a:t>Generic LLMs hallucinate land-cover features and lack verifiable spatial grounding or audit traces.</a:t>
            </a:r>
            <a:br>
              <a:rPr lang="en-IN" sz="1300" dirty="0"/>
            </a:br>
            <a:br>
              <a:rPr lang="en-IN" dirty="0"/>
            </a:br>
            <a:endParaRPr lang="en-IN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CA2F7E85-7689-C6D9-96E6-ADA61632B55F}"/>
              </a:ext>
            </a:extLst>
          </p:cNvPr>
          <p:cNvSpPr/>
          <p:nvPr/>
        </p:nvSpPr>
        <p:spPr>
          <a:xfrm>
            <a:off x="65389" y="3733421"/>
            <a:ext cx="4751930" cy="298805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AF0FD"/>
          </a:solidFill>
          <a:ln w="12700">
            <a:solidFill>
              <a:srgbClr val="DCE3E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FBBFFE-7FE8-C70F-4B0F-0A15DE37E34F}"/>
              </a:ext>
            </a:extLst>
          </p:cNvPr>
          <p:cNvSpPr txBox="1"/>
          <p:nvPr/>
        </p:nvSpPr>
        <p:spPr>
          <a:xfrm>
            <a:off x="23039" y="3708003"/>
            <a:ext cx="4771464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</a:t>
            </a:r>
            <a:r>
              <a:rPr lang="en-US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💡</a:t>
            </a:r>
            <a:r>
              <a:rPr lang="en-IN" dirty="0"/>
              <a:t> </a:t>
            </a:r>
            <a:r>
              <a:rPr lang="en-IN" sz="2000" b="1" dirty="0"/>
              <a:t>OUR SOLUTION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IN" sz="13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1300" dirty="0"/>
              <a:t>An AI-powered agentic remote-sensing intelligence workbench.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1300" dirty="0"/>
              <a:t> Ingests single-scene, multi-temporal (2016–2026), and optical + SAR pairs.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1300" dirty="0"/>
              <a:t>Combines specialized vision-language models with raw spectral math.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1300" dirty="0"/>
              <a:t>Detects land-cover shifts, environmental damage, and ground objects.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1300" dirty="0"/>
              <a:t>Generates pixel-aligned spatial heatmaps, difference masks, and bounding boxes.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1300" dirty="0"/>
              <a:t> Provides auditable execution traces and decision-support exports. </a:t>
            </a:r>
            <a:endParaRPr lang="en-IN" sz="1300" b="1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C8427B-C0A0-D22E-3949-9B43988E8447}"/>
              </a:ext>
            </a:extLst>
          </p:cNvPr>
          <p:cNvCxnSpPr/>
          <p:nvPr/>
        </p:nvCxnSpPr>
        <p:spPr>
          <a:xfrm>
            <a:off x="870293" y="4059534"/>
            <a:ext cx="2658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0" name="Shape 17">
            <a:extLst>
              <a:ext uri="{FF2B5EF4-FFF2-40B4-BE49-F238E27FC236}">
                <a16:creationId xmlns:a16="http://schemas.microsoft.com/office/drawing/2014/main" id="{379F434A-AA8B-E4D8-D176-7C87E626B29C}"/>
              </a:ext>
            </a:extLst>
          </p:cNvPr>
          <p:cNvSpPr/>
          <p:nvPr/>
        </p:nvSpPr>
        <p:spPr>
          <a:xfrm>
            <a:off x="4817318" y="1330829"/>
            <a:ext cx="1386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72" name="Shape 18">
            <a:extLst>
              <a:ext uri="{FF2B5EF4-FFF2-40B4-BE49-F238E27FC236}">
                <a16:creationId xmlns:a16="http://schemas.microsoft.com/office/drawing/2014/main" id="{1E4880FC-48DF-442B-45ED-A3397B59ED68}"/>
              </a:ext>
            </a:extLst>
          </p:cNvPr>
          <p:cNvSpPr/>
          <p:nvPr/>
        </p:nvSpPr>
        <p:spPr>
          <a:xfrm>
            <a:off x="4817318" y="1337686"/>
            <a:ext cx="1386840" cy="0"/>
          </a:xfrm>
          <a:prstGeom prst="line">
            <a:avLst/>
          </a:prstGeom>
          <a:noFill/>
          <a:ln w="31750">
            <a:solidFill>
              <a:srgbClr val="2F5F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74" name="Text 19">
            <a:extLst>
              <a:ext uri="{FF2B5EF4-FFF2-40B4-BE49-F238E27FC236}">
                <a16:creationId xmlns:a16="http://schemas.microsoft.com/office/drawing/2014/main" id="{E31D96E1-CFBF-9F9B-091B-A0BCD69CABE6}"/>
              </a:ext>
            </a:extLst>
          </p:cNvPr>
          <p:cNvSpPr/>
          <p:nvPr/>
        </p:nvSpPr>
        <p:spPr>
          <a:xfrm>
            <a:off x="4890470" y="1383406"/>
            <a:ext cx="1240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5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</a:t>
            </a:r>
            <a:endParaRPr lang="en-US" sz="900" dirty="0"/>
          </a:p>
        </p:txBody>
      </p:sp>
      <p:sp>
        <p:nvSpPr>
          <p:cNvPr id="15376" name="Text 20">
            <a:extLst>
              <a:ext uri="{FF2B5EF4-FFF2-40B4-BE49-F238E27FC236}">
                <a16:creationId xmlns:a16="http://schemas.microsoft.com/office/drawing/2014/main" id="{85EA9C3C-D862-0672-60E4-E4E944FD8356}"/>
              </a:ext>
            </a:extLst>
          </p:cNvPr>
          <p:cNvSpPr/>
          <p:nvPr/>
        </p:nvSpPr>
        <p:spPr>
          <a:xfrm>
            <a:off x="4863038" y="1557142"/>
            <a:ext cx="1295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(Optical)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(SAR)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 GeoTIFF</a:t>
            </a:r>
            <a:endParaRPr lang="en-US" sz="900" dirty="0"/>
          </a:p>
        </p:txBody>
      </p:sp>
      <p:sp>
        <p:nvSpPr>
          <p:cNvPr id="15378" name="Shape 21">
            <a:extLst>
              <a:ext uri="{FF2B5EF4-FFF2-40B4-BE49-F238E27FC236}">
                <a16:creationId xmlns:a16="http://schemas.microsoft.com/office/drawing/2014/main" id="{40ACD136-5C67-76BC-C821-C18B81922144}"/>
              </a:ext>
            </a:extLst>
          </p:cNvPr>
          <p:cNvSpPr/>
          <p:nvPr/>
        </p:nvSpPr>
        <p:spPr>
          <a:xfrm>
            <a:off x="6208730" y="1717162"/>
            <a:ext cx="128016" cy="109728"/>
          </a:xfrm>
          <a:prstGeom prst="rightArrow">
            <a:avLst/>
          </a:prstGeom>
          <a:solidFill>
            <a:srgbClr val="2F5F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80" name="Shape 22">
            <a:extLst>
              <a:ext uri="{FF2B5EF4-FFF2-40B4-BE49-F238E27FC236}">
                <a16:creationId xmlns:a16="http://schemas.microsoft.com/office/drawing/2014/main" id="{F682DB02-DFCF-BDBE-BB22-8426F57365A1}"/>
              </a:ext>
            </a:extLst>
          </p:cNvPr>
          <p:cNvSpPr/>
          <p:nvPr/>
        </p:nvSpPr>
        <p:spPr>
          <a:xfrm>
            <a:off x="6341318" y="1337686"/>
            <a:ext cx="1386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82" name="Shape 23">
            <a:extLst>
              <a:ext uri="{FF2B5EF4-FFF2-40B4-BE49-F238E27FC236}">
                <a16:creationId xmlns:a16="http://schemas.microsoft.com/office/drawing/2014/main" id="{DC100B12-D0EC-3906-75B8-0E0AC346E363}"/>
              </a:ext>
            </a:extLst>
          </p:cNvPr>
          <p:cNvSpPr/>
          <p:nvPr/>
        </p:nvSpPr>
        <p:spPr>
          <a:xfrm>
            <a:off x="6341318" y="1337686"/>
            <a:ext cx="1386840" cy="0"/>
          </a:xfrm>
          <a:prstGeom prst="line">
            <a:avLst/>
          </a:prstGeom>
          <a:noFill/>
          <a:ln w="31750">
            <a:solidFill>
              <a:srgbClr val="2F5F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84" name="Text 24">
            <a:extLst>
              <a:ext uri="{FF2B5EF4-FFF2-40B4-BE49-F238E27FC236}">
                <a16:creationId xmlns:a16="http://schemas.microsoft.com/office/drawing/2014/main" id="{9DF7EB12-6FE6-D694-7787-5D6CAD44D287}"/>
              </a:ext>
            </a:extLst>
          </p:cNvPr>
          <p:cNvSpPr/>
          <p:nvPr/>
        </p:nvSpPr>
        <p:spPr>
          <a:xfrm>
            <a:off x="6414470" y="1383406"/>
            <a:ext cx="1240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5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900" dirty="0"/>
          </a:p>
        </p:txBody>
      </p:sp>
      <p:sp>
        <p:nvSpPr>
          <p:cNvPr id="15386" name="Text 25">
            <a:extLst>
              <a:ext uri="{FF2B5EF4-FFF2-40B4-BE49-F238E27FC236}">
                <a16:creationId xmlns:a16="http://schemas.microsoft.com/office/drawing/2014/main" id="{E48FA8F8-7A94-4C1E-F13F-A6609524F0AA}"/>
              </a:ext>
            </a:extLst>
          </p:cNvPr>
          <p:cNvSpPr/>
          <p:nvPr/>
        </p:nvSpPr>
        <p:spPr>
          <a:xfrm>
            <a:off x="6387038" y="1557142"/>
            <a:ext cx="1295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Parsing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Co-Reg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Validator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Radiometric Norm</a:t>
            </a:r>
            <a:endParaRPr lang="en-US" sz="900" dirty="0"/>
          </a:p>
        </p:txBody>
      </p:sp>
      <p:sp>
        <p:nvSpPr>
          <p:cNvPr id="15388" name="Shape 26">
            <a:extLst>
              <a:ext uri="{FF2B5EF4-FFF2-40B4-BE49-F238E27FC236}">
                <a16:creationId xmlns:a16="http://schemas.microsoft.com/office/drawing/2014/main" id="{847DD6B6-9F66-2D63-809D-CF871EB6E9FC}"/>
              </a:ext>
            </a:extLst>
          </p:cNvPr>
          <p:cNvSpPr/>
          <p:nvPr/>
        </p:nvSpPr>
        <p:spPr>
          <a:xfrm>
            <a:off x="7732730" y="1717162"/>
            <a:ext cx="128016" cy="109728"/>
          </a:xfrm>
          <a:prstGeom prst="rightArrow">
            <a:avLst/>
          </a:prstGeom>
          <a:solidFill>
            <a:srgbClr val="2F5F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90" name="Shape 27">
            <a:extLst>
              <a:ext uri="{FF2B5EF4-FFF2-40B4-BE49-F238E27FC236}">
                <a16:creationId xmlns:a16="http://schemas.microsoft.com/office/drawing/2014/main" id="{73FBB872-0A36-8E10-23E7-D4E7528B3C14}"/>
              </a:ext>
            </a:extLst>
          </p:cNvPr>
          <p:cNvSpPr/>
          <p:nvPr/>
        </p:nvSpPr>
        <p:spPr>
          <a:xfrm>
            <a:off x="7865318" y="1337686"/>
            <a:ext cx="1386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92" name="Shape 28">
            <a:extLst>
              <a:ext uri="{FF2B5EF4-FFF2-40B4-BE49-F238E27FC236}">
                <a16:creationId xmlns:a16="http://schemas.microsoft.com/office/drawing/2014/main" id="{70D1BE84-FD25-7560-A5F3-43561EA31273}"/>
              </a:ext>
            </a:extLst>
          </p:cNvPr>
          <p:cNvSpPr/>
          <p:nvPr/>
        </p:nvSpPr>
        <p:spPr>
          <a:xfrm>
            <a:off x="7865318" y="1337686"/>
            <a:ext cx="1386840" cy="0"/>
          </a:xfrm>
          <a:prstGeom prst="line">
            <a:avLst/>
          </a:prstGeom>
          <a:noFill/>
          <a:ln w="3175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94" name="Text 29">
            <a:extLst>
              <a:ext uri="{FF2B5EF4-FFF2-40B4-BE49-F238E27FC236}">
                <a16:creationId xmlns:a16="http://schemas.microsoft.com/office/drawing/2014/main" id="{420052B7-DE19-F705-87EF-8481A66A77E6}"/>
              </a:ext>
            </a:extLst>
          </p:cNvPr>
          <p:cNvSpPr/>
          <p:nvPr/>
        </p:nvSpPr>
        <p:spPr>
          <a:xfrm>
            <a:off x="7938470" y="1383406"/>
            <a:ext cx="1240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ENGINE</a:t>
            </a:r>
            <a:endParaRPr lang="en-US" sz="900" dirty="0"/>
          </a:p>
        </p:txBody>
      </p:sp>
      <p:sp>
        <p:nvSpPr>
          <p:cNvPr id="15396" name="Text 30">
            <a:extLst>
              <a:ext uri="{FF2B5EF4-FFF2-40B4-BE49-F238E27FC236}">
                <a16:creationId xmlns:a16="http://schemas.microsoft.com/office/drawing/2014/main" id="{A31E0EA5-C7B6-7DA8-0360-BB8EDF682143}"/>
              </a:ext>
            </a:extLst>
          </p:cNvPr>
          <p:cNvSpPr/>
          <p:nvPr/>
        </p:nvSpPr>
        <p:spPr>
          <a:xfrm>
            <a:off x="7911038" y="1557142"/>
            <a:ext cx="1295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RS-VQA Specialist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BigEarthNet Cap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Bi-Temporal CD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Optical-SAR Fusion</a:t>
            </a:r>
            <a:endParaRPr lang="en-US" sz="900" dirty="0"/>
          </a:p>
        </p:txBody>
      </p:sp>
      <p:sp>
        <p:nvSpPr>
          <p:cNvPr id="15398" name="Shape 32">
            <a:extLst>
              <a:ext uri="{FF2B5EF4-FFF2-40B4-BE49-F238E27FC236}">
                <a16:creationId xmlns:a16="http://schemas.microsoft.com/office/drawing/2014/main" id="{11D6D42E-A2D5-72E7-F254-CC7BF344D7A5}"/>
              </a:ext>
            </a:extLst>
          </p:cNvPr>
          <p:cNvSpPr/>
          <p:nvPr/>
        </p:nvSpPr>
        <p:spPr>
          <a:xfrm>
            <a:off x="4876314" y="2521584"/>
            <a:ext cx="1386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00" name="Shape 33">
            <a:extLst>
              <a:ext uri="{FF2B5EF4-FFF2-40B4-BE49-F238E27FC236}">
                <a16:creationId xmlns:a16="http://schemas.microsoft.com/office/drawing/2014/main" id="{CD9AE9C3-347E-2B18-7A55-3B0482DE66B1}"/>
              </a:ext>
            </a:extLst>
          </p:cNvPr>
          <p:cNvSpPr/>
          <p:nvPr/>
        </p:nvSpPr>
        <p:spPr>
          <a:xfrm>
            <a:off x="4876314" y="2521584"/>
            <a:ext cx="1386840" cy="0"/>
          </a:xfrm>
          <a:prstGeom prst="line">
            <a:avLst/>
          </a:prstGeom>
          <a:noFill/>
          <a:ln w="31750">
            <a:solidFill>
              <a:srgbClr val="D08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02" name="Text 34">
            <a:extLst>
              <a:ext uri="{FF2B5EF4-FFF2-40B4-BE49-F238E27FC236}">
                <a16:creationId xmlns:a16="http://schemas.microsoft.com/office/drawing/2014/main" id="{5DBAB771-29DF-EEC3-03E1-895470EAC902}"/>
              </a:ext>
            </a:extLst>
          </p:cNvPr>
          <p:cNvSpPr/>
          <p:nvPr/>
        </p:nvSpPr>
        <p:spPr>
          <a:xfrm>
            <a:off x="4949466" y="25673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SYNTHESIS</a:t>
            </a:r>
            <a:endParaRPr lang="en-US" sz="900" dirty="0"/>
          </a:p>
        </p:txBody>
      </p:sp>
      <p:sp>
        <p:nvSpPr>
          <p:cNvPr id="15404" name="Text 35">
            <a:extLst>
              <a:ext uri="{FF2B5EF4-FFF2-40B4-BE49-F238E27FC236}">
                <a16:creationId xmlns:a16="http://schemas.microsoft.com/office/drawing/2014/main" id="{FCFB9BB7-F408-8477-5D4D-B0464601BA42}"/>
              </a:ext>
            </a:extLst>
          </p:cNvPr>
          <p:cNvSpPr/>
          <p:nvPr/>
        </p:nvSpPr>
        <p:spPr>
          <a:xfrm>
            <a:off x="4922034" y="2814192"/>
            <a:ext cx="1295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Fusion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Thresholding</a:t>
            </a:r>
            <a:endParaRPr lang="en-US" sz="900" dirty="0"/>
          </a:p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900" dirty="0"/>
          </a:p>
        </p:txBody>
      </p:sp>
      <p:sp>
        <p:nvSpPr>
          <p:cNvPr id="15406" name="Shape 36">
            <a:extLst>
              <a:ext uri="{FF2B5EF4-FFF2-40B4-BE49-F238E27FC236}">
                <a16:creationId xmlns:a16="http://schemas.microsoft.com/office/drawing/2014/main" id="{BDF79C0F-F184-25ED-8F2C-696D893F62F8}"/>
              </a:ext>
            </a:extLst>
          </p:cNvPr>
          <p:cNvSpPr/>
          <p:nvPr/>
        </p:nvSpPr>
        <p:spPr>
          <a:xfrm>
            <a:off x="6267726" y="2901060"/>
            <a:ext cx="128016" cy="109728"/>
          </a:xfrm>
          <a:prstGeom prst="rightArrow">
            <a:avLst/>
          </a:prstGeom>
          <a:solidFill>
            <a:srgbClr val="D08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08" name="Shape 37">
            <a:extLst>
              <a:ext uri="{FF2B5EF4-FFF2-40B4-BE49-F238E27FC236}">
                <a16:creationId xmlns:a16="http://schemas.microsoft.com/office/drawing/2014/main" id="{7F32BB63-5007-7DB8-996B-1A6BB61584FF}"/>
              </a:ext>
            </a:extLst>
          </p:cNvPr>
          <p:cNvSpPr/>
          <p:nvPr/>
        </p:nvSpPr>
        <p:spPr>
          <a:xfrm>
            <a:off x="6400314" y="2521584"/>
            <a:ext cx="1386840" cy="664063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10" name="Shape 38">
            <a:extLst>
              <a:ext uri="{FF2B5EF4-FFF2-40B4-BE49-F238E27FC236}">
                <a16:creationId xmlns:a16="http://schemas.microsoft.com/office/drawing/2014/main" id="{33A2CDF5-FE98-B7D5-64E0-D64BC2678530}"/>
              </a:ext>
            </a:extLst>
          </p:cNvPr>
          <p:cNvSpPr/>
          <p:nvPr/>
        </p:nvSpPr>
        <p:spPr>
          <a:xfrm>
            <a:off x="6400314" y="2521584"/>
            <a:ext cx="1386840" cy="0"/>
          </a:xfrm>
          <a:prstGeom prst="line">
            <a:avLst/>
          </a:prstGeom>
          <a:noFill/>
          <a:ln w="31750">
            <a:solidFill>
              <a:srgbClr val="D08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12" name="Text 39">
            <a:extLst>
              <a:ext uri="{FF2B5EF4-FFF2-40B4-BE49-F238E27FC236}">
                <a16:creationId xmlns:a16="http://schemas.microsoft.com/office/drawing/2014/main" id="{FC1015D8-3EED-2444-79DC-6BF9B5E94C23}"/>
              </a:ext>
            </a:extLst>
          </p:cNvPr>
          <p:cNvSpPr/>
          <p:nvPr/>
        </p:nvSpPr>
        <p:spPr>
          <a:xfrm>
            <a:off x="6473466" y="2567304"/>
            <a:ext cx="129540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GROUNDED OUTPUT</a:t>
            </a:r>
            <a:endParaRPr lang="en-US" sz="900" dirty="0"/>
          </a:p>
        </p:txBody>
      </p:sp>
      <p:sp>
        <p:nvSpPr>
          <p:cNvPr id="15414" name="Text 40">
            <a:extLst>
              <a:ext uri="{FF2B5EF4-FFF2-40B4-BE49-F238E27FC236}">
                <a16:creationId xmlns:a16="http://schemas.microsoft.com/office/drawing/2014/main" id="{30F8C6E7-5FB4-BE3A-A687-3ECCC250F7FA}"/>
              </a:ext>
            </a:extLst>
          </p:cNvPr>
          <p:cNvSpPr/>
          <p:nvPr/>
        </p:nvSpPr>
        <p:spPr>
          <a:xfrm>
            <a:off x="6446034" y="2814192"/>
            <a:ext cx="1295400" cy="37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Answer + Spatial Heatmap Overlay</a:t>
            </a:r>
            <a:endParaRPr lang="en-US" sz="900" dirty="0"/>
          </a:p>
        </p:txBody>
      </p:sp>
      <p:sp>
        <p:nvSpPr>
          <p:cNvPr id="15416" name="Shape 41">
            <a:extLst>
              <a:ext uri="{FF2B5EF4-FFF2-40B4-BE49-F238E27FC236}">
                <a16:creationId xmlns:a16="http://schemas.microsoft.com/office/drawing/2014/main" id="{6ED3ECBC-F093-A62F-7EAB-314B00448559}"/>
              </a:ext>
            </a:extLst>
          </p:cNvPr>
          <p:cNvSpPr/>
          <p:nvPr/>
        </p:nvSpPr>
        <p:spPr>
          <a:xfrm>
            <a:off x="7791726" y="2901060"/>
            <a:ext cx="128016" cy="109728"/>
          </a:xfrm>
          <a:prstGeom prst="rightArrow">
            <a:avLst/>
          </a:prstGeom>
          <a:solidFill>
            <a:srgbClr val="D08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18" name="Shape 42">
            <a:extLst>
              <a:ext uri="{FF2B5EF4-FFF2-40B4-BE49-F238E27FC236}">
                <a16:creationId xmlns:a16="http://schemas.microsoft.com/office/drawing/2014/main" id="{2F9D8A29-09A5-0F56-66BA-47C0697A5B4C}"/>
              </a:ext>
            </a:extLst>
          </p:cNvPr>
          <p:cNvSpPr/>
          <p:nvPr/>
        </p:nvSpPr>
        <p:spPr>
          <a:xfrm>
            <a:off x="7924314" y="2521584"/>
            <a:ext cx="1386840" cy="664064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20" name="Shape 43">
            <a:extLst>
              <a:ext uri="{FF2B5EF4-FFF2-40B4-BE49-F238E27FC236}">
                <a16:creationId xmlns:a16="http://schemas.microsoft.com/office/drawing/2014/main" id="{67963DF6-27C7-08F2-9CC0-DBAE2EF9FDFA}"/>
              </a:ext>
            </a:extLst>
          </p:cNvPr>
          <p:cNvSpPr/>
          <p:nvPr/>
        </p:nvSpPr>
        <p:spPr>
          <a:xfrm>
            <a:off x="7924314" y="2521584"/>
            <a:ext cx="138684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22" name="Text 44">
            <a:extLst>
              <a:ext uri="{FF2B5EF4-FFF2-40B4-BE49-F238E27FC236}">
                <a16:creationId xmlns:a16="http://schemas.microsoft.com/office/drawing/2014/main" id="{A50A59F9-922D-8F2C-A895-378E313C7B84}"/>
              </a:ext>
            </a:extLst>
          </p:cNvPr>
          <p:cNvSpPr/>
          <p:nvPr/>
        </p:nvSpPr>
        <p:spPr>
          <a:xfrm>
            <a:off x="7997466" y="2567304"/>
            <a:ext cx="1359408" cy="246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/ AUDIT REVIEW</a:t>
            </a:r>
            <a:endParaRPr lang="en-US" sz="900" dirty="0"/>
          </a:p>
        </p:txBody>
      </p:sp>
      <p:sp>
        <p:nvSpPr>
          <p:cNvPr id="15424" name="Text 45">
            <a:extLst>
              <a:ext uri="{FF2B5EF4-FFF2-40B4-BE49-F238E27FC236}">
                <a16:creationId xmlns:a16="http://schemas.microsoft.com/office/drawing/2014/main" id="{2B770393-0371-90C3-172D-180855526671}"/>
              </a:ext>
            </a:extLst>
          </p:cNvPr>
          <p:cNvSpPr/>
          <p:nvPr/>
        </p:nvSpPr>
        <p:spPr>
          <a:xfrm>
            <a:off x="7970034" y="2814192"/>
            <a:ext cx="1295400" cy="37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Decision &amp; Audit Trace Report</a:t>
            </a:r>
            <a:endParaRPr lang="en-US" sz="900" dirty="0"/>
          </a:p>
        </p:txBody>
      </p:sp>
      <p:cxnSp>
        <p:nvCxnSpPr>
          <p:cNvPr id="15434" name="Connector: Elbow 15433">
            <a:extLst>
              <a:ext uri="{FF2B5EF4-FFF2-40B4-BE49-F238E27FC236}">
                <a16:creationId xmlns:a16="http://schemas.microsoft.com/office/drawing/2014/main" id="{E90E66C8-96CC-8FE6-DB3B-BBBB653B4284}"/>
              </a:ext>
            </a:extLst>
          </p:cNvPr>
          <p:cNvCxnSpPr>
            <a:cxnSpLocks/>
          </p:cNvCxnSpPr>
          <p:nvPr/>
        </p:nvCxnSpPr>
        <p:spPr>
          <a:xfrm flipH="1">
            <a:off x="4748822" y="1783835"/>
            <a:ext cx="4562332" cy="547388"/>
          </a:xfrm>
          <a:prstGeom prst="bentConnector3">
            <a:avLst>
              <a:gd name="adj1" fmla="val -50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9" name="Connector: Elbow 15438">
            <a:extLst>
              <a:ext uri="{FF2B5EF4-FFF2-40B4-BE49-F238E27FC236}">
                <a16:creationId xmlns:a16="http://schemas.microsoft.com/office/drawing/2014/main" id="{F63305AA-F648-AA3C-1DE5-7984568E39E5}"/>
              </a:ext>
            </a:extLst>
          </p:cNvPr>
          <p:cNvCxnSpPr>
            <a:endCxn id="15398" idx="1"/>
          </p:cNvCxnSpPr>
          <p:nvPr/>
        </p:nvCxnSpPr>
        <p:spPr>
          <a:xfrm rot="16200000" flipH="1">
            <a:off x="4500218" y="2579827"/>
            <a:ext cx="624701" cy="1274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1" name="Shape 46">
            <a:extLst>
              <a:ext uri="{FF2B5EF4-FFF2-40B4-BE49-F238E27FC236}">
                <a16:creationId xmlns:a16="http://schemas.microsoft.com/office/drawing/2014/main" id="{0C3A991C-FB89-584D-12AD-C81B51D9299C}"/>
              </a:ext>
            </a:extLst>
          </p:cNvPr>
          <p:cNvSpPr/>
          <p:nvPr/>
        </p:nvSpPr>
        <p:spPr>
          <a:xfrm>
            <a:off x="4922034" y="3522796"/>
            <a:ext cx="4973744" cy="3341944"/>
          </a:xfrm>
          <a:prstGeom prst="roundRect">
            <a:avLst>
              <a:gd name="adj" fmla="val 2372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43" name="Text 47">
            <a:extLst>
              <a:ext uri="{FF2B5EF4-FFF2-40B4-BE49-F238E27FC236}">
                <a16:creationId xmlns:a16="http://schemas.microsoft.com/office/drawing/2014/main" id="{519E50C1-1B1D-1D2B-06F6-1FED854EBE05}"/>
              </a:ext>
            </a:extLst>
          </p:cNvPr>
          <p:cNvSpPr/>
          <p:nvPr/>
        </p:nvSpPr>
        <p:spPr>
          <a:xfrm>
            <a:off x="5249071" y="3574367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✨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DIFFERENT</a:t>
            </a:r>
            <a:endParaRPr lang="en-US" sz="2000" dirty="0"/>
          </a:p>
        </p:txBody>
      </p:sp>
      <p:sp>
        <p:nvSpPr>
          <p:cNvPr id="15445" name="Shape 48">
            <a:extLst>
              <a:ext uri="{FF2B5EF4-FFF2-40B4-BE49-F238E27FC236}">
                <a16:creationId xmlns:a16="http://schemas.microsoft.com/office/drawing/2014/main" id="{81298161-9FB7-DFCC-23FC-3215F0F548D1}"/>
              </a:ext>
            </a:extLst>
          </p:cNvPr>
          <p:cNvSpPr/>
          <p:nvPr/>
        </p:nvSpPr>
        <p:spPr>
          <a:xfrm flipV="1">
            <a:off x="5569734" y="3894489"/>
            <a:ext cx="2824908" cy="11120"/>
          </a:xfrm>
          <a:prstGeom prst="line">
            <a:avLst/>
          </a:prstGeom>
          <a:noFill/>
          <a:ln w="5715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447" name="Text 49">
            <a:extLst>
              <a:ext uri="{FF2B5EF4-FFF2-40B4-BE49-F238E27FC236}">
                <a16:creationId xmlns:a16="http://schemas.microsoft.com/office/drawing/2014/main" id="{17FFC734-C18E-CE15-1041-CAC158DD246A}"/>
              </a:ext>
            </a:extLst>
          </p:cNvPr>
          <p:cNvSpPr/>
          <p:nvPr/>
        </p:nvSpPr>
        <p:spPr>
          <a:xfrm>
            <a:off x="4993316" y="4097524"/>
            <a:ext cx="4973744" cy="26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5000"/>
              </a:lnSpc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Agentic Routing -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selects the right specialist tool based on query intent and imagery types without manual GIS setup.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05000"/>
              </a:lnSpc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Understanding vs. Binary Mask -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semantic shifts (e.g. +8.5% Built-up, -14.2% Surface Water) rather than generic blur.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05000"/>
              </a:lnSpc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Optical-SAR Fusion -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observation continuity by fusing cloud-penetrating radar when optical cloud cover exceeds 15%.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05000"/>
              </a:lnSpc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Spectral Math -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true mathematical indices (NDVI, NDWI, NDBI) on raw bands instead of generic LLM guessing.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05000"/>
              </a:lnSpc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Execution Trace -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an auditable card with tool IDs, thresholds, and confidence metrics for mission-critical trust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453" name="Shape 51">
            <a:extLst>
              <a:ext uri="{FF2B5EF4-FFF2-40B4-BE49-F238E27FC236}">
                <a16:creationId xmlns:a16="http://schemas.microsoft.com/office/drawing/2014/main" id="{60B116CE-181B-EEA1-6C2B-BC7F75F3E2CD}"/>
              </a:ext>
            </a:extLst>
          </p:cNvPr>
          <p:cNvSpPr/>
          <p:nvPr/>
        </p:nvSpPr>
        <p:spPr>
          <a:xfrm>
            <a:off x="9676014" y="1624820"/>
            <a:ext cx="1244141" cy="736343"/>
          </a:xfrm>
          <a:prstGeom prst="roundRect">
            <a:avLst>
              <a:gd name="adj" fmla="val 5217"/>
            </a:avLst>
          </a:prstGeom>
          <a:solidFill>
            <a:srgbClr val="EAF0FD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55" name="Text 52">
            <a:extLst>
              <a:ext uri="{FF2B5EF4-FFF2-40B4-BE49-F238E27FC236}">
                <a16:creationId xmlns:a16="http://schemas.microsoft.com/office/drawing/2014/main" id="{86D91921-BA5F-45F5-83CA-71B4ED580AAB}"/>
              </a:ext>
            </a:extLst>
          </p:cNvPr>
          <p:cNvSpPr/>
          <p:nvPr/>
        </p:nvSpPr>
        <p:spPr>
          <a:xfrm>
            <a:off x="9559706" y="1817860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F5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VQA</a:t>
            </a:r>
            <a:endParaRPr lang="en-US" sz="800" dirty="0"/>
          </a:p>
        </p:txBody>
      </p:sp>
      <p:sp>
        <p:nvSpPr>
          <p:cNvPr id="15457" name="Text 53">
            <a:extLst>
              <a:ext uri="{FF2B5EF4-FFF2-40B4-BE49-F238E27FC236}">
                <a16:creationId xmlns:a16="http://schemas.microsoft.com/office/drawing/2014/main" id="{74BE6FF4-A1FB-ED17-98BC-7707F93D2DDE}"/>
              </a:ext>
            </a:extLst>
          </p:cNvPr>
          <p:cNvSpPr/>
          <p:nvPr/>
        </p:nvSpPr>
        <p:spPr>
          <a:xfrm>
            <a:off x="9796635" y="1842957"/>
            <a:ext cx="1021831" cy="60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Land-cover &amp; object inspection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459" name="Shape 54">
            <a:extLst>
              <a:ext uri="{FF2B5EF4-FFF2-40B4-BE49-F238E27FC236}">
                <a16:creationId xmlns:a16="http://schemas.microsoft.com/office/drawing/2014/main" id="{87676385-1D94-695B-69E5-C4AA7CD2DAF6}"/>
              </a:ext>
            </a:extLst>
          </p:cNvPr>
          <p:cNvSpPr/>
          <p:nvPr/>
        </p:nvSpPr>
        <p:spPr>
          <a:xfrm>
            <a:off x="11049721" y="1628024"/>
            <a:ext cx="1117600" cy="736343"/>
          </a:xfrm>
          <a:prstGeom prst="roundRect">
            <a:avLst>
              <a:gd name="adj" fmla="val 5217"/>
            </a:avLst>
          </a:prstGeom>
          <a:solidFill>
            <a:srgbClr val="DCF5E3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61" name="Text 55">
            <a:extLst>
              <a:ext uri="{FF2B5EF4-FFF2-40B4-BE49-F238E27FC236}">
                <a16:creationId xmlns:a16="http://schemas.microsoft.com/office/drawing/2014/main" id="{60C7AFAC-4034-858E-E25F-4BCBFC502BB1}"/>
              </a:ext>
            </a:extLst>
          </p:cNvPr>
          <p:cNvSpPr/>
          <p:nvPr/>
        </p:nvSpPr>
        <p:spPr>
          <a:xfrm>
            <a:off x="10903650" y="177827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RADAR</a:t>
            </a:r>
            <a:endParaRPr lang="en-US" sz="800" dirty="0"/>
          </a:p>
        </p:txBody>
      </p:sp>
      <p:sp>
        <p:nvSpPr>
          <p:cNvPr id="15463" name="Text 56">
            <a:extLst>
              <a:ext uri="{FF2B5EF4-FFF2-40B4-BE49-F238E27FC236}">
                <a16:creationId xmlns:a16="http://schemas.microsoft.com/office/drawing/2014/main" id="{6C53CB85-0EAA-75B2-CDA3-D8ECEDC001D2}"/>
              </a:ext>
            </a:extLst>
          </p:cNvPr>
          <p:cNvSpPr/>
          <p:nvPr/>
        </p:nvSpPr>
        <p:spPr>
          <a:xfrm>
            <a:off x="11163779" y="1682847"/>
            <a:ext cx="1021830" cy="913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Cloud/rain microwave backscatter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465" name="Shape 57">
            <a:extLst>
              <a:ext uri="{FF2B5EF4-FFF2-40B4-BE49-F238E27FC236}">
                <a16:creationId xmlns:a16="http://schemas.microsoft.com/office/drawing/2014/main" id="{D1559473-70C3-B185-685B-E92BB1072022}"/>
              </a:ext>
            </a:extLst>
          </p:cNvPr>
          <p:cNvSpPr/>
          <p:nvPr/>
        </p:nvSpPr>
        <p:spPr>
          <a:xfrm>
            <a:off x="9699814" y="2476969"/>
            <a:ext cx="1233811" cy="755758"/>
          </a:xfrm>
          <a:prstGeom prst="roundRect">
            <a:avLst>
              <a:gd name="adj" fmla="val 5217"/>
            </a:avLst>
          </a:prstGeom>
          <a:solidFill>
            <a:srgbClr val="FBF2D6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67" name="Text 58">
            <a:extLst>
              <a:ext uri="{FF2B5EF4-FFF2-40B4-BE49-F238E27FC236}">
                <a16:creationId xmlns:a16="http://schemas.microsoft.com/office/drawing/2014/main" id="{14F9110E-6EDE-89BE-621C-9CCB63A9DF8D}"/>
              </a:ext>
            </a:extLst>
          </p:cNvPr>
          <p:cNvSpPr/>
          <p:nvPr/>
        </p:nvSpPr>
        <p:spPr>
          <a:xfrm>
            <a:off x="9578341" y="269373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800" dirty="0"/>
          </a:p>
        </p:txBody>
      </p:sp>
      <p:sp>
        <p:nvSpPr>
          <p:cNvPr id="15469" name="Text 59">
            <a:extLst>
              <a:ext uri="{FF2B5EF4-FFF2-40B4-BE49-F238E27FC236}">
                <a16:creationId xmlns:a16="http://schemas.microsoft.com/office/drawing/2014/main" id="{F9847339-99C9-DA58-4A21-BE5C4C426D24}"/>
              </a:ext>
            </a:extLst>
          </p:cNvPr>
          <p:cNvSpPr/>
          <p:nvPr/>
        </p:nvSpPr>
        <p:spPr>
          <a:xfrm>
            <a:off x="9833562" y="2760847"/>
            <a:ext cx="866248" cy="495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epoch change differencing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471" name="Shape 60">
            <a:extLst>
              <a:ext uri="{FF2B5EF4-FFF2-40B4-BE49-F238E27FC236}">
                <a16:creationId xmlns:a16="http://schemas.microsoft.com/office/drawing/2014/main" id="{4A544A06-6B81-C603-A537-D9C41984E0CB}"/>
              </a:ext>
            </a:extLst>
          </p:cNvPr>
          <p:cNvSpPr/>
          <p:nvPr/>
        </p:nvSpPr>
        <p:spPr>
          <a:xfrm>
            <a:off x="11050852" y="2496385"/>
            <a:ext cx="1134757" cy="736342"/>
          </a:xfrm>
          <a:prstGeom prst="roundRect">
            <a:avLst>
              <a:gd name="adj" fmla="val 5217"/>
            </a:avLst>
          </a:prstGeom>
          <a:solidFill>
            <a:srgbClr val="DCF5E3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473" name="Text 61">
            <a:extLst>
              <a:ext uri="{FF2B5EF4-FFF2-40B4-BE49-F238E27FC236}">
                <a16:creationId xmlns:a16="http://schemas.microsoft.com/office/drawing/2014/main" id="{79832F29-9A55-F2A3-E96D-9D37DCB14EA2}"/>
              </a:ext>
            </a:extLst>
          </p:cNvPr>
          <p:cNvSpPr/>
          <p:nvPr/>
        </p:nvSpPr>
        <p:spPr>
          <a:xfrm>
            <a:off x="10881975" y="2677372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800" dirty="0"/>
          </a:p>
        </p:txBody>
      </p:sp>
      <p:sp>
        <p:nvSpPr>
          <p:cNvPr id="15475" name="Text 62">
            <a:extLst>
              <a:ext uri="{FF2B5EF4-FFF2-40B4-BE49-F238E27FC236}">
                <a16:creationId xmlns:a16="http://schemas.microsoft.com/office/drawing/2014/main" id="{4212D23A-7FA8-BBB9-2E34-840C94B78B96}"/>
              </a:ext>
            </a:extLst>
          </p:cNvPr>
          <p:cNvSpPr/>
          <p:nvPr/>
        </p:nvSpPr>
        <p:spPr>
          <a:xfrm>
            <a:off x="11221927" y="2758163"/>
            <a:ext cx="794574" cy="49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NDVI, NDWI &amp; NDBI bands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477" name="Shape 63">
            <a:extLst>
              <a:ext uri="{FF2B5EF4-FFF2-40B4-BE49-F238E27FC236}">
                <a16:creationId xmlns:a16="http://schemas.microsoft.com/office/drawing/2014/main" id="{AFF7E848-939A-B665-9D4C-44630FC49A03}"/>
              </a:ext>
            </a:extLst>
          </p:cNvPr>
          <p:cNvSpPr/>
          <p:nvPr/>
        </p:nvSpPr>
        <p:spPr>
          <a:xfrm>
            <a:off x="10038342" y="3495330"/>
            <a:ext cx="1848563" cy="880628"/>
          </a:xfrm>
          <a:prstGeom prst="roundRect">
            <a:avLst>
              <a:gd name="adj" fmla="val 2985"/>
            </a:avLst>
          </a:prstGeom>
          <a:solidFill>
            <a:srgbClr val="DCF5E3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79" name="Text 64">
            <a:extLst>
              <a:ext uri="{FF2B5EF4-FFF2-40B4-BE49-F238E27FC236}">
                <a16:creationId xmlns:a16="http://schemas.microsoft.com/office/drawing/2014/main" id="{D62D6F78-DE7A-2DC4-A165-7C06DA6B7F56}"/>
              </a:ext>
            </a:extLst>
          </p:cNvPr>
          <p:cNvSpPr/>
          <p:nvPr/>
        </p:nvSpPr>
        <p:spPr>
          <a:xfrm>
            <a:off x="9311154" y="3786109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TRACE</a:t>
            </a:r>
            <a:endParaRPr lang="en-US" sz="800" dirty="0"/>
          </a:p>
        </p:txBody>
      </p:sp>
      <p:sp>
        <p:nvSpPr>
          <p:cNvPr id="15481" name="Text 65">
            <a:extLst>
              <a:ext uri="{FF2B5EF4-FFF2-40B4-BE49-F238E27FC236}">
                <a16:creationId xmlns:a16="http://schemas.microsoft.com/office/drawing/2014/main" id="{A797FDAC-D6F2-97AD-3F09-39A79A409D7F}"/>
              </a:ext>
            </a:extLst>
          </p:cNvPr>
          <p:cNvSpPr/>
          <p:nvPr/>
        </p:nvSpPr>
        <p:spPr>
          <a:xfrm>
            <a:off x="10394124" y="3515071"/>
            <a:ext cx="1107477" cy="1222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IDs, Otsu &amp; confidence metrics</a:t>
            </a:r>
            <a:endParaRPr lang="en-US" sz="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482" name="Rectangle: Rounded Corners 15481">
            <a:extLst>
              <a:ext uri="{FF2B5EF4-FFF2-40B4-BE49-F238E27FC236}">
                <a16:creationId xmlns:a16="http://schemas.microsoft.com/office/drawing/2014/main" id="{31B84D52-366B-FBC4-33C8-AC779C75555E}"/>
              </a:ext>
            </a:extLst>
          </p:cNvPr>
          <p:cNvSpPr/>
          <p:nvPr/>
        </p:nvSpPr>
        <p:spPr>
          <a:xfrm>
            <a:off x="9895260" y="1148597"/>
            <a:ext cx="1991645" cy="3875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451" name="Text 50">
            <a:extLst>
              <a:ext uri="{FF2B5EF4-FFF2-40B4-BE49-F238E27FC236}">
                <a16:creationId xmlns:a16="http://schemas.microsoft.com/office/drawing/2014/main" id="{52CF4F1C-2D33-199D-EA7C-B8A8ACB60FB3}"/>
              </a:ext>
            </a:extLst>
          </p:cNvPr>
          <p:cNvSpPr/>
          <p:nvPr/>
        </p:nvSpPr>
        <p:spPr>
          <a:xfrm>
            <a:off x="9223008" y="1211749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SIGNALS</a:t>
            </a:r>
            <a:endParaRPr lang="en-US" sz="1050" dirty="0"/>
          </a:p>
        </p:txBody>
      </p:sp>
      <p:pic>
        <p:nvPicPr>
          <p:cNvPr id="15489" name="Picture 15488">
            <a:extLst>
              <a:ext uri="{FF2B5EF4-FFF2-40B4-BE49-F238E27FC236}">
                <a16:creationId xmlns:a16="http://schemas.microsoft.com/office/drawing/2014/main" id="{4FF9580B-CCFD-0444-569D-D649C21F3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211687" y="1660520"/>
            <a:ext cx="182437" cy="182437"/>
          </a:xfrm>
          <a:prstGeom prst="rect">
            <a:avLst/>
          </a:prstGeom>
        </p:spPr>
      </p:pic>
      <p:pic>
        <p:nvPicPr>
          <p:cNvPr id="15491" name="Picture 15490">
            <a:extLst>
              <a:ext uri="{FF2B5EF4-FFF2-40B4-BE49-F238E27FC236}">
                <a16:creationId xmlns:a16="http://schemas.microsoft.com/office/drawing/2014/main" id="{14E18C88-8F4B-1831-412A-D4095BDD49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backgroundMark x1="2083" y1="43802" x2="2083" y2="43802"/>
                        <a14:backgroundMark x1="19583" y1="43802" x2="19583" y2="43802"/>
                        <a14:backgroundMark x1="19583" y1="43802" x2="19583" y2="43802"/>
                        <a14:backgroundMark x1="21771" y1="25208" x2="28333" y2="15365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1491859" y="1546088"/>
            <a:ext cx="334086" cy="334086"/>
          </a:xfrm>
          <a:prstGeom prst="rect">
            <a:avLst/>
          </a:prstGeom>
        </p:spPr>
      </p:pic>
      <p:pic>
        <p:nvPicPr>
          <p:cNvPr id="15493" name="Picture 15492">
            <a:extLst>
              <a:ext uri="{FF2B5EF4-FFF2-40B4-BE49-F238E27FC236}">
                <a16:creationId xmlns:a16="http://schemas.microsoft.com/office/drawing/2014/main" id="{30BCF59C-DE7A-4CBC-A143-40C9452918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250608" y="2501321"/>
            <a:ext cx="132221" cy="244540"/>
          </a:xfrm>
          <a:prstGeom prst="rect">
            <a:avLst/>
          </a:prstGeom>
        </p:spPr>
      </p:pic>
      <p:pic>
        <p:nvPicPr>
          <p:cNvPr id="15498" name="Picture 15497">
            <a:extLst>
              <a:ext uri="{FF2B5EF4-FFF2-40B4-BE49-F238E27FC236}">
                <a16:creationId xmlns:a16="http://schemas.microsoft.com/office/drawing/2014/main" id="{359ABFF4-A0A8-B17A-52A2-69CCBD6ABF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480347" y="2458390"/>
            <a:ext cx="299281" cy="299281"/>
          </a:xfrm>
          <a:prstGeom prst="rect">
            <a:avLst/>
          </a:prstGeom>
        </p:spPr>
      </p:pic>
      <p:pic>
        <p:nvPicPr>
          <p:cNvPr id="15500" name="Picture 15499">
            <a:extLst>
              <a:ext uri="{FF2B5EF4-FFF2-40B4-BE49-F238E27FC236}">
                <a16:creationId xmlns:a16="http://schemas.microsoft.com/office/drawing/2014/main" id="{14BB3CAC-FC4B-C0EB-3F6E-ADB1B6DD1B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0697736" y="3474214"/>
            <a:ext cx="444838" cy="444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457"/>
    </mc:Choice>
    <mc:Fallback>
      <p:transition spd="slow" advTm="1445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337F975-1AF2-1AFE-2330-C7209B59E2E7}"/>
              </a:ext>
            </a:extLst>
          </p:cNvPr>
          <p:cNvSpPr/>
          <p:nvPr/>
        </p:nvSpPr>
        <p:spPr>
          <a:xfrm>
            <a:off x="59141" y="4480236"/>
            <a:ext cx="268165" cy="2103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5557" y="30938"/>
            <a:ext cx="10972800" cy="57989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1400" b="1" dirty="0">
                <a:solidFill>
                  <a:schemeClr val="accent4">
                    <a:lumMod val="75000"/>
                  </a:schemeClr>
                </a:solidFill>
              </a:rPr>
              <a:t>Core Programming Languages, WebGIS Frameworks, Specialist AI Models &amp; Cloud Stack</a:t>
            </a:r>
            <a:endParaRPr lang="en-US" sz="36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73DBB8C-FB35-760A-4926-39247B3C5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0939" y="252246"/>
            <a:ext cx="14787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 err="1"/>
              <a:t>Manions</a:t>
            </a:r>
            <a:endParaRPr lang="en-IN" dirty="0"/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BABA4948-E08A-E4FA-E223-2C48C6D5B329}"/>
              </a:ext>
            </a:extLst>
          </p:cNvPr>
          <p:cNvSpPr/>
          <p:nvPr/>
        </p:nvSpPr>
        <p:spPr>
          <a:xfrm>
            <a:off x="171120" y="1137437"/>
            <a:ext cx="2937583" cy="369332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3C42A-BAB7-26A2-C5F9-26CA090A42D7}"/>
              </a:ext>
            </a:extLst>
          </p:cNvPr>
          <p:cNvSpPr txBox="1"/>
          <p:nvPr/>
        </p:nvSpPr>
        <p:spPr>
          <a:xfrm>
            <a:off x="505557" y="1058155"/>
            <a:ext cx="2937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Calibri" pitchFamily="34" charset="0"/>
              </a:rPr>
              <a:t>Technologies to be</a:t>
            </a:r>
            <a:r>
              <a:rPr lang="en-IN" b="1" dirty="0"/>
              <a:t> </a:t>
            </a:r>
            <a:r>
              <a:rPr lang="en-IN" b="1" i="0" dirty="0">
                <a:solidFill>
                  <a:schemeClr val="tx1"/>
                </a:solidFill>
                <a:effectLst/>
                <a:latin typeface="Calibri" pitchFamily="34" charset="0"/>
              </a:rPr>
              <a:t>Used</a:t>
            </a:r>
            <a:endParaRPr lang="en-IN" b="1" i="0" dirty="0">
              <a:solidFill>
                <a:srgbClr val="CCCCCC"/>
              </a:solidFill>
              <a:effectLst/>
              <a:latin typeface="system-u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D0903F-70A8-105B-1818-FC6029535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flipV="1">
            <a:off x="192099" y="1189073"/>
            <a:ext cx="384972" cy="369333"/>
          </a:xfrm>
          <a:prstGeom prst="rect">
            <a:avLst/>
          </a:prstGeom>
        </p:spPr>
      </p:pic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382F8438-B3F4-C5F0-5A4D-A216A7B6B52F}"/>
              </a:ext>
            </a:extLst>
          </p:cNvPr>
          <p:cNvSpPr/>
          <p:nvPr/>
        </p:nvSpPr>
        <p:spPr>
          <a:xfrm>
            <a:off x="43877" y="1552280"/>
            <a:ext cx="4832924" cy="2286438"/>
          </a:xfrm>
          <a:prstGeom prst="round2DiagRect">
            <a:avLst>
              <a:gd name="adj1" fmla="val 11053"/>
              <a:gd name="adj2" fmla="val 1697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F6CE0-31E3-0EC0-37D4-A5BD305F97FE}"/>
              </a:ext>
            </a:extLst>
          </p:cNvPr>
          <p:cNvSpPr txBox="1"/>
          <p:nvPr/>
        </p:nvSpPr>
        <p:spPr>
          <a:xfrm>
            <a:off x="165159" y="1494024"/>
            <a:ext cx="4483041" cy="245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>
              <a:spcBef>
                <a:spcPts val="900"/>
              </a:spcBef>
              <a:spcAft>
                <a:spcPts val="300"/>
              </a:spcAft>
            </a:pP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  🖥️ Programming Languages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Python 3.11:</a:t>
            </a:r>
            <a:r>
              <a:rPr lang="en-IN" dirty="0"/>
              <a:t> </a:t>
            </a:r>
            <a:r>
              <a:rPr lang="en-IN" sz="1300" dirty="0"/>
              <a:t>Core backend engine, remote-sensing data processing, spectral mathematics, and AI model orchestration.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TypeScript / JavaScript (ES2023):</a:t>
            </a:r>
            <a:r>
              <a:rPr lang="en-IN" dirty="0"/>
              <a:t> </a:t>
            </a:r>
            <a:r>
              <a:rPr lang="en-IN" sz="1300" dirty="0"/>
              <a:t>Type-safe frontend client, interactive WebGIS workbench, and asynchronous API     communication</a:t>
            </a:r>
            <a:r>
              <a:rPr lang="en-IN" dirty="0"/>
              <a:t>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HTML5 &amp; CSS3:</a:t>
            </a:r>
            <a:r>
              <a:rPr lang="en-IN" sz="1400" dirty="0"/>
              <a:t> </a:t>
            </a:r>
            <a:r>
              <a:rPr lang="en-IN" sz="1300" dirty="0"/>
              <a:t>Canvas-based pixel manipulation, high-contrast visual overlays, and responsive presentation layouts.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04285F-10E7-E07C-59F6-469BBEBECE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556" b="89778" l="8444" r="92889">
                        <a14:foregroundMark x1="38667" y1="15111" x2="38667" y2="15111"/>
                        <a14:foregroundMark x1="38667" y1="15111" x2="58222" y2="33778"/>
                        <a14:foregroundMark x1="58222" y1="33778" x2="58667" y2="65333"/>
                        <a14:foregroundMark x1="58667" y1="65333" x2="56444" y2="54667"/>
                        <a14:foregroundMark x1="37333" y1="11556" x2="60889" y2="4889"/>
                        <a14:foregroundMark x1="60889" y1="4889" x2="34222" y2="9333"/>
                        <a14:foregroundMark x1="34222" y1="9333" x2="59556" y2="6222"/>
                        <a14:foregroundMark x1="59556" y1="6222" x2="36444" y2="6667"/>
                        <a14:foregroundMark x1="36444" y1="6667" x2="53333" y2="7556"/>
                        <a14:foregroundMark x1="88000" y1="30667" x2="88444" y2="30667"/>
                        <a14:foregroundMark x1="43556" y1="3556" x2="56444" y2="3556"/>
                        <a14:foregroundMark x1="88000" y1="30667" x2="93333" y2="55556"/>
                        <a14:foregroundMark x1="93333" y1="55556" x2="89333" y2="63111"/>
                        <a14:foregroundMark x1="63111" y1="76444" x2="63111" y2="78222"/>
                        <a14:foregroundMark x1="10222" y1="30222" x2="9778" y2="56889"/>
                        <a14:foregroundMark x1="9778" y1="56889" x2="8444" y2="33333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81698" y="2084292"/>
            <a:ext cx="273097" cy="2730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ED8D09-1DF0-CC3E-9EC3-2E0C68F025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64529" y="2476654"/>
            <a:ext cx="268165" cy="3460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4D568BC-2710-0908-3365-0C5F3D38E6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27676" y="3124829"/>
            <a:ext cx="498484" cy="364744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79429365-5016-4F8D-9D59-5CE3D364756E}"/>
              </a:ext>
            </a:extLst>
          </p:cNvPr>
          <p:cNvSpPr/>
          <p:nvPr/>
        </p:nvSpPr>
        <p:spPr>
          <a:xfrm>
            <a:off x="120302" y="4867609"/>
            <a:ext cx="264283" cy="2928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4CC797-0611-DBEA-B92B-32D667EC0304}"/>
              </a:ext>
            </a:extLst>
          </p:cNvPr>
          <p:cNvSpPr/>
          <p:nvPr/>
        </p:nvSpPr>
        <p:spPr>
          <a:xfrm>
            <a:off x="130939" y="5252894"/>
            <a:ext cx="353460" cy="11366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: Diagonal Corners Rounded 57">
            <a:extLst>
              <a:ext uri="{FF2B5EF4-FFF2-40B4-BE49-F238E27FC236}">
                <a16:creationId xmlns:a16="http://schemas.microsoft.com/office/drawing/2014/main" id="{695FC921-0A75-E33D-4C45-C9E7816D0111}"/>
              </a:ext>
            </a:extLst>
          </p:cNvPr>
          <p:cNvSpPr/>
          <p:nvPr/>
        </p:nvSpPr>
        <p:spPr>
          <a:xfrm>
            <a:off x="120688" y="6616315"/>
            <a:ext cx="405472" cy="178570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027104-253C-2112-F536-E9B3DDE89A14}"/>
              </a:ext>
            </a:extLst>
          </p:cNvPr>
          <p:cNvSpPr txBox="1"/>
          <p:nvPr/>
        </p:nvSpPr>
        <p:spPr>
          <a:xfrm>
            <a:off x="29321" y="3974556"/>
            <a:ext cx="6276259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             </a:t>
            </a:r>
            <a:r>
              <a:rPr lang="en-IN" b="1" dirty="0"/>
              <a:t>Other Technologies</a:t>
            </a:r>
            <a:endParaRPr lang="en-IN" sz="14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Geospatial &amp; Vector Core</a:t>
            </a:r>
            <a:r>
              <a:rPr lang="en-IN" sz="1300" b="1" dirty="0"/>
              <a:t>: </a:t>
            </a:r>
            <a:r>
              <a:rPr lang="en-IN" sz="1300" dirty="0"/>
              <a:t>Rasterio, GDAL, NumPy (vectorized multi-band array math), OpenCV, PIL (Pillow), Scikit-learn, Shapely</a:t>
            </a:r>
            <a:r>
              <a:rPr lang="en-IN" sz="1400" dirty="0"/>
              <a:t>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Specialist AI &amp; Deep Learning Models: </a:t>
            </a:r>
          </a:p>
          <a:p>
            <a:pPr marL="342900" indent="-342900">
              <a:buFont typeface="+mj-lt"/>
              <a:buAutoNum type="alphaLcPeriod"/>
            </a:pPr>
            <a:r>
              <a:rPr lang="en-IN" sz="1300" dirty="0"/>
              <a:t>RS-VQA-Specialist: Fine-tuned on RSVQA &amp; VRSBench for natural language visual question answering. </a:t>
            </a:r>
          </a:p>
          <a:p>
            <a:pPr marL="342900" indent="-342900">
              <a:buFont typeface="+mj-lt"/>
              <a:buAutoNum type="alphaLcPeriod"/>
            </a:pPr>
            <a:r>
              <a:rPr lang="en-IN" sz="1300" dirty="0"/>
              <a:t>RS-</a:t>
            </a:r>
            <a:r>
              <a:rPr lang="en-IN" sz="1300" dirty="0" err="1"/>
              <a:t>BigEarthNet</a:t>
            </a:r>
            <a:r>
              <a:rPr lang="en-IN" sz="1300" dirty="0"/>
              <a:t>-Captioner: 19-class CORINE hierarchical land-cover taxonomy classification. </a:t>
            </a:r>
          </a:p>
          <a:p>
            <a:pPr marL="342900" indent="-342900">
              <a:buFont typeface="+mj-lt"/>
              <a:buAutoNum type="alphaLcPeriod"/>
            </a:pPr>
            <a:r>
              <a:rPr lang="en-IN" sz="1200" dirty="0"/>
              <a:t>RS-</a:t>
            </a:r>
            <a:r>
              <a:rPr lang="en-IN" sz="1200" dirty="0" err="1"/>
              <a:t>BiTemporal</a:t>
            </a:r>
            <a:r>
              <a:rPr lang="en-IN" sz="1200" dirty="0"/>
              <a:t>-CD-Engine: Siamese feature differencing network (LEVIR-CD &amp; CDVQA) for change detection</a:t>
            </a:r>
            <a:r>
              <a:rPr lang="en-IN" sz="1050" dirty="0"/>
              <a:t>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b="1" dirty="0"/>
              <a:t>Satellite Feeds &amp; APIs: </a:t>
            </a:r>
            <a:r>
              <a:rPr lang="en-IN" sz="1200" dirty="0"/>
              <a:t>Copernicus Sentinel-2 L2A (10m Optical), Sentinel-1 GRD (C-band SAR), USGS Landsat-8/9, ISRO Bhuvan archives, OpenStreetMap Nominatim</a:t>
            </a:r>
            <a:r>
              <a:rPr lang="en-IN" sz="1100" dirty="0"/>
              <a:t>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b="1" dirty="0"/>
              <a:t>Cloud Infrastructure &amp; DevOps: </a:t>
            </a:r>
            <a:r>
              <a:rPr lang="en-IN" sz="1200" dirty="0"/>
              <a:t>Vercel Global Edge Network, Supabase Cloud Auth/DB, Docker, GitHub Actions CI/CD. </a:t>
            </a:r>
          </a:p>
        </p:txBody>
      </p:sp>
      <p:pic>
        <p:nvPicPr>
          <p:cNvPr id="17418" name="Picture 17417">
            <a:extLst>
              <a:ext uri="{FF2B5EF4-FFF2-40B4-BE49-F238E27FC236}">
                <a16:creationId xmlns:a16="http://schemas.microsoft.com/office/drawing/2014/main" id="{5A954E1E-4A85-5819-79B5-B8074FDA07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4271" b="94688" l="8802" r="91771">
                        <a14:foregroundMark x1="8958" y1="24167" x2="9844" y2="29323"/>
                        <a14:foregroundMark x1="23177" y1="10365" x2="22396" y2="18333"/>
                        <a14:foregroundMark x1="22396" y1="18333" x2="27708" y2="13490"/>
                        <a14:foregroundMark x1="27708" y1="13490" x2="22604" y2="10521"/>
                        <a14:foregroundMark x1="12969" y1="26510" x2="12969" y2="26510"/>
                        <a14:foregroundMark x1="12969" y1="26510" x2="13698" y2="24896"/>
                        <a14:foregroundMark x1="47031" y1="5052" x2="48125" y2="12031"/>
                        <a14:foregroundMark x1="48125" y1="12031" x2="53750" y2="6719"/>
                        <a14:foregroundMark x1="53750" y1="6719" x2="48385" y2="4271"/>
                        <a14:foregroundMark x1="76510" y1="11406" x2="69948" y2="16198"/>
                        <a14:foregroundMark x1="69948" y1="16198" x2="78281" y2="16302"/>
                        <a14:foregroundMark x1="78281" y1="16302" x2="80833" y2="14219"/>
                        <a14:foregroundMark x1="90313" y1="28021" x2="91771" y2="22656"/>
                        <a14:foregroundMark x1="57552" y1="35260" x2="46250" y2="33021"/>
                        <a14:foregroundMark x1="46250" y1="33021" x2="44375" y2="34531"/>
                        <a14:foregroundMark x1="47344" y1="42240" x2="43646" y2="45469"/>
                        <a14:foregroundMark x1="87917" y1="24740" x2="87917" y2="24740"/>
                        <a14:foregroundMark x1="45417" y1="46979" x2="45417" y2="46979"/>
                        <a14:foregroundMark x1="49531" y1="44740" x2="52500" y2="38438"/>
                        <a14:foregroundMark x1="52500" y1="38438" x2="44583" y2="46042"/>
                        <a14:foregroundMark x1="44583" y1="46042" x2="48646" y2="50938"/>
                        <a14:foregroundMark x1="37552" y1="93906" x2="49271" y2="94688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140197" y="3904374"/>
            <a:ext cx="374218" cy="3742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A82270-A2D9-BAFC-50A9-530177FDBDE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91957" y="5340770"/>
            <a:ext cx="6200043" cy="1493715"/>
          </a:xfrm>
          <a:prstGeom prst="rect">
            <a:avLst/>
          </a:prstGeom>
        </p:spPr>
      </p:pic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F20B174F-4B77-CD6A-815D-7BEE6B129C6E}"/>
              </a:ext>
            </a:extLst>
          </p:cNvPr>
          <p:cNvSpPr/>
          <p:nvPr/>
        </p:nvSpPr>
        <p:spPr>
          <a:xfrm>
            <a:off x="5029650" y="733172"/>
            <a:ext cx="2441100" cy="26809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chemeClr val="tx1"/>
                </a:solidFill>
                <a:latin typeface="Aptos"/>
              </a:rPr>
              <a:t>User Query &amp; Multi-Modal </a:t>
            </a:r>
            <a:r>
              <a:rPr sz="700" b="1" dirty="0" err="1">
                <a:solidFill>
                  <a:schemeClr val="tx1"/>
                </a:solidFill>
                <a:latin typeface="Aptos"/>
              </a:rPr>
              <a:t>GeoTIFF</a:t>
            </a:r>
            <a:r>
              <a:rPr sz="700" b="1" dirty="0">
                <a:solidFill>
                  <a:schemeClr val="tx1"/>
                </a:solidFill>
                <a:latin typeface="Aptos"/>
              </a:rPr>
              <a:t> Upload</a:t>
            </a:r>
          </a:p>
        </p:txBody>
      </p:sp>
      <p:cxnSp>
        <p:nvCxnSpPr>
          <p:cNvPr id="19" name="Connector 4">
            <a:extLst>
              <a:ext uri="{FF2B5EF4-FFF2-40B4-BE49-F238E27FC236}">
                <a16:creationId xmlns:a16="http://schemas.microsoft.com/office/drawing/2014/main" id="{EC08114D-20DE-8C41-F4DB-B5ED7D15D997}"/>
              </a:ext>
            </a:extLst>
          </p:cNvPr>
          <p:cNvCxnSpPr>
            <a:cxnSpLocks/>
          </p:cNvCxnSpPr>
          <p:nvPr/>
        </p:nvCxnSpPr>
        <p:spPr>
          <a:xfrm>
            <a:off x="6250200" y="1008894"/>
            <a:ext cx="0" cy="63497"/>
          </a:xfrm>
          <a:prstGeom prst="line">
            <a:avLst/>
          </a:prstGeom>
          <a:ln w="1397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6040B179-59C7-DBB1-9DF9-815EEC343076}"/>
              </a:ext>
            </a:extLst>
          </p:cNvPr>
          <p:cNvSpPr/>
          <p:nvPr/>
        </p:nvSpPr>
        <p:spPr>
          <a:xfrm>
            <a:off x="5029650" y="1072391"/>
            <a:ext cx="2441100" cy="26809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chemeClr val="tx1"/>
                </a:solidFill>
                <a:latin typeface="Aptos"/>
              </a:rPr>
              <a:t>CRS, EPSG &amp; GSD Spatial Validation</a:t>
            </a:r>
          </a:p>
        </p:txBody>
      </p:sp>
      <p:cxnSp>
        <p:nvCxnSpPr>
          <p:cNvPr id="22" name="Connector 6">
            <a:extLst>
              <a:ext uri="{FF2B5EF4-FFF2-40B4-BE49-F238E27FC236}">
                <a16:creationId xmlns:a16="http://schemas.microsoft.com/office/drawing/2014/main" id="{14572D26-55A1-6F88-20BA-724DDB24D133}"/>
              </a:ext>
            </a:extLst>
          </p:cNvPr>
          <p:cNvCxnSpPr/>
          <p:nvPr/>
        </p:nvCxnSpPr>
        <p:spPr>
          <a:xfrm>
            <a:off x="6250200" y="1341990"/>
            <a:ext cx="0" cy="63497"/>
          </a:xfrm>
          <a:prstGeom prst="line">
            <a:avLst/>
          </a:prstGeom>
          <a:ln w="1397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F5B2C1D1-CF7D-2DB3-D2B8-06020DBFA927}"/>
              </a:ext>
            </a:extLst>
          </p:cNvPr>
          <p:cNvSpPr/>
          <p:nvPr/>
        </p:nvSpPr>
        <p:spPr>
          <a:xfrm>
            <a:off x="5044965" y="1403985"/>
            <a:ext cx="2441100" cy="26809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chemeClr val="tx1"/>
                </a:solidFill>
                <a:latin typeface="Aptos"/>
              </a:rPr>
              <a:t>Bilinear Resampling &amp; Radiometric Normalization</a:t>
            </a:r>
          </a:p>
        </p:txBody>
      </p:sp>
      <p:cxnSp>
        <p:nvCxnSpPr>
          <p:cNvPr id="25" name="Connector 8">
            <a:extLst>
              <a:ext uri="{FF2B5EF4-FFF2-40B4-BE49-F238E27FC236}">
                <a16:creationId xmlns:a16="http://schemas.microsoft.com/office/drawing/2014/main" id="{CD128CBF-9CF2-8304-9FAA-1EB0CBC9C7D9}"/>
              </a:ext>
            </a:extLst>
          </p:cNvPr>
          <p:cNvCxnSpPr>
            <a:cxnSpLocks/>
          </p:cNvCxnSpPr>
          <p:nvPr/>
        </p:nvCxnSpPr>
        <p:spPr>
          <a:xfrm>
            <a:off x="6250275" y="1672083"/>
            <a:ext cx="0" cy="63497"/>
          </a:xfrm>
          <a:prstGeom prst="line">
            <a:avLst/>
          </a:prstGeom>
          <a:ln w="1397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EC7CD5FB-565C-E336-5272-F69E12CC9227}"/>
              </a:ext>
            </a:extLst>
          </p:cNvPr>
          <p:cNvSpPr/>
          <p:nvPr/>
        </p:nvSpPr>
        <p:spPr>
          <a:xfrm>
            <a:off x="5029650" y="1749690"/>
            <a:ext cx="2441100" cy="26809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 err="1">
                <a:solidFill>
                  <a:schemeClr val="tx1"/>
                </a:solidFill>
                <a:latin typeface="Aptos"/>
              </a:rPr>
              <a:t>Rasterio</a:t>
            </a:r>
            <a:r>
              <a:rPr sz="700" b="1" dirty="0">
                <a:solidFill>
                  <a:schemeClr val="tx1"/>
                </a:solidFill>
                <a:latin typeface="Aptos"/>
              </a:rPr>
              <a:t> Memory Tensor Pack</a:t>
            </a:r>
            <a:endParaRPr sz="540" b="1" dirty="0">
              <a:solidFill>
                <a:schemeClr val="tx1"/>
              </a:solidFill>
              <a:latin typeface="Aptos"/>
            </a:endParaRPr>
          </a:p>
        </p:txBody>
      </p:sp>
      <p:cxnSp>
        <p:nvCxnSpPr>
          <p:cNvPr id="29" name="Connector 11">
            <a:extLst>
              <a:ext uri="{FF2B5EF4-FFF2-40B4-BE49-F238E27FC236}">
                <a16:creationId xmlns:a16="http://schemas.microsoft.com/office/drawing/2014/main" id="{2FCA7D89-173C-7FEF-831F-958D14B33922}"/>
              </a:ext>
            </a:extLst>
          </p:cNvPr>
          <p:cNvCxnSpPr/>
          <p:nvPr/>
        </p:nvCxnSpPr>
        <p:spPr>
          <a:xfrm>
            <a:off x="6250200" y="2010212"/>
            <a:ext cx="0" cy="148159"/>
          </a:xfrm>
          <a:prstGeom prst="line">
            <a:avLst/>
          </a:prstGeom>
          <a:ln w="1397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63818202-5FC8-64F9-D1CA-B852FCE36BDD}"/>
              </a:ext>
            </a:extLst>
          </p:cNvPr>
          <p:cNvSpPr/>
          <p:nvPr/>
        </p:nvSpPr>
        <p:spPr>
          <a:xfrm>
            <a:off x="5128423" y="2134424"/>
            <a:ext cx="2243554" cy="26809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rgbClr val="964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chemeClr val="tx1"/>
                </a:solidFill>
                <a:latin typeface="Aptos"/>
              </a:rPr>
              <a:t>Semantic Intent &amp; Keyword Parser</a:t>
            </a:r>
          </a:p>
        </p:txBody>
      </p:sp>
      <p:cxnSp>
        <p:nvCxnSpPr>
          <p:cNvPr id="31" name="Connector 13">
            <a:extLst>
              <a:ext uri="{FF2B5EF4-FFF2-40B4-BE49-F238E27FC236}">
                <a16:creationId xmlns:a16="http://schemas.microsoft.com/office/drawing/2014/main" id="{894B3725-4567-CF5A-3045-291F0A602353}"/>
              </a:ext>
            </a:extLst>
          </p:cNvPr>
          <p:cNvCxnSpPr/>
          <p:nvPr/>
        </p:nvCxnSpPr>
        <p:spPr>
          <a:xfrm>
            <a:off x="6254010" y="2419370"/>
            <a:ext cx="0" cy="77607"/>
          </a:xfrm>
          <a:prstGeom prst="line">
            <a:avLst/>
          </a:prstGeom>
          <a:ln w="13970">
            <a:solidFill>
              <a:srgbClr val="964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5">
            <a:extLst>
              <a:ext uri="{FF2B5EF4-FFF2-40B4-BE49-F238E27FC236}">
                <a16:creationId xmlns:a16="http://schemas.microsoft.com/office/drawing/2014/main" id="{BECEA130-90B4-58F0-B808-7B99BD768CAF}"/>
              </a:ext>
            </a:extLst>
          </p:cNvPr>
          <p:cNvCxnSpPr/>
          <p:nvPr/>
        </p:nvCxnSpPr>
        <p:spPr>
          <a:xfrm>
            <a:off x="6246390" y="3066978"/>
            <a:ext cx="0" cy="84662"/>
          </a:xfrm>
          <a:prstGeom prst="line">
            <a:avLst/>
          </a:prstGeom>
          <a:ln w="13970">
            <a:solidFill>
              <a:srgbClr val="964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76E9CB34-E6B3-8745-49AC-A09A53C84C6E}"/>
              </a:ext>
            </a:extLst>
          </p:cNvPr>
          <p:cNvSpPr/>
          <p:nvPr/>
        </p:nvSpPr>
        <p:spPr>
          <a:xfrm>
            <a:off x="5198640" y="3153676"/>
            <a:ext cx="2116561" cy="26809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rgbClr val="964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chemeClr val="tx1"/>
                </a:solidFill>
                <a:latin typeface="Aptos"/>
              </a:rPr>
              <a:t>C-Band SAR Microwave Failover</a:t>
            </a:r>
          </a:p>
        </p:txBody>
      </p:sp>
      <p:cxnSp>
        <p:nvCxnSpPr>
          <p:cNvPr id="39" name="Connector 17">
            <a:extLst>
              <a:ext uri="{FF2B5EF4-FFF2-40B4-BE49-F238E27FC236}">
                <a16:creationId xmlns:a16="http://schemas.microsoft.com/office/drawing/2014/main" id="{090E3D4D-ABCE-0A96-ADCA-94FC3CABB5E8}"/>
              </a:ext>
            </a:extLst>
          </p:cNvPr>
          <p:cNvCxnSpPr/>
          <p:nvPr/>
        </p:nvCxnSpPr>
        <p:spPr>
          <a:xfrm>
            <a:off x="6246390" y="3414719"/>
            <a:ext cx="0" cy="84662"/>
          </a:xfrm>
          <a:prstGeom prst="line">
            <a:avLst/>
          </a:prstGeom>
          <a:ln w="13970">
            <a:solidFill>
              <a:srgbClr val="964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18">
            <a:extLst>
              <a:ext uri="{FF2B5EF4-FFF2-40B4-BE49-F238E27FC236}">
                <a16:creationId xmlns:a16="http://schemas.microsoft.com/office/drawing/2014/main" id="{F2D6B7AC-4C4C-E288-03E2-8B51271D4FC8}"/>
              </a:ext>
            </a:extLst>
          </p:cNvPr>
          <p:cNvSpPr/>
          <p:nvPr/>
        </p:nvSpPr>
        <p:spPr>
          <a:xfrm>
            <a:off x="5329213" y="3506436"/>
            <a:ext cx="1834353" cy="26809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rgbClr val="964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chemeClr val="tx1"/>
                </a:solidFill>
                <a:latin typeface="Aptos"/>
              </a:rPr>
              <a:t>Auditable Execution Tracer</a:t>
            </a: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03C9F884-8D9E-3CE8-EAEC-F2216CB8B2B2}"/>
              </a:ext>
            </a:extLst>
          </p:cNvPr>
          <p:cNvSpPr/>
          <p:nvPr/>
        </p:nvSpPr>
        <p:spPr>
          <a:xfrm>
            <a:off x="5523514" y="2516672"/>
            <a:ext cx="1453372" cy="55030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17780">
            <a:solidFill>
              <a:srgbClr val="FFC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 dirty="0">
                <a:solidFill>
                  <a:schemeClr val="tx1"/>
                </a:solidFill>
                <a:latin typeface="Aptos"/>
              </a:rPr>
              <a:t>Cloud Screening Gate
(Coverage &gt; 15%?)</a:t>
            </a:r>
          </a:p>
        </p:txBody>
      </p:sp>
      <p:cxnSp>
        <p:nvCxnSpPr>
          <p:cNvPr id="47" name="Connector 20">
            <a:extLst>
              <a:ext uri="{FF2B5EF4-FFF2-40B4-BE49-F238E27FC236}">
                <a16:creationId xmlns:a16="http://schemas.microsoft.com/office/drawing/2014/main" id="{7A72CD36-BA61-6678-4034-64471D26DD6D}"/>
              </a:ext>
            </a:extLst>
          </p:cNvPr>
          <p:cNvCxnSpPr>
            <a:cxnSpLocks/>
          </p:cNvCxnSpPr>
          <p:nvPr/>
        </p:nvCxnSpPr>
        <p:spPr>
          <a:xfrm>
            <a:off x="9822427" y="2212847"/>
            <a:ext cx="0" cy="394875"/>
          </a:xfrm>
          <a:prstGeom prst="line">
            <a:avLst/>
          </a:prstGeom>
          <a:ln w="13970">
            <a:solidFill>
              <a:srgbClr val="964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64511F2-A1A3-DD58-91EE-7827C2D71973}"/>
              </a:ext>
            </a:extLst>
          </p:cNvPr>
          <p:cNvSpPr txBox="1"/>
          <p:nvPr/>
        </p:nvSpPr>
        <p:spPr>
          <a:xfrm>
            <a:off x="7564762" y="2559323"/>
            <a:ext cx="473206" cy="1814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9" b="1">
                <a:solidFill>
                  <a:srgbClr val="EB6919"/>
                </a:solidFill>
                <a:latin typeface="Aptos"/>
              </a:rPr>
              <a:t>PHASE 3</a:t>
            </a: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AC86F6B1-F739-E7D7-09AB-E64FF47AE836}"/>
              </a:ext>
            </a:extLst>
          </p:cNvPr>
          <p:cNvSpPr/>
          <p:nvPr/>
        </p:nvSpPr>
        <p:spPr>
          <a:xfrm>
            <a:off x="7473045" y="2607722"/>
            <a:ext cx="846624" cy="3386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5240">
            <a:solidFill>
              <a:srgbClr val="EB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" b="1" dirty="0">
                <a:solidFill>
                  <a:schemeClr val="tx1"/>
                </a:solidFill>
                <a:latin typeface="Aptos"/>
              </a:rPr>
              <a:t>Spectral Engine
(NDVI, NDWI, NDBI</a:t>
            </a:r>
            <a:r>
              <a:rPr sz="432" b="1" dirty="0">
                <a:solidFill>
                  <a:schemeClr val="tx1"/>
                </a:solidFill>
                <a:latin typeface="Aptos"/>
              </a:rPr>
              <a:t>)</a:t>
            </a:r>
          </a:p>
        </p:txBody>
      </p:sp>
      <p:sp>
        <p:nvSpPr>
          <p:cNvPr id="53" name="Rounded Rectangle 23">
            <a:extLst>
              <a:ext uri="{FF2B5EF4-FFF2-40B4-BE49-F238E27FC236}">
                <a16:creationId xmlns:a16="http://schemas.microsoft.com/office/drawing/2014/main" id="{9A1003E7-B8E4-ED76-BC0F-D9C1EB4E0CFC}"/>
              </a:ext>
            </a:extLst>
          </p:cNvPr>
          <p:cNvSpPr/>
          <p:nvPr/>
        </p:nvSpPr>
        <p:spPr>
          <a:xfrm>
            <a:off x="8432552" y="2607722"/>
            <a:ext cx="846624" cy="3386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5240">
            <a:solidFill>
              <a:srgbClr val="EB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" b="1" dirty="0">
                <a:solidFill>
                  <a:schemeClr val="tx1"/>
                </a:solidFill>
                <a:latin typeface="Aptos"/>
              </a:rPr>
              <a:t>RS-VQA Specialist
(</a:t>
            </a:r>
            <a:r>
              <a:rPr sz="500" b="1" dirty="0" err="1">
                <a:solidFill>
                  <a:schemeClr val="tx1"/>
                </a:solidFill>
                <a:latin typeface="Aptos"/>
              </a:rPr>
              <a:t>VRSBench</a:t>
            </a:r>
            <a:r>
              <a:rPr sz="500" b="1" dirty="0">
                <a:solidFill>
                  <a:schemeClr val="tx1"/>
                </a:solidFill>
                <a:latin typeface="Aptos"/>
              </a:rPr>
              <a:t> / CLIP)</a:t>
            </a:r>
          </a:p>
        </p:txBody>
      </p:sp>
      <p:sp>
        <p:nvSpPr>
          <p:cNvPr id="54" name="Rounded Rectangle 24">
            <a:extLst>
              <a:ext uri="{FF2B5EF4-FFF2-40B4-BE49-F238E27FC236}">
                <a16:creationId xmlns:a16="http://schemas.microsoft.com/office/drawing/2014/main" id="{225B4960-94F5-E116-D724-7CF7F3DCC085}"/>
              </a:ext>
            </a:extLst>
          </p:cNvPr>
          <p:cNvSpPr/>
          <p:nvPr/>
        </p:nvSpPr>
        <p:spPr>
          <a:xfrm>
            <a:off x="9392060" y="2607722"/>
            <a:ext cx="846624" cy="3386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5240">
            <a:solidFill>
              <a:srgbClr val="EB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" b="1" dirty="0">
                <a:solidFill>
                  <a:schemeClr val="tx1"/>
                </a:solidFill>
                <a:latin typeface="Aptos"/>
              </a:rPr>
              <a:t>Bi-Temporal LEVIR-CD
(Siamese CNN)</a:t>
            </a:r>
          </a:p>
        </p:txBody>
      </p:sp>
      <p:sp>
        <p:nvSpPr>
          <p:cNvPr id="56" name="Rounded Rectangle 25">
            <a:extLst>
              <a:ext uri="{FF2B5EF4-FFF2-40B4-BE49-F238E27FC236}">
                <a16:creationId xmlns:a16="http://schemas.microsoft.com/office/drawing/2014/main" id="{D774FF43-0122-6168-2F63-E7D824D84326}"/>
              </a:ext>
            </a:extLst>
          </p:cNvPr>
          <p:cNvSpPr/>
          <p:nvPr/>
        </p:nvSpPr>
        <p:spPr>
          <a:xfrm>
            <a:off x="10351567" y="2607722"/>
            <a:ext cx="846624" cy="3386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5240">
            <a:solidFill>
              <a:srgbClr val="EB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" b="1" dirty="0">
                <a:solidFill>
                  <a:schemeClr val="tx1"/>
                </a:solidFill>
                <a:latin typeface="Aptos"/>
              </a:rPr>
              <a:t>Region Grounding </a:t>
            </a:r>
            <a:r>
              <a:rPr sz="500" b="1" dirty="0" err="1">
                <a:solidFill>
                  <a:schemeClr val="tx1"/>
                </a:solidFill>
                <a:latin typeface="Aptos"/>
              </a:rPr>
              <a:t>ViT</a:t>
            </a:r>
            <a:r>
              <a:rPr sz="500" b="1" dirty="0">
                <a:solidFill>
                  <a:schemeClr val="tx1"/>
                </a:solidFill>
                <a:latin typeface="Aptos"/>
              </a:rPr>
              <a:t>
(Bounding Boxes</a:t>
            </a:r>
            <a:r>
              <a:rPr sz="432" b="1" dirty="0">
                <a:solidFill>
                  <a:srgbClr val="EBEBEB"/>
                </a:solidFill>
                <a:latin typeface="Aptos"/>
              </a:rPr>
              <a:t>)</a:t>
            </a:r>
          </a:p>
        </p:txBody>
      </p:sp>
      <p:sp>
        <p:nvSpPr>
          <p:cNvPr id="59" name="Rounded Rectangle 26">
            <a:extLst>
              <a:ext uri="{FF2B5EF4-FFF2-40B4-BE49-F238E27FC236}">
                <a16:creationId xmlns:a16="http://schemas.microsoft.com/office/drawing/2014/main" id="{FC3FE33F-FD41-E325-9684-0518E2484899}"/>
              </a:ext>
            </a:extLst>
          </p:cNvPr>
          <p:cNvSpPr/>
          <p:nvPr/>
        </p:nvSpPr>
        <p:spPr>
          <a:xfrm>
            <a:off x="11311075" y="2607722"/>
            <a:ext cx="846624" cy="3386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5240">
            <a:solidFill>
              <a:srgbClr val="EB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" b="1" dirty="0" err="1">
                <a:solidFill>
                  <a:schemeClr val="tx1"/>
                </a:solidFill>
                <a:latin typeface="Aptos"/>
              </a:rPr>
              <a:t>BigEarthNet</a:t>
            </a:r>
            <a:r>
              <a:rPr sz="500" b="1" dirty="0">
                <a:solidFill>
                  <a:schemeClr val="tx1"/>
                </a:solidFill>
                <a:latin typeface="Aptos"/>
              </a:rPr>
              <a:t> Land-Cover Classifier</a:t>
            </a:r>
          </a:p>
        </p:txBody>
      </p:sp>
      <p:cxnSp>
        <p:nvCxnSpPr>
          <p:cNvPr id="62" name="Connector 27">
            <a:extLst>
              <a:ext uri="{FF2B5EF4-FFF2-40B4-BE49-F238E27FC236}">
                <a16:creationId xmlns:a16="http://schemas.microsoft.com/office/drawing/2014/main" id="{8DB9F1A1-DAE7-0AE6-C89B-83B7610B68CF}"/>
              </a:ext>
            </a:extLst>
          </p:cNvPr>
          <p:cNvCxnSpPr/>
          <p:nvPr/>
        </p:nvCxnSpPr>
        <p:spPr>
          <a:xfrm>
            <a:off x="9822427" y="2946372"/>
            <a:ext cx="0" cy="84662"/>
          </a:xfrm>
          <a:prstGeom prst="line">
            <a:avLst/>
          </a:prstGeom>
          <a:ln w="13970">
            <a:solidFill>
              <a:srgbClr val="EB6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1" name="Connector: Elbow 17410">
            <a:extLst>
              <a:ext uri="{FF2B5EF4-FFF2-40B4-BE49-F238E27FC236}">
                <a16:creationId xmlns:a16="http://schemas.microsoft.com/office/drawing/2014/main" id="{881403CE-21CF-79C9-2099-0C2BB046C5D3}"/>
              </a:ext>
            </a:extLst>
          </p:cNvPr>
          <p:cNvCxnSpPr>
            <a:cxnSpLocks/>
            <a:stCxn id="40" idx="2"/>
          </p:cNvCxnSpPr>
          <p:nvPr/>
        </p:nvCxnSpPr>
        <p:spPr>
          <a:xfrm rot="5400000" flipH="1" flipV="1">
            <a:off x="7253565" y="1205671"/>
            <a:ext cx="1561687" cy="3576039"/>
          </a:xfrm>
          <a:prstGeom prst="bentConnector4">
            <a:avLst>
              <a:gd name="adj1" fmla="val -14638"/>
              <a:gd name="adj2" fmla="val 32992"/>
            </a:avLst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436" name="Diamond 17435">
            <a:extLst>
              <a:ext uri="{FF2B5EF4-FFF2-40B4-BE49-F238E27FC236}">
                <a16:creationId xmlns:a16="http://schemas.microsoft.com/office/drawing/2014/main" id="{F39F33BC-08C9-D141-3C96-D01E6914695F}"/>
              </a:ext>
            </a:extLst>
          </p:cNvPr>
          <p:cNvSpPr/>
          <p:nvPr/>
        </p:nvSpPr>
        <p:spPr>
          <a:xfrm>
            <a:off x="9082455" y="3037491"/>
            <a:ext cx="1474867" cy="592271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17780">
            <a:solidFill>
              <a:srgbClr val="FFC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 dirty="0">
                <a:solidFill>
                  <a:schemeClr val="tx1"/>
                </a:solidFill>
                <a:latin typeface="Aptos"/>
              </a:rPr>
              <a:t>Adaptive Otsu Thresholding</a:t>
            </a:r>
            <a:endParaRPr lang="en-IN" sz="600" b="1" dirty="0">
              <a:solidFill>
                <a:schemeClr val="tx1"/>
              </a:solidFill>
              <a:latin typeface="Aptos"/>
            </a:endParaRPr>
          </a:p>
          <a:p>
            <a:pPr algn="ctr"/>
            <a:r>
              <a:rPr sz="600" b="1" dirty="0">
                <a:solidFill>
                  <a:schemeClr val="tx1"/>
                </a:solidFill>
                <a:latin typeface="Aptos"/>
              </a:rPr>
              <a:t>Gate
(Confidence ≥ 80%)</a:t>
            </a:r>
          </a:p>
        </p:txBody>
      </p:sp>
      <p:cxnSp>
        <p:nvCxnSpPr>
          <p:cNvPr id="17437" name="Connector 29">
            <a:extLst>
              <a:ext uri="{FF2B5EF4-FFF2-40B4-BE49-F238E27FC236}">
                <a16:creationId xmlns:a16="http://schemas.microsoft.com/office/drawing/2014/main" id="{E5AAB57F-292A-1562-3E81-DAEFD005B259}"/>
              </a:ext>
            </a:extLst>
          </p:cNvPr>
          <p:cNvCxnSpPr/>
          <p:nvPr/>
        </p:nvCxnSpPr>
        <p:spPr>
          <a:xfrm>
            <a:off x="9817100" y="3640989"/>
            <a:ext cx="0" cy="119938"/>
          </a:xfrm>
          <a:prstGeom prst="line">
            <a:avLst/>
          </a:prstGeom>
          <a:ln w="13970">
            <a:solidFill>
              <a:srgbClr val="23C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31">
            <a:extLst>
              <a:ext uri="{FF2B5EF4-FFF2-40B4-BE49-F238E27FC236}">
                <a16:creationId xmlns:a16="http://schemas.microsoft.com/office/drawing/2014/main" id="{98D17F36-BA3C-C9F6-D3DE-E3DC3DEB11DE}"/>
              </a:ext>
            </a:extLst>
          </p:cNvPr>
          <p:cNvSpPr/>
          <p:nvPr/>
        </p:nvSpPr>
        <p:spPr>
          <a:xfrm>
            <a:off x="8243790" y="3775038"/>
            <a:ext cx="3146620" cy="282208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23C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17" b="1">
                <a:solidFill>
                  <a:srgbClr val="EBEBEB"/>
                </a:solidFill>
                <a:latin typeface="Aptos"/>
              </a:rPr>
              <a:t>Scientific Grounded Text Answer</a:t>
            </a:r>
          </a:p>
        </p:txBody>
      </p:sp>
      <p:cxnSp>
        <p:nvCxnSpPr>
          <p:cNvPr id="17439" name="Connector 32">
            <a:extLst>
              <a:ext uri="{FF2B5EF4-FFF2-40B4-BE49-F238E27FC236}">
                <a16:creationId xmlns:a16="http://schemas.microsoft.com/office/drawing/2014/main" id="{BF8A0B6B-5A4E-89A3-9E4D-2E58F98B2407}"/>
              </a:ext>
            </a:extLst>
          </p:cNvPr>
          <p:cNvCxnSpPr/>
          <p:nvPr/>
        </p:nvCxnSpPr>
        <p:spPr>
          <a:xfrm>
            <a:off x="9817100" y="4057246"/>
            <a:ext cx="0" cy="105828"/>
          </a:xfrm>
          <a:prstGeom prst="line">
            <a:avLst/>
          </a:prstGeom>
          <a:ln w="13970">
            <a:solidFill>
              <a:srgbClr val="23C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33">
            <a:extLst>
              <a:ext uri="{FF2B5EF4-FFF2-40B4-BE49-F238E27FC236}">
                <a16:creationId xmlns:a16="http://schemas.microsoft.com/office/drawing/2014/main" id="{D898FFAE-7A82-0F0E-BA6F-DF8A4D05A483}"/>
              </a:ext>
            </a:extLst>
          </p:cNvPr>
          <p:cNvSpPr/>
          <p:nvPr/>
        </p:nvSpPr>
        <p:spPr>
          <a:xfrm>
            <a:off x="8243790" y="4163074"/>
            <a:ext cx="3146620" cy="282208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23C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17" b="1">
                <a:solidFill>
                  <a:srgbClr val="EBEBEB"/>
                </a:solidFill>
                <a:latin typeface="Aptos"/>
              </a:rPr>
              <a:t>Pixel-Aligned Heatmap &amp; Split Slider</a:t>
            </a:r>
          </a:p>
        </p:txBody>
      </p:sp>
      <p:cxnSp>
        <p:nvCxnSpPr>
          <p:cNvPr id="17441" name="Connector 34">
            <a:extLst>
              <a:ext uri="{FF2B5EF4-FFF2-40B4-BE49-F238E27FC236}">
                <a16:creationId xmlns:a16="http://schemas.microsoft.com/office/drawing/2014/main" id="{2262B551-9030-E992-17FB-503AC0C4B970}"/>
              </a:ext>
            </a:extLst>
          </p:cNvPr>
          <p:cNvCxnSpPr/>
          <p:nvPr/>
        </p:nvCxnSpPr>
        <p:spPr>
          <a:xfrm>
            <a:off x="9817100" y="4445282"/>
            <a:ext cx="0" cy="105828"/>
          </a:xfrm>
          <a:prstGeom prst="line">
            <a:avLst/>
          </a:prstGeom>
          <a:ln w="13970">
            <a:solidFill>
              <a:srgbClr val="23C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35">
            <a:extLst>
              <a:ext uri="{FF2B5EF4-FFF2-40B4-BE49-F238E27FC236}">
                <a16:creationId xmlns:a16="http://schemas.microsoft.com/office/drawing/2014/main" id="{C0D52AEB-02A9-D181-9AD1-6FA7C1293516}"/>
              </a:ext>
            </a:extLst>
          </p:cNvPr>
          <p:cNvSpPr/>
          <p:nvPr/>
        </p:nvSpPr>
        <p:spPr>
          <a:xfrm>
            <a:off x="8243790" y="4551110"/>
            <a:ext cx="3146620" cy="282208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23C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17" b="1">
                <a:solidFill>
                  <a:srgbClr val="EBEBEB"/>
                </a:solidFill>
                <a:latin typeface="Aptos"/>
              </a:rPr>
              <a:t>Auditable Trace Card (Latency, Model, Bounds)</a:t>
            </a:r>
          </a:p>
        </p:txBody>
      </p:sp>
      <p:cxnSp>
        <p:nvCxnSpPr>
          <p:cNvPr id="17443" name="Connector 36">
            <a:extLst>
              <a:ext uri="{FF2B5EF4-FFF2-40B4-BE49-F238E27FC236}">
                <a16:creationId xmlns:a16="http://schemas.microsoft.com/office/drawing/2014/main" id="{87DC770D-E589-F452-4D4B-94DF3E7D20EC}"/>
              </a:ext>
            </a:extLst>
          </p:cNvPr>
          <p:cNvCxnSpPr/>
          <p:nvPr/>
        </p:nvCxnSpPr>
        <p:spPr>
          <a:xfrm>
            <a:off x="9817100" y="4833319"/>
            <a:ext cx="0" cy="105827"/>
          </a:xfrm>
          <a:prstGeom prst="line">
            <a:avLst/>
          </a:prstGeom>
          <a:ln w="13970">
            <a:solidFill>
              <a:srgbClr val="23C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37">
            <a:extLst>
              <a:ext uri="{FF2B5EF4-FFF2-40B4-BE49-F238E27FC236}">
                <a16:creationId xmlns:a16="http://schemas.microsoft.com/office/drawing/2014/main" id="{776FF8AA-11A6-D918-91C1-7ED8543D914B}"/>
              </a:ext>
            </a:extLst>
          </p:cNvPr>
          <p:cNvSpPr/>
          <p:nvPr/>
        </p:nvSpPr>
        <p:spPr>
          <a:xfrm>
            <a:off x="8243790" y="4939146"/>
            <a:ext cx="3146620" cy="282208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23C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17" b="1">
                <a:solidFill>
                  <a:srgbClr val="EBEBEB"/>
                </a:solidFill>
                <a:latin typeface="Aptos"/>
              </a:rPr>
              <a:t>Certified PDF/JSON Compliance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9336AEE-8D91-AA9F-1801-19B49F11308B}"/>
              </a:ext>
            </a:extLst>
          </p:cNvPr>
          <p:cNvSpPr/>
          <p:nvPr/>
        </p:nvSpPr>
        <p:spPr>
          <a:xfrm>
            <a:off x="3917532" y="1351688"/>
            <a:ext cx="4544402" cy="2693134"/>
          </a:xfrm>
          <a:prstGeom prst="roundRect">
            <a:avLst>
              <a:gd name="adj" fmla="val 8071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DAB989-1B18-D155-58AB-8A1A755D9C1B}"/>
              </a:ext>
            </a:extLst>
          </p:cNvPr>
          <p:cNvSpPr txBox="1"/>
          <p:nvPr/>
        </p:nvSpPr>
        <p:spPr>
          <a:xfrm>
            <a:off x="3924749" y="1061208"/>
            <a:ext cx="4541478" cy="3145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endParaRPr lang="en-IN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/>
            <a:r>
              <a:rPr lang="en-IN" sz="1100" b="1" dirty="0"/>
              <a:t>Risk 1: Cloud &amp; Atmospheric Occlusion</a:t>
            </a:r>
            <a:endParaRPr lang="en-IN" sz="1100" dirty="0"/>
          </a:p>
          <a:p>
            <a:pPr lvl="1"/>
            <a:r>
              <a:rPr lang="en-IN" sz="1100" dirty="0"/>
              <a:t>Severe monsoon cloud cover, smoke, and haze obscure optical satellite reflectance, causing blind spots during peak flood and disaster scenarios.</a:t>
            </a:r>
          </a:p>
          <a:p>
            <a:pPr lvl="0"/>
            <a:r>
              <a:rPr lang="en-IN" sz="1100" b="1" dirty="0"/>
              <a:t>Risk 2: Multi-Sensor Spatial &amp; Temporal Misalignment</a:t>
            </a:r>
            <a:endParaRPr lang="en-IN" sz="1100" dirty="0"/>
          </a:p>
          <a:p>
            <a:pPr lvl="1"/>
            <a:r>
              <a:rPr lang="en-IN" sz="1100" dirty="0"/>
              <a:t>Comparing images across different satellites (e.g., Optical vs. SAR) or across multi-year epochs introduces Ground Sampling Distance (GSD) disparities, sun-angle shifts, and projection distortions.</a:t>
            </a:r>
          </a:p>
          <a:p>
            <a:pPr lvl="0"/>
            <a:r>
              <a:rPr lang="en-IN" sz="1100" b="1" dirty="0"/>
              <a:t>Risk 3: Vision-Language Model Hallucination</a:t>
            </a:r>
            <a:endParaRPr lang="en-IN" sz="1100" dirty="0"/>
          </a:p>
          <a:p>
            <a:pPr lvl="1"/>
            <a:r>
              <a:rPr lang="en-IN" sz="1100" dirty="0"/>
              <a:t>Deep generative AI models risk generating ungrounded, plausible-sounding descriptions on noisy or low-resolution satellite textures in mission-critical operations.</a:t>
            </a:r>
          </a:p>
          <a:p>
            <a:pPr lvl="0"/>
            <a:r>
              <a:rPr lang="en-IN" sz="1100" b="1" dirty="0"/>
              <a:t>Risk 4: High Bandwidth &amp; Raster Data Latency</a:t>
            </a:r>
            <a:endParaRPr lang="en-IN" sz="1100" dirty="0"/>
          </a:p>
          <a:p>
            <a:pPr lvl="1"/>
            <a:r>
              <a:rPr lang="en-IN" sz="1100" dirty="0"/>
              <a:t>Full-scene satellite GeoTIFF files often exceed 500 MB – 1 GB, causing severe bandwidth bottlenecks on low-connectivity field networks.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5BF7369-332B-9411-F1FE-9628BDAD2B64}"/>
              </a:ext>
            </a:extLst>
          </p:cNvPr>
          <p:cNvSpPr/>
          <p:nvPr/>
        </p:nvSpPr>
        <p:spPr>
          <a:xfrm>
            <a:off x="53624" y="1343458"/>
            <a:ext cx="3621495" cy="5369624"/>
          </a:xfrm>
          <a:prstGeom prst="roundRect">
            <a:avLst>
              <a:gd name="adj" fmla="val 1506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A440623-ABEE-906A-418B-71B7E8C2F9F5}"/>
              </a:ext>
            </a:extLst>
          </p:cNvPr>
          <p:cNvSpPr/>
          <p:nvPr/>
        </p:nvSpPr>
        <p:spPr>
          <a:xfrm flipH="1" flipV="1">
            <a:off x="8498439" y="1450668"/>
            <a:ext cx="196479" cy="19755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accent6">
                    <a:lumMod val="75000"/>
                  </a:schemeClr>
                </a:solidFill>
              </a:rPr>
              <a:t>Multi-Dimensional Feasibility Analysis, Risk Matrix &amp; Technical Mitigation Strategies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52E26B2-1E68-4AF7-D0D3-4DD7AFAE4A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0939" y="252246"/>
            <a:ext cx="14787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 err="1"/>
              <a:t>Manions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027638-70A6-542C-D7D3-BD73DA89234D}"/>
              </a:ext>
            </a:extLst>
          </p:cNvPr>
          <p:cNvSpPr txBox="1"/>
          <p:nvPr/>
        </p:nvSpPr>
        <p:spPr>
          <a:xfrm>
            <a:off x="169873" y="998602"/>
            <a:ext cx="3754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 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Analysis of the Feasibility of the Idea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C08107-8A0B-7A88-5419-3E36935D4710}"/>
              </a:ext>
            </a:extLst>
          </p:cNvPr>
          <p:cNvSpPr txBox="1"/>
          <p:nvPr/>
        </p:nvSpPr>
        <p:spPr>
          <a:xfrm>
            <a:off x="-396210" y="1395246"/>
            <a:ext cx="395568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b="1" dirty="0"/>
              <a:t>Technical Feasibility: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Proven Working Prototype:</a:t>
            </a:r>
            <a:r>
              <a:rPr lang="en-IN" sz="1300" dirty="0"/>
              <a:t> </a:t>
            </a:r>
            <a:r>
              <a:rPr lang="en-IN" sz="1100" dirty="0"/>
              <a:t>Validated by an active deployed system (</a:t>
            </a:r>
            <a:r>
              <a:rPr lang="en-IN" sz="1100" dirty="0">
                <a:hlinkClick r:id="rId4"/>
              </a:rPr>
              <a:t>satquery-ai-psi.vercel.app</a:t>
            </a:r>
            <a:r>
              <a:rPr lang="en-IN" sz="1100" dirty="0"/>
              <a:t>) delivering sub-second inference using FastAPI, Uvicorn, and HTML5 Canvas differencing.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Native Multi-Spectral Engine:</a:t>
            </a:r>
            <a:r>
              <a:rPr lang="en-IN" sz="1300" dirty="0"/>
              <a:t> </a:t>
            </a:r>
            <a:r>
              <a:rPr lang="en-IN" sz="1100" dirty="0"/>
              <a:t>Seamlessly parses GeoTIFF rasters using Rasterio/GDAL, eliminating manual preprocessing.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Modular Vision-Language Backbones</a:t>
            </a:r>
            <a:r>
              <a:rPr lang="en-IN" sz="1100" b="1" dirty="0"/>
              <a:t>:</a:t>
            </a:r>
            <a:r>
              <a:rPr lang="en-IN" sz="1100" dirty="0"/>
              <a:t> Successfully orchestrates domain-specific models (RS-VQA, BigEarthNet-19, LEVIR-CD, SEN12MS Optical-SAR).</a:t>
            </a:r>
          </a:p>
          <a:p>
            <a:pPr lvl="0"/>
            <a:endParaRPr lang="en-IN" sz="1300" dirty="0"/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9525E6-97CA-597E-5F88-44F165477307}"/>
              </a:ext>
            </a:extLst>
          </p:cNvPr>
          <p:cNvSpPr txBox="1"/>
          <p:nvPr/>
        </p:nvSpPr>
        <p:spPr>
          <a:xfrm>
            <a:off x="0" y="3686037"/>
            <a:ext cx="37548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         Operational Feasibility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  </a:t>
            </a:r>
            <a:r>
              <a:rPr lang="en-IN" sz="1300" b="1" dirty="0"/>
              <a:t>Zero Client Footprint: </a:t>
            </a:r>
            <a:r>
              <a:rPr lang="en-IN" sz="1100" dirty="0"/>
              <a:t>100% web-based WebGIS  interface  running on standard field laptops, tablets, and smartphones without requiring local NVIDIA GPUs.</a:t>
            </a:r>
          </a:p>
          <a:p>
            <a:br>
              <a:rPr lang="en-IN" sz="1100" dirty="0"/>
            </a:br>
            <a:endParaRPr lang="en-IN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F5687C-5BA1-5BC8-5929-87C6D1A5E1C5}"/>
              </a:ext>
            </a:extLst>
          </p:cNvPr>
          <p:cNvSpPr txBox="1"/>
          <p:nvPr/>
        </p:nvSpPr>
        <p:spPr>
          <a:xfrm>
            <a:off x="-396210" y="4739215"/>
            <a:ext cx="415901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                Economic &amp; Data Feasibility</a:t>
            </a:r>
            <a:endParaRPr lang="en-IN" sz="11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Zero Data Acquisition Costs:</a:t>
            </a:r>
            <a:r>
              <a:rPr lang="en-IN" sz="1300" dirty="0"/>
              <a:t> </a:t>
            </a:r>
            <a:r>
              <a:rPr lang="en-IN" sz="1100" dirty="0"/>
              <a:t>Relies entirely on free, open-access public Earth Observation constellations (Copernicus Sentinel-1/2, USGS Landsat-8/9, ISRO Bhuvan archives).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300" b="1" dirty="0"/>
              <a:t>Eliminates Proprietary Licensing</a:t>
            </a:r>
            <a:r>
              <a:rPr lang="en-IN" sz="1100" b="1" dirty="0"/>
              <a:t>:</a:t>
            </a:r>
            <a:r>
              <a:rPr lang="en-IN" sz="1100" dirty="0"/>
              <a:t> Open-source Python &amp; React stack replaces proprietary GIS software suites, saving ₹10L+ annually per department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A9A9B7-8D82-BA9C-7737-31BD8CCD9FAB}"/>
              </a:ext>
            </a:extLst>
          </p:cNvPr>
          <p:cNvSpPr txBox="1"/>
          <p:nvPr/>
        </p:nvSpPr>
        <p:spPr>
          <a:xfrm>
            <a:off x="178443" y="1395246"/>
            <a:ext cx="431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/>
              </a:rPr>
              <a:t>🔍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4A582A-C5BA-B3C9-8A2F-1B91C704C3DB}"/>
              </a:ext>
            </a:extLst>
          </p:cNvPr>
          <p:cNvSpPr txBox="1"/>
          <p:nvPr/>
        </p:nvSpPr>
        <p:spPr>
          <a:xfrm>
            <a:off x="64142" y="4739215"/>
            <a:ext cx="373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/>
              </a:rPr>
              <a:t>📊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CCA568-9FFD-7A86-56E0-26EB04B779E4}"/>
              </a:ext>
            </a:extLst>
          </p:cNvPr>
          <p:cNvSpPr txBox="1"/>
          <p:nvPr/>
        </p:nvSpPr>
        <p:spPr>
          <a:xfrm>
            <a:off x="178443" y="3686037"/>
            <a:ext cx="373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/>
              </a:rPr>
              <a:t>🛡️</a:t>
            </a:r>
            <a:endParaRPr lang="en-IN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EEA075A-2AEA-0B70-22FC-092C4D845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463619" y="1112159"/>
            <a:ext cx="462598" cy="46259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3DC28D-F357-5B5E-7A30-D9A3E170AA60}"/>
              </a:ext>
            </a:extLst>
          </p:cNvPr>
          <p:cNvSpPr txBox="1"/>
          <p:nvPr/>
        </p:nvSpPr>
        <p:spPr>
          <a:xfrm>
            <a:off x="8461934" y="1112159"/>
            <a:ext cx="375487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      Strategies for Overcoming These                                Challenges (Mitigations)</a:t>
            </a:r>
          </a:p>
          <a:p>
            <a:endParaRPr lang="en-IN" sz="1100" dirty="0"/>
          </a:p>
          <a:p>
            <a:pPr lvl="0"/>
            <a:r>
              <a:rPr lang="en-IN" sz="1100" b="1" dirty="0"/>
              <a:t>Strategy 1: Automated C-Band SAR Microwave Failover</a:t>
            </a:r>
            <a:endParaRPr lang="en-IN" sz="1100" dirty="0"/>
          </a:p>
          <a:p>
            <a:pPr lvl="1"/>
            <a:r>
              <a:rPr lang="en-IN" sz="1100" dirty="0"/>
              <a:t>When cloud screening detects </a:t>
            </a:r>
            <a:r>
              <a:rPr lang="en-IN" sz="1100" b="1" dirty="0"/>
              <a:t>&gt;15% cloud cover</a:t>
            </a:r>
            <a:r>
              <a:rPr lang="en-IN" sz="1100" dirty="0"/>
              <a:t>, the agentic controller autonomously triggers </a:t>
            </a:r>
            <a:r>
              <a:rPr lang="en-IN" sz="1100" b="1" dirty="0"/>
              <a:t>Sentinel-1 / RISAT C-band SAR radar backscatter</a:t>
            </a:r>
            <a:r>
              <a:rPr lang="en-IN" sz="1100" dirty="0"/>
              <a:t>, penetrating rain and cloud layers for uninterrupted 24/7 observation.</a:t>
            </a:r>
          </a:p>
          <a:p>
            <a:pPr lvl="0"/>
            <a:r>
              <a:rPr lang="en-IN" sz="1100" b="1" dirty="0"/>
              <a:t>Strategy 2: Sub-Pixel Affine Co-Registration &amp; Radiometric Normalization</a:t>
            </a:r>
            <a:endParaRPr lang="en-IN" sz="1100" dirty="0"/>
          </a:p>
          <a:p>
            <a:pPr lvl="1"/>
            <a:r>
              <a:rPr lang="en-IN" sz="1100" dirty="0"/>
              <a:t>Vectorized GDAL/Rasterio pipeline applies bilinear resampling, CRS reprojection (EPSG:4326/3857), and top-of-atmosphere radiometric balancing to eliminate sensor and solar bias.</a:t>
            </a:r>
          </a:p>
          <a:p>
            <a:pPr lvl="0"/>
            <a:r>
              <a:rPr lang="en-IN" sz="1100" b="1" dirty="0"/>
              <a:t>Strategy 3: Dual Grounded Evidence &amp; Otsu Statistical Confidence Gate</a:t>
            </a:r>
            <a:endParaRPr lang="en-IN" sz="1100" dirty="0"/>
          </a:p>
          <a:p>
            <a:pPr lvl="1"/>
            <a:r>
              <a:rPr lang="en-IN" sz="1100" b="1" dirty="0"/>
              <a:t>Zero "Black-Box" Policy:</a:t>
            </a:r>
            <a:r>
              <a:rPr lang="en-IN" sz="1100" dirty="0"/>
              <a:t> Every generated text answer is strictly bound to a pixel-aligned spatial difference heatmap and mathematical indices (NDVI/NDWI/NDBI) verified through adaptive </a:t>
            </a:r>
            <a:r>
              <a:rPr lang="en-IN" sz="1100" b="1" dirty="0"/>
              <a:t>Otsu thresholding</a:t>
            </a:r>
            <a:r>
              <a:rPr lang="en-IN" sz="1100" dirty="0"/>
              <a:t>. Speculative assertions below 80% confidence are suppressed.</a:t>
            </a:r>
          </a:p>
          <a:p>
            <a:pPr lvl="0"/>
            <a:r>
              <a:rPr lang="en-IN" sz="1100" b="1" dirty="0"/>
              <a:t>Strategy 4: Cloud-Optimized GeoTIFF (COG) &amp; Dynamic Pyramidal Streaming</a:t>
            </a:r>
            <a:endParaRPr lang="en-IN" sz="1100" dirty="0"/>
          </a:p>
          <a:p>
            <a:pPr lvl="1"/>
            <a:r>
              <a:rPr lang="en-IN" sz="1100" dirty="0"/>
              <a:t>Instead of transferring massive gigabyte files, the backend streams only the visible bounding-box tiles at the current zoom level, reducing network payload by </a:t>
            </a:r>
            <a:r>
              <a:rPr lang="en-IN" sz="1100" b="1" dirty="0"/>
              <a:t>&gt;90%</a:t>
            </a:r>
            <a:r>
              <a:rPr lang="en-IN" sz="1100" dirty="0"/>
              <a:t> and ensuring sub-second response time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497B95-2DF9-DB4C-7409-579E3DFF3F94}"/>
              </a:ext>
            </a:extLst>
          </p:cNvPr>
          <p:cNvSpPr txBox="1"/>
          <p:nvPr/>
        </p:nvSpPr>
        <p:spPr>
          <a:xfrm>
            <a:off x="4179242" y="987629"/>
            <a:ext cx="323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Potential Challenges and Risks</a:t>
            </a:r>
            <a:endParaRPr lang="en-IN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B2159B6-37D5-91ED-3118-4D585720B4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924749" y="968747"/>
            <a:ext cx="384051" cy="31984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9BBC1FD-B05E-50DC-89EC-305F1F8C12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938" y="987629"/>
            <a:ext cx="317683" cy="36933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C9D650D-2A91-E106-2A2A-536C158955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9733" y="5578249"/>
            <a:ext cx="2659223" cy="127975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057ED40-82C3-198F-1F1C-63677D73B2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73318" y="4209634"/>
            <a:ext cx="2778874" cy="132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24E173-95F6-FB84-A6FD-47148D03E042}"/>
              </a:ext>
            </a:extLst>
          </p:cNvPr>
          <p:cNvSpPr txBox="1"/>
          <p:nvPr/>
        </p:nvSpPr>
        <p:spPr>
          <a:xfrm>
            <a:off x="6149923" y="1376316"/>
            <a:ext cx="582795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👥 </a:t>
            </a:r>
            <a:r>
              <a:rPr lang="en-IN" b="1" dirty="0"/>
              <a:t>Social Benefits:</a:t>
            </a:r>
            <a:endParaRPr lang="en-IN" dirty="0"/>
          </a:p>
          <a:p>
            <a:pPr lvl="1"/>
            <a:r>
              <a:rPr lang="en-IN" sz="1600" b="1" dirty="0"/>
              <a:t>Democratizes Space Data:</a:t>
            </a:r>
            <a:r>
              <a:rPr lang="en-IN" sz="1600" dirty="0"/>
              <a:t> Anyone can query satellite imagery in plain English.</a:t>
            </a:r>
          </a:p>
          <a:p>
            <a:pPr lvl="1"/>
            <a:r>
              <a:rPr lang="en-IN" sz="1600" b="1" dirty="0"/>
              <a:t>Saves Lives:</a:t>
            </a:r>
            <a:r>
              <a:rPr lang="en-IN" sz="1600" dirty="0"/>
              <a:t> Accelerated disaster mapping speeds up rescue deployments.</a:t>
            </a:r>
          </a:p>
          <a:p>
            <a:pPr lvl="0"/>
            <a:r>
              <a:rPr lang="en-IN" dirty="0"/>
              <a:t>💰 </a:t>
            </a:r>
            <a:r>
              <a:rPr lang="en-IN" b="1" dirty="0"/>
              <a:t>Economic Benefits:</a:t>
            </a:r>
            <a:endParaRPr lang="en-IN" dirty="0"/>
          </a:p>
          <a:p>
            <a:pPr lvl="1"/>
            <a:r>
              <a:rPr lang="en-IN" sz="1600" b="1" dirty="0"/>
              <a:t>₹10L–₹25L Annual Savings:</a:t>
            </a:r>
            <a:r>
              <a:rPr lang="en-IN" sz="1600" dirty="0"/>
              <a:t> Zero proprietary GIS license fees per department.</a:t>
            </a:r>
          </a:p>
          <a:p>
            <a:pPr lvl="1"/>
            <a:r>
              <a:rPr lang="en-IN" sz="1600" b="1" dirty="0"/>
              <a:t>&gt;80% Cost Reduction:</a:t>
            </a:r>
            <a:r>
              <a:rPr lang="en-IN" sz="1600" dirty="0"/>
              <a:t> Automated pipeline eliminates manual band processing.</a:t>
            </a:r>
          </a:p>
          <a:p>
            <a:pPr lvl="1"/>
            <a:r>
              <a:rPr lang="en-IN" sz="1600" b="1" dirty="0"/>
              <a:t>Zero Data Acquisition Cost:</a:t>
            </a:r>
            <a:r>
              <a:rPr lang="en-IN" sz="1600" dirty="0"/>
              <a:t> 100% open-access Copernicus </a:t>
            </a:r>
            <a:endParaRPr lang="en-IN" dirty="0"/>
          </a:p>
          <a:p>
            <a:pPr lvl="0"/>
            <a:r>
              <a:rPr lang="en-IN" dirty="0"/>
              <a:t>🌿 </a:t>
            </a:r>
            <a:r>
              <a:rPr lang="en-IN" b="1" dirty="0"/>
              <a:t>Environmental Benefits:</a:t>
            </a:r>
            <a:endParaRPr lang="en-IN" dirty="0"/>
          </a:p>
          <a:p>
            <a:pPr lvl="1"/>
            <a:r>
              <a:rPr lang="en-IN" sz="1600" b="1" dirty="0"/>
              <a:t>Continuous Eco-Monitoring:</a:t>
            </a:r>
            <a:r>
              <a:rPr lang="en-IN" sz="1600" dirty="0"/>
              <a:t> Tracks illegal deforestation &amp; wetland loss in real time.</a:t>
            </a:r>
            <a:endParaRPr lang="en-IN" sz="1400" dirty="0"/>
          </a:p>
          <a:p>
            <a:pPr lvl="0"/>
            <a:r>
              <a:rPr lang="en-IN" dirty="0"/>
              <a:t>📋 </a:t>
            </a:r>
            <a:r>
              <a:rPr lang="en-IN" b="1" dirty="0"/>
              <a:t>Governance &amp; Trust:</a:t>
            </a:r>
            <a:endParaRPr lang="en-IN" dirty="0"/>
          </a:p>
          <a:p>
            <a:pPr lvl="1"/>
            <a:r>
              <a:rPr lang="en-IN" sz="1600" b="1" dirty="0"/>
              <a:t>Zero Black-Box Risk:</a:t>
            </a:r>
            <a:r>
              <a:rPr lang="en-IN" sz="1600" dirty="0"/>
              <a:t> Every output verified by pixel heatmaps &amp; downloadable audit logs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27" name="Flowchart: Preparation 26">
            <a:extLst>
              <a:ext uri="{FF2B5EF4-FFF2-40B4-BE49-F238E27FC236}">
                <a16:creationId xmlns:a16="http://schemas.microsoft.com/office/drawing/2014/main" id="{934DC70B-A61B-F2BD-3A6A-91D9E5C5608C}"/>
              </a:ext>
            </a:extLst>
          </p:cNvPr>
          <p:cNvSpPr/>
          <p:nvPr/>
        </p:nvSpPr>
        <p:spPr>
          <a:xfrm>
            <a:off x="6014158" y="5820402"/>
            <a:ext cx="1906950" cy="859441"/>
          </a:xfrm>
          <a:prstGeom prst="flowChartPreparation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Preparation 18">
            <a:extLst>
              <a:ext uri="{FF2B5EF4-FFF2-40B4-BE49-F238E27FC236}">
                <a16:creationId xmlns:a16="http://schemas.microsoft.com/office/drawing/2014/main" id="{446E4B59-6CCC-3853-161B-994B3D140614}"/>
              </a:ext>
            </a:extLst>
          </p:cNvPr>
          <p:cNvSpPr/>
          <p:nvPr/>
        </p:nvSpPr>
        <p:spPr>
          <a:xfrm>
            <a:off x="1979913" y="5838638"/>
            <a:ext cx="1863524" cy="902015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5125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27831" y="5803142"/>
            <a:ext cx="2056435" cy="198970"/>
          </a:xfrm>
        </p:spPr>
        <p:txBody>
          <a:bodyPr/>
          <a:lstStyle/>
          <a:p>
            <a:pPr lvl="0">
              <a:defRPr/>
            </a:pPr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👥User Accessibility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DA7BBA-FB1B-8237-29FB-BA19D3FEAF7B}"/>
              </a:ext>
            </a:extLst>
          </p:cNvPr>
          <p:cNvSpPr txBox="1"/>
          <p:nvPr/>
        </p:nvSpPr>
        <p:spPr>
          <a:xfrm>
            <a:off x="-1" y="1431328"/>
            <a:ext cx="6180881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🚨 </a:t>
            </a:r>
            <a:r>
              <a:rPr lang="en-IN" b="1" dirty="0"/>
              <a:t>Disaster Management (NDRF / SDMAs):</a:t>
            </a:r>
            <a:endParaRPr lang="en-IN" dirty="0"/>
          </a:p>
          <a:p>
            <a:pPr lvl="1"/>
            <a:r>
              <a:rPr lang="en-IN" sz="1600" b="1" dirty="0"/>
              <a:t>Flood mapping in &lt; 5 minutes</a:t>
            </a:r>
            <a:r>
              <a:rPr lang="en-IN" sz="1600" dirty="0"/>
              <a:t> </a:t>
            </a:r>
            <a:r>
              <a:rPr lang="en-IN" sz="1600" i="1" dirty="0"/>
              <a:t>(down from 48–72 hours)</a:t>
            </a:r>
            <a:r>
              <a:rPr lang="en-IN" sz="1600" dirty="0"/>
              <a:t>.</a:t>
            </a:r>
          </a:p>
          <a:p>
            <a:pPr lvl="1"/>
            <a:r>
              <a:rPr lang="en-IN" sz="1600" b="1" dirty="0"/>
              <a:t>Monsoon-penetrating SAR radar</a:t>
            </a:r>
            <a:r>
              <a:rPr lang="en-IN" sz="1600" dirty="0"/>
              <a:t> provides continuous vision during storms.</a:t>
            </a:r>
          </a:p>
          <a:p>
            <a:pPr lvl="0"/>
            <a:r>
              <a:rPr lang="en-IN" dirty="0"/>
              <a:t>🏙️ </a:t>
            </a:r>
            <a:r>
              <a:rPr lang="en-IN" b="1" dirty="0"/>
              <a:t>Urban Planning &amp; Smart Cities:</a:t>
            </a:r>
            <a:endParaRPr lang="en-IN" dirty="0"/>
          </a:p>
          <a:p>
            <a:pPr lvl="1"/>
            <a:r>
              <a:rPr lang="en-IN" sz="1600" b="1" dirty="0"/>
              <a:t>Automated encroachment alerts</a:t>
            </a:r>
            <a:r>
              <a:rPr lang="en-IN" sz="1600" dirty="0"/>
              <a:t> across 10-year satellite baselines.</a:t>
            </a:r>
          </a:p>
          <a:p>
            <a:pPr lvl="1"/>
            <a:r>
              <a:rPr lang="en-IN" sz="1600" b="1" dirty="0"/>
              <a:t>Detects illegal construction &amp; sprawl</a:t>
            </a:r>
            <a:r>
              <a:rPr lang="en-IN" sz="1600" dirty="0"/>
              <a:t> without manual ground surveys.</a:t>
            </a:r>
          </a:p>
          <a:p>
            <a:pPr lvl="0"/>
            <a:r>
              <a:rPr lang="en-IN" dirty="0"/>
              <a:t>🌾 </a:t>
            </a:r>
            <a:r>
              <a:rPr lang="en-IN" b="1" dirty="0"/>
              <a:t>Agriculture &amp; Water Authorities:</a:t>
            </a:r>
            <a:endParaRPr lang="en-IN" dirty="0"/>
          </a:p>
          <a:p>
            <a:pPr lvl="1"/>
            <a:r>
              <a:rPr lang="en-IN" sz="1600" b="1" dirty="0"/>
              <a:t>Early drought &amp; crop stress warnings</a:t>
            </a:r>
            <a:r>
              <a:rPr lang="en-IN" sz="1600" dirty="0"/>
              <a:t> via real-time NDVI </a:t>
            </a:r>
            <a:r>
              <a:rPr lang="en-IN" sz="1600" dirty="0" err="1"/>
              <a:t>vigor</a:t>
            </a:r>
            <a:r>
              <a:rPr lang="en-IN" sz="1600" dirty="0"/>
              <a:t>.</a:t>
            </a:r>
          </a:p>
          <a:p>
            <a:pPr lvl="1"/>
            <a:r>
              <a:rPr lang="en-IN" sz="1600" b="1" dirty="0"/>
              <a:t>Tracks reservoir &amp; wetland shrinkage</a:t>
            </a:r>
            <a:r>
              <a:rPr lang="en-IN" sz="1600" dirty="0"/>
              <a:t> for proactive water rationing.</a:t>
            </a:r>
          </a:p>
          <a:p>
            <a:pPr lvl="0"/>
            <a:r>
              <a:rPr lang="en-IN" dirty="0"/>
              <a:t>🛡️ </a:t>
            </a:r>
            <a:r>
              <a:rPr lang="en-IN" b="1" dirty="0" err="1"/>
              <a:t>Defense</a:t>
            </a:r>
            <a:r>
              <a:rPr lang="en-IN" b="1" dirty="0"/>
              <a:t> &amp; Border Security:</a:t>
            </a:r>
            <a:endParaRPr lang="en-IN" dirty="0"/>
          </a:p>
          <a:p>
            <a:pPr lvl="1"/>
            <a:r>
              <a:rPr lang="en-IN" sz="1600" b="1" dirty="0"/>
              <a:t>24/7 day-and-night terrain surveillance</a:t>
            </a:r>
            <a:r>
              <a:rPr lang="en-IN" sz="1600" dirty="0"/>
              <a:t> using Optical + SAR fusion.</a:t>
            </a:r>
          </a:p>
          <a:p>
            <a:br>
              <a:rPr lang="en-IN" dirty="0"/>
            </a:br>
            <a:endParaRPr lang="en-IN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8D23A4-FC36-6A77-3CD6-091506EA9B60}"/>
              </a:ext>
            </a:extLst>
          </p:cNvPr>
          <p:cNvSpPr txBox="1"/>
          <p:nvPr/>
        </p:nvSpPr>
        <p:spPr>
          <a:xfrm>
            <a:off x="439838" y="1059580"/>
            <a:ext cx="38624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Impact on Target Audience</a:t>
            </a:r>
          </a:p>
          <a:p>
            <a:endParaRPr lang="en-IN" sz="1000" dirty="0"/>
          </a:p>
        </p:txBody>
      </p:sp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E82C32EA-C039-2B4F-0243-93F296EA1F6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0939" y="252246"/>
            <a:ext cx="14787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 err="1"/>
              <a:t>Manions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781CE-BE47-D534-37AD-CF6899DAD2A7}"/>
              </a:ext>
            </a:extLst>
          </p:cNvPr>
          <p:cNvSpPr txBox="1"/>
          <p:nvPr/>
        </p:nvSpPr>
        <p:spPr>
          <a:xfrm>
            <a:off x="6489780" y="1059581"/>
            <a:ext cx="3452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 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Multi-Dimensional Benefits</a:t>
            </a:r>
          </a:p>
          <a:p>
            <a:endParaRPr lang="en-IN" dirty="0"/>
          </a:p>
        </p:txBody>
      </p:sp>
      <p:sp>
        <p:nvSpPr>
          <p:cNvPr id="15" name="Flowchart: Preparation 14">
            <a:extLst>
              <a:ext uri="{FF2B5EF4-FFF2-40B4-BE49-F238E27FC236}">
                <a16:creationId xmlns:a16="http://schemas.microsoft.com/office/drawing/2014/main" id="{4606B47E-BEC3-F24A-ACCB-103C2CDF78D3}"/>
              </a:ext>
            </a:extLst>
          </p:cNvPr>
          <p:cNvSpPr/>
          <p:nvPr/>
        </p:nvSpPr>
        <p:spPr>
          <a:xfrm>
            <a:off x="21951" y="5828940"/>
            <a:ext cx="1863524" cy="902015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IN" dirty="0"/>
              <a:t> </a:t>
            </a:r>
            <a:endParaRPr lang="en-IN" sz="8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-648287" y="5753490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IN" dirty="0"/>
              <a:t>⏱️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Response Time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04A75E-CD89-4429-D349-A7D62465EF3F}"/>
                  </a:ext>
                </a:extLst>
              </p:cNvPr>
              <p:cNvSpPr txBox="1"/>
              <p:nvPr/>
            </p:nvSpPr>
            <p:spPr>
              <a:xfrm>
                <a:off x="268041" y="6118615"/>
                <a:ext cx="15199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b="1" dirty="0"/>
                  <a:t>72 Hrs </a:t>
                </a:r>
                <a14:m>
                  <m:oMath xmlns:m="http://schemas.openxmlformats.org/officeDocument/2006/math">
                    <m:r>
                      <a:rPr lang="en-IN" sz="1400"/>
                      <m:t>→</m:t>
                    </m:r>
                  </m:oMath>
                </a14:m>
                <a:r>
                  <a:rPr lang="en-IN" sz="1400" b="1" dirty="0"/>
                  <a:t> &lt; 5 Mins</a:t>
                </a:r>
                <a:br>
                  <a:rPr lang="en-IN" sz="1400" b="1" dirty="0"/>
                </a:br>
                <a:r>
                  <a:rPr lang="en-IN" sz="1400" b="1" dirty="0"/>
                  <a:t>   </a:t>
                </a:r>
                <a:r>
                  <a:rPr lang="en-IN" sz="1400" dirty="0"/>
                  <a:t> </a:t>
                </a:r>
                <a:r>
                  <a:rPr lang="en-IN" sz="1400" i="1" dirty="0"/>
                  <a:t>(95% faster)</a:t>
                </a:r>
                <a:endParaRPr lang="en-IN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04A75E-CD89-4429-D349-A7D62465E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41" y="6118615"/>
                <a:ext cx="1519968" cy="523220"/>
              </a:xfrm>
              <a:prstGeom prst="rect">
                <a:avLst/>
              </a:prstGeom>
              <a:blipFill>
                <a:blip r:embed="rId4"/>
                <a:stretch>
                  <a:fillRect l="-1205" t="-2326" b="-104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3D13CEE-7070-D4BC-206D-7EB957BF5606}"/>
              </a:ext>
            </a:extLst>
          </p:cNvPr>
          <p:cNvSpPr txBox="1"/>
          <p:nvPr/>
        </p:nvSpPr>
        <p:spPr>
          <a:xfrm>
            <a:off x="2234736" y="5821900"/>
            <a:ext cx="1353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💰 Software Cost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43F41-15BD-3506-AE32-9D0239313EC0}"/>
              </a:ext>
            </a:extLst>
          </p:cNvPr>
          <p:cNvSpPr txBox="1"/>
          <p:nvPr/>
        </p:nvSpPr>
        <p:spPr>
          <a:xfrm>
            <a:off x="2090118" y="6033559"/>
            <a:ext cx="243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       ₹0 Licenses</a:t>
            </a:r>
            <a:r>
              <a:rPr lang="en-IN" sz="1400" dirty="0"/>
              <a:t>  </a:t>
            </a:r>
            <a:br>
              <a:rPr lang="en-IN" sz="1400" dirty="0"/>
            </a:br>
            <a:r>
              <a:rPr lang="en-IN" sz="1400" i="1" dirty="0"/>
              <a:t>(100% Open Source)</a:t>
            </a:r>
            <a:endParaRPr lang="en-IN" sz="1400" dirty="0"/>
          </a:p>
        </p:txBody>
      </p:sp>
      <p:sp>
        <p:nvSpPr>
          <p:cNvPr id="24" name="Flowchart: Preparation 23">
            <a:extLst>
              <a:ext uri="{FF2B5EF4-FFF2-40B4-BE49-F238E27FC236}">
                <a16:creationId xmlns:a16="http://schemas.microsoft.com/office/drawing/2014/main" id="{A64ADB0A-39EB-8298-2D87-7B61861D5FF2}"/>
              </a:ext>
            </a:extLst>
          </p:cNvPr>
          <p:cNvSpPr/>
          <p:nvPr/>
        </p:nvSpPr>
        <p:spPr>
          <a:xfrm>
            <a:off x="3953642" y="5786366"/>
            <a:ext cx="1906950" cy="911713"/>
          </a:xfrm>
          <a:prstGeom prst="flowChartPreparation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E58497-DB98-4087-51B3-6C56F9FC8237}"/>
              </a:ext>
            </a:extLst>
          </p:cNvPr>
          <p:cNvSpPr txBox="1"/>
          <p:nvPr/>
        </p:nvSpPr>
        <p:spPr>
          <a:xfrm>
            <a:off x="4158354" y="5820402"/>
            <a:ext cx="1497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🛰️ Weather Coverage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1652B7-5B9C-328E-0108-2D45C56DA630}"/>
              </a:ext>
            </a:extLst>
          </p:cNvPr>
          <p:cNvSpPr txBox="1"/>
          <p:nvPr/>
        </p:nvSpPr>
        <p:spPr>
          <a:xfrm>
            <a:off x="4145549" y="6118615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24/7 All-Weather</a:t>
            </a:r>
          </a:p>
          <a:p>
            <a:pPr algn="ctr"/>
            <a:r>
              <a:rPr lang="en-IN" sz="1400" dirty="0"/>
              <a:t> </a:t>
            </a:r>
            <a:r>
              <a:rPr lang="en-IN" sz="1400" i="1" dirty="0"/>
              <a:t>(Optical + SAR)</a:t>
            </a:r>
            <a:endParaRPr lang="en-IN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FAC13A-BEAF-F608-60F4-56B61F49C50F}"/>
              </a:ext>
            </a:extLst>
          </p:cNvPr>
          <p:cNvSpPr txBox="1"/>
          <p:nvPr/>
        </p:nvSpPr>
        <p:spPr>
          <a:xfrm>
            <a:off x="6228475" y="6069043"/>
            <a:ext cx="1470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1" dirty="0"/>
              <a:t>Natural English</a:t>
            </a:r>
          </a:p>
          <a:p>
            <a:pPr algn="ctr"/>
            <a:r>
              <a:rPr lang="en-IN" sz="1400" dirty="0"/>
              <a:t> </a:t>
            </a:r>
            <a:r>
              <a:rPr lang="en-IN" sz="1400" i="1" dirty="0"/>
              <a:t>(Zero GIS barrier)</a:t>
            </a:r>
            <a:endParaRPr lang="en-IN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D33FAE5-CC7E-99A7-9D07-73CBD4A560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0874" y="1024046"/>
            <a:ext cx="471185" cy="4450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3C8A2B9-96B8-23C0-E3A8-77FADF1C0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090811" y="1024046"/>
            <a:ext cx="509033" cy="48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81DAECB-FB39-3E08-5F37-E09C3281F9BF}"/>
              </a:ext>
            </a:extLst>
          </p:cNvPr>
          <p:cNvSpPr/>
          <p:nvPr/>
        </p:nvSpPr>
        <p:spPr>
          <a:xfrm>
            <a:off x="6174998" y="4950440"/>
            <a:ext cx="5965061" cy="939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8FA3B2E3-6C2D-B2FC-3551-5026B1EB2D15}"/>
              </a:ext>
            </a:extLst>
          </p:cNvPr>
          <p:cNvSpPr/>
          <p:nvPr/>
        </p:nvSpPr>
        <p:spPr>
          <a:xfrm>
            <a:off x="51941" y="5890215"/>
            <a:ext cx="12088118" cy="884685"/>
          </a:xfrm>
          <a:prstGeom prst="foldedCorner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D4919BED-3E98-B1C4-4319-52B6C368B7A0}"/>
              </a:ext>
            </a:extLst>
          </p:cNvPr>
          <p:cNvSpPr/>
          <p:nvPr/>
        </p:nvSpPr>
        <p:spPr>
          <a:xfrm>
            <a:off x="5962778" y="1118870"/>
            <a:ext cx="5965061" cy="3812793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EA04D2AE-55C8-F579-AEEA-DEAE6F959231}"/>
              </a:ext>
            </a:extLst>
          </p:cNvPr>
          <p:cNvSpPr/>
          <p:nvPr/>
        </p:nvSpPr>
        <p:spPr>
          <a:xfrm>
            <a:off x="9019" y="1118870"/>
            <a:ext cx="5831839" cy="4697478"/>
          </a:xfrm>
          <a:prstGeom prst="foldedCorner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28779-51BC-4EA1-B725-8094423EB24B}"/>
              </a:ext>
            </a:extLst>
          </p:cNvPr>
          <p:cNvSpPr txBox="1"/>
          <p:nvPr/>
        </p:nvSpPr>
        <p:spPr>
          <a:xfrm>
            <a:off x="0" y="1499954"/>
            <a:ext cx="5831839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RSVQA Benchmark (Visual Question Answering over Satellite Imagery):</a:t>
            </a:r>
          </a:p>
          <a:p>
            <a:pPr lvl="0"/>
            <a:r>
              <a:rPr lang="en-IN" sz="1300" i="1" dirty="0"/>
              <a:t>       Paper:</a:t>
            </a:r>
            <a:r>
              <a:rPr lang="en-IN" sz="1300" dirty="0"/>
              <a:t> Lobry et al., </a:t>
            </a:r>
            <a:r>
              <a:rPr lang="en-IN" sz="1300" i="1" dirty="0"/>
              <a:t>"RSVQA: Visual Question Answering for Remote Sensing      </a:t>
            </a:r>
            <a:r>
              <a:rPr lang="en-IN" sz="1300" i="1" dirty="0">
                <a:solidFill>
                  <a:schemeClr val="bg1"/>
                </a:solidFill>
              </a:rPr>
              <a:t>D</a:t>
            </a:r>
            <a:r>
              <a:rPr lang="en-IN" sz="1300" i="1" dirty="0"/>
              <a:t>       </a:t>
            </a:r>
            <a:r>
              <a:rPr lang="en-IN" sz="1300" i="1" dirty="0" err="1"/>
              <a:t>D</a:t>
            </a:r>
            <a:r>
              <a:rPr lang="en-IN" sz="1300" i="1" dirty="0"/>
              <a:t>    Data"</a:t>
            </a:r>
            <a:r>
              <a:rPr lang="en-IN" sz="1300" dirty="0"/>
              <a:t>, IEEE Transactions on Geoscience and Remote Sensing (TGRS).        </a:t>
            </a:r>
            <a:r>
              <a:rPr lang="en-IN" sz="1300" i="1" dirty="0"/>
              <a:t>L        </a:t>
            </a:r>
            <a:r>
              <a:rPr lang="en-IN" sz="1300" i="1" dirty="0">
                <a:solidFill>
                  <a:schemeClr val="bg1"/>
                </a:solidFill>
              </a:rPr>
              <a:t>I</a:t>
            </a:r>
            <a:r>
              <a:rPr lang="en-IN" sz="1300" i="1" dirty="0"/>
              <a:t>     L     Link:</a:t>
            </a:r>
            <a:r>
              <a:rPr lang="en-IN" sz="1300" dirty="0"/>
              <a:t> </a:t>
            </a:r>
            <a:r>
              <a:rPr lang="en-IN" sz="1300" dirty="0">
                <a:hlinkClick r:id="rId3"/>
              </a:rPr>
              <a:t>https://doi.org/10.1109/TGRS.2020.2988770</a:t>
            </a:r>
            <a:endParaRPr lang="en-IN" sz="1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VRSBench (CVPR 2024 Vision-Language Remote Sensing Benchmark):</a:t>
            </a:r>
          </a:p>
          <a:p>
            <a:pPr lvl="0"/>
            <a:r>
              <a:rPr lang="en-IN" sz="1300" i="1" dirty="0"/>
              <a:t>       Paper:</a:t>
            </a:r>
            <a:r>
              <a:rPr lang="en-IN" sz="1300" dirty="0"/>
              <a:t> Chen et al., </a:t>
            </a:r>
            <a:r>
              <a:rPr lang="en-IN" sz="1300" i="1" dirty="0"/>
              <a:t>"VRSBench: A Versatile Vision-Language Benchmark for       </a:t>
            </a:r>
            <a:r>
              <a:rPr lang="en-IN" sz="1300" i="1" dirty="0">
                <a:solidFill>
                  <a:schemeClr val="bg1"/>
                </a:solidFill>
              </a:rPr>
              <a:t>R</a:t>
            </a:r>
            <a:r>
              <a:rPr lang="en-IN" sz="1300" i="1" dirty="0"/>
              <a:t>    </a:t>
            </a:r>
            <a:r>
              <a:rPr lang="en-IN" sz="1300" i="1" dirty="0" err="1"/>
              <a:t>R</a:t>
            </a:r>
            <a:r>
              <a:rPr lang="en-IN" sz="1300" i="1" dirty="0"/>
              <a:t>    Remote Sensing Image Understanding"</a:t>
            </a:r>
            <a:r>
              <a:rPr lang="en-IN" sz="1300" dirty="0"/>
              <a:t>, IEEE/CVF CVPR 2024.</a:t>
            </a:r>
            <a:br>
              <a:rPr lang="en-IN" sz="1300" dirty="0"/>
            </a:br>
            <a:r>
              <a:rPr lang="en-IN" sz="1300" dirty="0"/>
              <a:t>      </a:t>
            </a:r>
            <a:r>
              <a:rPr lang="en-IN" sz="1300" i="1" dirty="0"/>
              <a:t>Link / Preprint:</a:t>
            </a:r>
            <a:r>
              <a:rPr lang="en-IN" sz="1300" dirty="0"/>
              <a:t> </a:t>
            </a:r>
            <a:r>
              <a:rPr lang="en-IN" sz="1300" dirty="0">
                <a:hlinkClick r:id="rId4"/>
              </a:rPr>
              <a:t>https://arxiv.org/abs/2406.12450</a:t>
            </a:r>
            <a:endParaRPr lang="en-IN" sz="1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LEVIR-CD &amp; CDVQA (Bi-Temporal Siamese Change Detection):</a:t>
            </a:r>
          </a:p>
          <a:p>
            <a:pPr lvl="0"/>
            <a:r>
              <a:rPr lang="en-IN" sz="1300" i="1" dirty="0"/>
              <a:t>      Paper:</a:t>
            </a:r>
            <a:r>
              <a:rPr lang="en-IN" sz="1300" dirty="0"/>
              <a:t> Chen &amp; Shi, </a:t>
            </a:r>
            <a:r>
              <a:rPr lang="en-IN" sz="1300" i="1" dirty="0"/>
              <a:t>"A Spatial-Temporal Attention-Based Method and Dataset               </a:t>
            </a:r>
            <a:r>
              <a:rPr lang="en-IN" sz="1300" i="1" dirty="0">
                <a:solidFill>
                  <a:schemeClr val="bg1"/>
                </a:solidFill>
              </a:rPr>
              <a:t>f</a:t>
            </a:r>
            <a:r>
              <a:rPr lang="en-IN" sz="1300" i="1" dirty="0"/>
              <a:t>    for Remote Sensing Image Change Detection"</a:t>
            </a:r>
            <a:r>
              <a:rPr lang="en-IN" sz="1300" dirty="0"/>
              <a:t>, Remote Sensing</a:t>
            </a:r>
            <a:r>
              <a:rPr lang="en-IN" sz="1300" dirty="0">
                <a:solidFill>
                  <a:schemeClr val="bg1"/>
                </a:solidFill>
              </a:rPr>
              <a:t>.                  </a:t>
            </a:r>
            <a:r>
              <a:rPr lang="en-IN" sz="1300" i="1" dirty="0">
                <a:solidFill>
                  <a:schemeClr val="bg1"/>
                </a:solidFill>
              </a:rPr>
              <a:t>L      I  </a:t>
            </a:r>
          </a:p>
          <a:p>
            <a:pPr lvl="0"/>
            <a:r>
              <a:rPr lang="en-IN" sz="1300" i="1" dirty="0"/>
              <a:t>     Link:</a:t>
            </a:r>
            <a:r>
              <a:rPr lang="en-IN" sz="1300" dirty="0"/>
              <a:t> </a:t>
            </a:r>
            <a:r>
              <a:rPr lang="en-IN" sz="1300" dirty="0">
                <a:hlinkClick r:id="rId5"/>
              </a:rPr>
              <a:t>https://doi.org/10.3390/rs12101662</a:t>
            </a:r>
            <a:endParaRPr lang="en-IN" sz="1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SEN12MS (Optical + SAR Multi-Modal Fusion Core):</a:t>
            </a:r>
          </a:p>
          <a:p>
            <a:pPr lvl="0"/>
            <a:r>
              <a:rPr lang="en-IN" sz="1300" i="1" dirty="0"/>
              <a:t>     Paper:</a:t>
            </a:r>
            <a:r>
              <a:rPr lang="en-IN" sz="1300" dirty="0"/>
              <a:t> Schmitt et al., </a:t>
            </a:r>
            <a:r>
              <a:rPr lang="en-IN" sz="1300" i="1" dirty="0"/>
              <a:t>"SEN12MS — A Curated Dataset of Georeferenced Multi-                            </a:t>
            </a:r>
            <a:r>
              <a:rPr lang="en-IN" sz="1300" i="1" dirty="0">
                <a:solidFill>
                  <a:schemeClr val="bg1"/>
                </a:solidFill>
              </a:rPr>
              <a:t>S</a:t>
            </a:r>
            <a:r>
              <a:rPr lang="en-IN" sz="1300" i="1" dirty="0"/>
              <a:t>   Spectral Sentinel-1/2 Imagery for Deep Learning and Data Fusion"</a:t>
            </a:r>
            <a:r>
              <a:rPr lang="en-IN" sz="1300" dirty="0"/>
              <a:t>, ISPRS Annals.      </a:t>
            </a:r>
            <a:r>
              <a:rPr lang="en-IN" sz="1300" i="1" dirty="0">
                <a:solidFill>
                  <a:schemeClr val="bg1"/>
                </a:solidFill>
              </a:rPr>
              <a:t>L</a:t>
            </a:r>
            <a:r>
              <a:rPr lang="en-IN" sz="1300" i="1" dirty="0"/>
              <a:t>   Link:</a:t>
            </a:r>
            <a:r>
              <a:rPr lang="en-IN" sz="1300" dirty="0"/>
              <a:t> </a:t>
            </a:r>
            <a:r>
              <a:rPr lang="en-IN" sz="1300" dirty="0">
                <a:hlinkClick r:id="rId6"/>
              </a:rPr>
              <a:t>https://doi.org/10.5194/isprs-annals-IV-2-W7-153-2019</a:t>
            </a:r>
            <a:endParaRPr lang="en-IN" sz="1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BigEarthNet-S2 (19-Class CORINE Land-Cover Taxonomy):</a:t>
            </a:r>
          </a:p>
          <a:p>
            <a:pPr lvl="0"/>
            <a:r>
              <a:rPr lang="en-IN" sz="1300" i="1" dirty="0"/>
              <a:t>    Paper:</a:t>
            </a:r>
            <a:r>
              <a:rPr lang="en-IN" sz="1300" dirty="0"/>
              <a:t> Sumbul et al., </a:t>
            </a:r>
            <a:r>
              <a:rPr lang="en-IN" sz="1300" i="1" dirty="0"/>
              <a:t>"BigEarthNet: A Large-Scale Benchmark Archive for Remote    </a:t>
            </a:r>
            <a:r>
              <a:rPr lang="en-IN" sz="1300" i="1" dirty="0">
                <a:solidFill>
                  <a:schemeClr val="bg1"/>
                </a:solidFill>
              </a:rPr>
              <a:t>S</a:t>
            </a:r>
            <a:r>
              <a:rPr lang="en-IN" sz="1300" i="1" dirty="0"/>
              <a:t>  Sensing Image Understanding"</a:t>
            </a:r>
            <a:r>
              <a:rPr lang="en-IN" sz="1300" dirty="0"/>
              <a:t>, IEEE IGARSS.</a:t>
            </a:r>
          </a:p>
          <a:p>
            <a:pPr lvl="0"/>
            <a:r>
              <a:rPr lang="en-IN" sz="1300" i="1" dirty="0"/>
              <a:t>    Official Portal:</a:t>
            </a:r>
            <a:r>
              <a:rPr lang="en-IN" sz="1300" dirty="0"/>
              <a:t> </a:t>
            </a:r>
            <a:r>
              <a:rPr lang="en-IN" sz="1300" dirty="0">
                <a:hlinkClick r:id="rId7"/>
              </a:rPr>
              <a:t>https://bigearth.net/</a:t>
            </a:r>
            <a:endParaRPr lang="en-IN" sz="1300" dirty="0"/>
          </a:p>
          <a:p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2413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accent5">
                    <a:lumMod val="50000"/>
                  </a:schemeClr>
                </a:solidFill>
              </a:rPr>
              <a:t>Peer-Reviewed Literature, Space Agency Standards &amp; Project Repository Links</a:t>
            </a:r>
            <a:endParaRPr lang="en-US" sz="19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7551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257EFB8-44E2-2FAC-7ACD-17265E4C58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0939" y="252246"/>
            <a:ext cx="14787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 err="1"/>
              <a:t>Manions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6E24D-5E1D-5517-69EC-6C6F3165C5EF}"/>
              </a:ext>
            </a:extLst>
          </p:cNvPr>
          <p:cNvSpPr txBox="1"/>
          <p:nvPr/>
        </p:nvSpPr>
        <p:spPr>
          <a:xfrm>
            <a:off x="130939" y="1118870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 Scientific Literature &amp; Foundational Benchmarks</a:t>
            </a:r>
          </a:p>
          <a:p>
            <a:endParaRPr lang="en-IN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30A9E32D-2452-D1FA-D451-A5B73A6CE33B}"/>
              </a:ext>
            </a:extLst>
          </p:cNvPr>
          <p:cNvSpPr/>
          <p:nvPr/>
        </p:nvSpPr>
        <p:spPr>
          <a:xfrm>
            <a:off x="5464939" y="1765201"/>
            <a:ext cx="224661" cy="2044799"/>
          </a:xfrm>
          <a:prstGeom prst="parallelogram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6727EC-7294-9FA9-5D58-4900F6FF0C23}"/>
              </a:ext>
            </a:extLst>
          </p:cNvPr>
          <p:cNvSpPr/>
          <p:nvPr/>
        </p:nvSpPr>
        <p:spPr>
          <a:xfrm>
            <a:off x="5049520" y="1960880"/>
            <a:ext cx="415419" cy="1880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5B1938-EE12-AFA8-0182-79CE8CE3311F}"/>
              </a:ext>
            </a:extLst>
          </p:cNvPr>
          <p:cNvSpPr/>
          <p:nvPr/>
        </p:nvSpPr>
        <p:spPr>
          <a:xfrm>
            <a:off x="5049520" y="3535595"/>
            <a:ext cx="415419" cy="1880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1F3F4F-842E-DE36-D865-2148652F5331}"/>
              </a:ext>
            </a:extLst>
          </p:cNvPr>
          <p:cNvSpPr/>
          <p:nvPr/>
        </p:nvSpPr>
        <p:spPr>
          <a:xfrm>
            <a:off x="9019" y="1859280"/>
            <a:ext cx="224661" cy="4368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70314F-534F-DF83-C4FC-E35B3166E4FC}"/>
              </a:ext>
            </a:extLst>
          </p:cNvPr>
          <p:cNvSpPr/>
          <p:nvPr/>
        </p:nvSpPr>
        <p:spPr>
          <a:xfrm>
            <a:off x="51941" y="4318000"/>
            <a:ext cx="130939" cy="4368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482E4D-23D3-D828-EAAC-DD68B8CF3165}"/>
              </a:ext>
            </a:extLst>
          </p:cNvPr>
          <p:cNvSpPr/>
          <p:nvPr/>
        </p:nvSpPr>
        <p:spPr>
          <a:xfrm>
            <a:off x="51941" y="2611120"/>
            <a:ext cx="181739" cy="470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1F60C-649B-CE99-1CA1-B1F8BE94E625}"/>
              </a:ext>
            </a:extLst>
          </p:cNvPr>
          <p:cNvSpPr/>
          <p:nvPr/>
        </p:nvSpPr>
        <p:spPr>
          <a:xfrm>
            <a:off x="51941" y="5130800"/>
            <a:ext cx="130939" cy="4368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E120A6-0087-E8DB-DECB-3564FA38245C}"/>
              </a:ext>
            </a:extLst>
          </p:cNvPr>
          <p:cNvSpPr/>
          <p:nvPr/>
        </p:nvSpPr>
        <p:spPr>
          <a:xfrm>
            <a:off x="51941" y="3616960"/>
            <a:ext cx="130939" cy="1596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C03DD5-9461-C4C0-E114-58BE1841219D}"/>
              </a:ext>
            </a:extLst>
          </p:cNvPr>
          <p:cNvSpPr txBox="1"/>
          <p:nvPr/>
        </p:nvSpPr>
        <p:spPr>
          <a:xfrm>
            <a:off x="5943599" y="1111845"/>
            <a:ext cx="666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Space Agencies, Satellite Data Feeds &amp; Open Standards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C3FAFC-866E-3270-9177-B38B066F9C3B}"/>
              </a:ext>
            </a:extLst>
          </p:cNvPr>
          <p:cNvSpPr txBox="1"/>
          <p:nvPr/>
        </p:nvSpPr>
        <p:spPr>
          <a:xfrm>
            <a:off x="5962778" y="1499954"/>
            <a:ext cx="5965061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ISRO Bhuvan &amp; MOSDAC (National Remote Sensing Centre / SAC):</a:t>
            </a:r>
            <a:endParaRPr lang="en-IN" sz="1400" dirty="0"/>
          </a:p>
          <a:p>
            <a:pPr lvl="1"/>
            <a:r>
              <a:rPr lang="en-IN" sz="1300" i="1" dirty="0"/>
              <a:t>Data:</a:t>
            </a:r>
            <a:r>
              <a:rPr lang="en-IN" sz="1300" dirty="0"/>
              <a:t> ISRO Cartosat-2 high-resolution optical and RISAT-1A C-band microwave radar processing protocols.</a:t>
            </a:r>
          </a:p>
          <a:p>
            <a:pPr lvl="1"/>
            <a:r>
              <a:rPr lang="en-IN" sz="1300" i="1" dirty="0"/>
              <a:t>Portal Links:</a:t>
            </a:r>
            <a:r>
              <a:rPr lang="en-IN" sz="1300" dirty="0"/>
              <a:t> </a:t>
            </a:r>
            <a:r>
              <a:rPr lang="en-IN" sz="1300" dirty="0">
                <a:hlinkClick r:id="rId9"/>
              </a:rPr>
              <a:t>https://bhuvan.nrsc.gov.in</a:t>
            </a:r>
            <a:r>
              <a:rPr lang="en-IN" sz="1300" dirty="0"/>
              <a:t> • </a:t>
            </a:r>
            <a:r>
              <a:rPr lang="en-IN" sz="1300" dirty="0">
                <a:hlinkClick r:id="rId10"/>
              </a:rPr>
              <a:t>https://www.mosdac.gov.in</a:t>
            </a:r>
            <a:endParaRPr lang="en-IN" sz="1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ESA Copernicus Open Access Data Space:</a:t>
            </a:r>
            <a:endParaRPr lang="en-IN" sz="1400" dirty="0"/>
          </a:p>
          <a:p>
            <a:pPr lvl="1"/>
            <a:r>
              <a:rPr lang="en-IN" sz="1300" i="1" dirty="0"/>
              <a:t>Data:</a:t>
            </a:r>
            <a:r>
              <a:rPr lang="en-IN" sz="1300" dirty="0"/>
              <a:t> Sentinel-2 MSI Level-2A Bottom-of-Atmosphere (BOA) reflectance and Sentinel-1 C-band SAR radar feeds.</a:t>
            </a:r>
          </a:p>
          <a:p>
            <a:pPr lvl="1"/>
            <a:r>
              <a:rPr lang="en-IN" sz="1300" i="1" dirty="0"/>
              <a:t>Portal Link:</a:t>
            </a:r>
            <a:r>
              <a:rPr lang="en-IN" sz="1300" dirty="0"/>
              <a:t> </a:t>
            </a:r>
            <a:r>
              <a:rPr lang="en-IN" sz="1300" dirty="0">
                <a:hlinkClick r:id="rId11"/>
              </a:rPr>
              <a:t>https://dataspace.copernicus.eu</a:t>
            </a:r>
            <a:endParaRPr lang="en-IN" sz="1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USGS / NASA Landsat Archives:</a:t>
            </a:r>
            <a:endParaRPr lang="en-IN" sz="1400" dirty="0"/>
          </a:p>
          <a:p>
            <a:pPr lvl="1"/>
            <a:r>
              <a:rPr lang="en-IN" sz="1300" i="1" dirty="0"/>
              <a:t>Data:</a:t>
            </a:r>
            <a:r>
              <a:rPr lang="en-IN" sz="1300" dirty="0"/>
              <a:t> Landsat-8/9 Surface Reflectance 10-year historical baseline archives.</a:t>
            </a:r>
          </a:p>
          <a:p>
            <a:pPr lvl="1"/>
            <a:r>
              <a:rPr lang="en-IN" sz="1300" i="1" dirty="0"/>
              <a:t>Portal Link:</a:t>
            </a:r>
            <a:r>
              <a:rPr lang="en-IN" sz="1300" dirty="0"/>
              <a:t> </a:t>
            </a:r>
            <a:r>
              <a:rPr lang="en-IN" sz="1300" dirty="0">
                <a:hlinkClick r:id="rId12"/>
              </a:rPr>
              <a:t>https://earthexplorer.usgs.gov</a:t>
            </a:r>
            <a:endParaRPr lang="en-IN" sz="1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OGC &amp; STAC Open Geospatial Specifications:</a:t>
            </a:r>
            <a:endParaRPr lang="en-IN" sz="1400" dirty="0"/>
          </a:p>
          <a:p>
            <a:pPr lvl="1"/>
            <a:r>
              <a:rPr lang="en-IN" sz="1300" i="1" dirty="0"/>
              <a:t>Standards:</a:t>
            </a:r>
            <a:r>
              <a:rPr lang="en-IN" sz="1300" dirty="0"/>
              <a:t> Cloud-Optimized GeoTIFF (COG), </a:t>
            </a:r>
            <a:r>
              <a:rPr lang="en-IN" sz="1300" dirty="0" err="1"/>
              <a:t>SpatioTemporal</a:t>
            </a:r>
            <a:r>
              <a:rPr lang="en-IN" sz="1300" dirty="0"/>
              <a:t> Asset </a:t>
            </a:r>
            <a:r>
              <a:rPr lang="en-IN" sz="1300" dirty="0" err="1"/>
              <a:t>Catalog</a:t>
            </a:r>
            <a:r>
              <a:rPr lang="en-IN" sz="1300" dirty="0"/>
              <a:t> (STAC), and Tile Map Service (TMS) specifications.</a:t>
            </a:r>
          </a:p>
          <a:p>
            <a:pPr lvl="1"/>
            <a:r>
              <a:rPr lang="en-IN" sz="1300" i="1" dirty="0"/>
              <a:t>Links:</a:t>
            </a:r>
            <a:r>
              <a:rPr lang="en-IN" sz="1300" dirty="0"/>
              <a:t> </a:t>
            </a:r>
            <a:r>
              <a:rPr lang="en-IN" sz="1300" dirty="0">
                <a:hlinkClick r:id="rId13"/>
              </a:rPr>
              <a:t>https://www.cogeo.org</a:t>
            </a:r>
            <a:r>
              <a:rPr lang="en-IN" sz="1300" dirty="0"/>
              <a:t> • </a:t>
            </a:r>
            <a:r>
              <a:rPr lang="en-IN" sz="1300" dirty="0">
                <a:hlinkClick r:id="rId14"/>
              </a:rPr>
              <a:t>https://stacspec.org</a:t>
            </a:r>
            <a:endParaRPr lang="en-IN" sz="1300" dirty="0"/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466E86-467C-3F9A-CCD6-AB5C97B0C513}"/>
              </a:ext>
            </a:extLst>
          </p:cNvPr>
          <p:cNvSpPr txBox="1"/>
          <p:nvPr/>
        </p:nvSpPr>
        <p:spPr>
          <a:xfrm>
            <a:off x="6765988" y="4905195"/>
            <a:ext cx="4358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Project Links &amp; Open-Source Codebase</a:t>
            </a:r>
          </a:p>
          <a:p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9002D6-A0AF-BBE8-C9F5-0FB5377BD658}"/>
              </a:ext>
            </a:extLst>
          </p:cNvPr>
          <p:cNvSpPr txBox="1"/>
          <p:nvPr/>
        </p:nvSpPr>
        <p:spPr>
          <a:xfrm>
            <a:off x="51941" y="5890215"/>
            <a:ext cx="618179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b="1" dirty="0"/>
              <a:t>🚀 Live Working Prototype WebGIS Application:</a:t>
            </a:r>
            <a:endParaRPr lang="en-IN" sz="1400" dirty="0"/>
          </a:p>
          <a:p>
            <a:pPr lvl="0"/>
            <a:r>
              <a:rPr lang="en-IN" sz="1300" b="1" dirty="0"/>
              <a:t>          URL:</a:t>
            </a:r>
            <a:r>
              <a:rPr lang="en-IN" sz="1300" dirty="0"/>
              <a:t> </a:t>
            </a:r>
            <a:r>
              <a:rPr lang="en-IN" sz="1300" dirty="0">
                <a:hlinkClick r:id="rId15"/>
              </a:rPr>
              <a:t>https://satquery-ai-psi.vercel.app/</a:t>
            </a:r>
            <a:endParaRPr lang="en-IN" sz="1300" dirty="0"/>
          </a:p>
          <a:p>
            <a:pPr lvl="0"/>
            <a:r>
              <a:rPr lang="en-IN" sz="1300" i="1" dirty="0"/>
              <a:t>  Features:</a:t>
            </a:r>
            <a:r>
              <a:rPr lang="en-IN" sz="1300" dirty="0"/>
              <a:t> Multi-slot GeoTIFF uploader, 10-year historical satellite scrubber </a:t>
            </a:r>
          </a:p>
          <a:p>
            <a:pPr lvl="0"/>
            <a:r>
              <a:rPr lang="en-IN" sz="1300" dirty="0"/>
              <a:t>(2016–2026), interactive Leaflet split-screen swipe, and real-time execution trace card.</a:t>
            </a:r>
          </a:p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608FCF-647B-B64B-2EE1-EC7238A350BC}"/>
              </a:ext>
            </a:extLst>
          </p:cNvPr>
          <p:cNvSpPr txBox="1"/>
          <p:nvPr/>
        </p:nvSpPr>
        <p:spPr>
          <a:xfrm>
            <a:off x="6095998" y="5204183"/>
            <a:ext cx="609600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b="1" dirty="0"/>
              <a:t>💻 Official GitHub Source Code Repository:</a:t>
            </a:r>
            <a:endParaRPr lang="en-IN" sz="1400" dirty="0"/>
          </a:p>
          <a:p>
            <a:pPr lvl="1"/>
            <a:r>
              <a:rPr lang="en-IN" sz="1300" b="1" dirty="0"/>
              <a:t>URL:</a:t>
            </a:r>
            <a:r>
              <a:rPr lang="en-IN" sz="1300" dirty="0"/>
              <a:t> </a:t>
            </a:r>
            <a:r>
              <a:rPr lang="en-IN" sz="1300" dirty="0">
                <a:hlinkClick r:id="rId16"/>
              </a:rPr>
              <a:t>https://github.com/sourabh160705/Satquery-AI</a:t>
            </a:r>
            <a:endParaRPr lang="en-IN" sz="1300" dirty="0"/>
          </a:p>
          <a:p>
            <a:pPr lvl="1"/>
            <a:r>
              <a:rPr lang="en-IN" sz="1300" i="1" dirty="0"/>
              <a:t>Features:</a:t>
            </a:r>
            <a:r>
              <a:rPr lang="en-IN" sz="1300" dirty="0"/>
              <a:t> FastAPI backend, React 18 + Vite frontend, agentic orchestrator, automated OpenAPI documentation (/docs), and full unit tests.</a:t>
            </a:r>
            <a:endParaRPr lang="en-IN" dirty="0"/>
          </a:p>
          <a:p>
            <a:pPr lvl="0"/>
            <a:r>
              <a:rPr lang="en-IN" sz="1400" b="1" dirty="0"/>
              <a:t>📋 Auditable Execution Logs &amp; PDF Reports:</a:t>
            </a:r>
            <a:endParaRPr lang="en-IN" sz="1400" dirty="0"/>
          </a:p>
          <a:p>
            <a:pPr lvl="1"/>
            <a:r>
              <a:rPr lang="en-IN" sz="1300" dirty="0"/>
              <a:t>Downloadable certified JSON &amp; PDF audit reports directly from the live workbench console for zero "black-box" verification</a:t>
            </a:r>
          </a:p>
          <a:p>
            <a:pPr lvl="1"/>
            <a:endParaRPr lang="en-IN" sz="1300" dirty="0"/>
          </a:p>
          <a:p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1FD0E8-8E2C-24C8-33F0-2D9A161179E2}"/>
              </a:ext>
            </a:extLst>
          </p:cNvPr>
          <p:cNvSpPr/>
          <p:nvPr/>
        </p:nvSpPr>
        <p:spPr>
          <a:xfrm>
            <a:off x="11219438" y="6502400"/>
            <a:ext cx="427861" cy="21907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11028</TotalTime>
  <Words>2116</Words>
  <Application>Microsoft Office PowerPoint</Application>
  <PresentationFormat>Widescreen</PresentationFormat>
  <Paragraphs>234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Aptos</vt:lpstr>
      <vt:lpstr>Arial</vt:lpstr>
      <vt:lpstr>Calibri</vt:lpstr>
      <vt:lpstr>Courier New</vt:lpstr>
      <vt:lpstr>Garamond</vt:lpstr>
      <vt:lpstr>system-ui</vt:lpstr>
      <vt:lpstr>Times New Roman</vt:lpstr>
      <vt:lpstr>TradeGothic</vt:lpstr>
      <vt:lpstr>Wingdings</vt:lpstr>
      <vt:lpstr>Office Theme</vt:lpstr>
      <vt:lpstr>SMART INDIA HACKATHON 2026</vt:lpstr>
      <vt:lpstr> SATQUERY AI  From Fragmented Satellite Tools ➔ Intelligent Agentic Intelligence  An explainable vision-language assistant that validates multi-modal imagery (Optical &amp; SAR), dynamically chains specialized remote  sensing models, and synthesizes evidence-grounded answers </vt:lpstr>
      <vt:lpstr>TECHNICAL APPROACH Core Programming Languages, WebGIS Frameworks, Specialist AI Models &amp; Cloud Stack</vt:lpstr>
      <vt:lpstr>FEASIBILITY AND VIABILITY Multi-Dimensional Feasibility Analysis, Risk Matrix &amp; Technical Mitigation Strategies</vt:lpstr>
      <vt:lpstr>IMPACT AND BENEFITS</vt:lpstr>
      <vt:lpstr>RESEARCH  AND REFERENCES Peer-Reviewed Literature, Space Agency Standards &amp; Project Repository Links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Sourabh Patel</cp:lastModifiedBy>
  <cp:revision>156</cp:revision>
  <dcterms:created xsi:type="dcterms:W3CDTF">2013-12-12T18:46:50Z</dcterms:created>
  <dcterms:modified xsi:type="dcterms:W3CDTF">2026-09-25T18:58:47Z</dcterms:modified>
  <cp:category/>
</cp:coreProperties>
</file>